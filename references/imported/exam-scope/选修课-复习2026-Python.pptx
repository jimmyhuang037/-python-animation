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3"/>
    <p:sldMasterId id="2147483664" r:id="rId4"/>
  </p:sldMasterIdLst>
  <p:notesMasterIdLst>
    <p:notesMasterId r:id="rId8"/>
  </p:notesMasterIdLst>
  <p:handoutMasterIdLst>
    <p:handoutMasterId r:id="rId117"/>
  </p:handoutMasterIdLst>
  <p:sldIdLst>
    <p:sldId id="266" r:id="rId5"/>
    <p:sldId id="1287" r:id="rId6"/>
    <p:sldId id="655" r:id="rId7"/>
    <p:sldId id="1288" r:id="rId9"/>
    <p:sldId id="1289" r:id="rId10"/>
    <p:sldId id="1290" r:id="rId11"/>
    <p:sldId id="1291" r:id="rId12"/>
    <p:sldId id="1086" r:id="rId13"/>
    <p:sldId id="355" r:id="rId14"/>
    <p:sldId id="358" r:id="rId15"/>
    <p:sldId id="439" r:id="rId16"/>
    <p:sldId id="442" r:id="rId17"/>
    <p:sldId id="359" r:id="rId18"/>
    <p:sldId id="312" r:id="rId19"/>
    <p:sldId id="413" r:id="rId20"/>
    <p:sldId id="324" r:id="rId21"/>
    <p:sldId id="414" r:id="rId22"/>
    <p:sldId id="325" r:id="rId23"/>
    <p:sldId id="314" r:id="rId24"/>
    <p:sldId id="311" r:id="rId25"/>
    <p:sldId id="666" r:id="rId26"/>
    <p:sldId id="667" r:id="rId27"/>
    <p:sldId id="717" r:id="rId28"/>
    <p:sldId id="1293" r:id="rId29"/>
    <p:sldId id="327" r:id="rId30"/>
    <p:sldId id="1309" r:id="rId31"/>
    <p:sldId id="328" r:id="rId32"/>
    <p:sldId id="1083" r:id="rId33"/>
    <p:sldId id="1296" r:id="rId34"/>
    <p:sldId id="683" r:id="rId35"/>
    <p:sldId id="1295" r:id="rId36"/>
    <p:sldId id="1297" r:id="rId37"/>
    <p:sldId id="1298" r:id="rId38"/>
    <p:sldId id="1299" r:id="rId39"/>
    <p:sldId id="352" r:id="rId40"/>
    <p:sldId id="353" r:id="rId41"/>
    <p:sldId id="1302" r:id="rId42"/>
    <p:sldId id="1321" r:id="rId43"/>
    <p:sldId id="1323" r:id="rId44"/>
    <p:sldId id="1322" r:id="rId45"/>
    <p:sldId id="1324" r:id="rId46"/>
    <p:sldId id="1325" r:id="rId47"/>
    <p:sldId id="1326" r:id="rId48"/>
    <p:sldId id="1327" r:id="rId49"/>
    <p:sldId id="403" r:id="rId50"/>
    <p:sldId id="1328" r:id="rId51"/>
    <p:sldId id="1329" r:id="rId52"/>
    <p:sldId id="516" r:id="rId53"/>
    <p:sldId id="276" r:id="rId54"/>
    <p:sldId id="333" r:id="rId55"/>
    <p:sldId id="719" r:id="rId56"/>
    <p:sldId id="720" r:id="rId57"/>
    <p:sldId id="1095" r:id="rId58"/>
    <p:sldId id="1085" r:id="rId59"/>
    <p:sldId id="1096" r:id="rId60"/>
    <p:sldId id="338" r:id="rId61"/>
    <p:sldId id="754" r:id="rId62"/>
    <p:sldId id="726" r:id="rId63"/>
    <p:sldId id="382" r:id="rId64"/>
    <p:sldId id="1307" r:id="rId65"/>
    <p:sldId id="1308" r:id="rId66"/>
    <p:sldId id="567" r:id="rId67"/>
    <p:sldId id="573" r:id="rId68"/>
    <p:sldId id="1103" r:id="rId69"/>
    <p:sldId id="594" r:id="rId70"/>
    <p:sldId id="339" r:id="rId71"/>
    <p:sldId id="409" r:id="rId72"/>
    <p:sldId id="1284" r:id="rId73"/>
    <p:sldId id="411" r:id="rId74"/>
    <p:sldId id="412" r:id="rId75"/>
    <p:sldId id="1104" r:id="rId76"/>
    <p:sldId id="576" r:id="rId77"/>
    <p:sldId id="317" r:id="rId78"/>
    <p:sldId id="582" r:id="rId79"/>
    <p:sldId id="587" r:id="rId80"/>
    <p:sldId id="580" r:id="rId81"/>
    <p:sldId id="366" r:id="rId82"/>
    <p:sldId id="1281" r:id="rId83"/>
    <p:sldId id="1282" r:id="rId84"/>
    <p:sldId id="420" r:id="rId85"/>
    <p:sldId id="364" r:id="rId86"/>
    <p:sldId id="367" r:id="rId87"/>
    <p:sldId id="477" r:id="rId88"/>
    <p:sldId id="570" r:id="rId89"/>
    <p:sldId id="533" r:id="rId90"/>
    <p:sldId id="584" r:id="rId91"/>
    <p:sldId id="574" r:id="rId92"/>
    <p:sldId id="421" r:id="rId93"/>
    <p:sldId id="1300" r:id="rId94"/>
    <p:sldId id="1301" r:id="rId95"/>
    <p:sldId id="564" r:id="rId96"/>
    <p:sldId id="1068" r:id="rId97"/>
    <p:sldId id="277" r:id="rId98"/>
    <p:sldId id="1084" r:id="rId99"/>
    <p:sldId id="1097" r:id="rId100"/>
    <p:sldId id="1098" r:id="rId101"/>
    <p:sldId id="1094" r:id="rId102"/>
    <p:sldId id="262" r:id="rId103"/>
    <p:sldId id="1101" r:id="rId104"/>
    <p:sldId id="1310" r:id="rId105"/>
    <p:sldId id="1311" r:id="rId106"/>
    <p:sldId id="1312" r:id="rId107"/>
    <p:sldId id="1313" r:id="rId108"/>
    <p:sldId id="1314" r:id="rId109"/>
    <p:sldId id="1315" r:id="rId110"/>
    <p:sldId id="1316" r:id="rId111"/>
    <p:sldId id="1317" r:id="rId112"/>
    <p:sldId id="1318" r:id="rId113"/>
    <p:sldId id="1319" r:id="rId114"/>
    <p:sldId id="1320" r:id="rId115"/>
    <p:sldId id="561" r:id="rId1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974" userDrawn="1">
          <p15:clr>
            <a:srgbClr val="A4A3A4"/>
          </p15:clr>
        </p15:guide>
        <p15:guide id="4" orient="horz" pos="346" userDrawn="1">
          <p15:clr>
            <a:srgbClr val="A4A3A4"/>
          </p15:clr>
        </p15:guide>
        <p15:guide id="5" orient="horz" pos="799" userDrawn="1">
          <p15:clr>
            <a:srgbClr val="A4A3A4"/>
          </p15:clr>
        </p15:guide>
        <p15:guide id="6" pos="7469" userDrawn="1">
          <p15:clr>
            <a:srgbClr val="A4A3A4"/>
          </p15:clr>
        </p15:guide>
        <p15:guide id="7" pos="2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C"/>
    <a:srgbClr val="6193D4"/>
    <a:srgbClr val="5489D0"/>
    <a:srgbClr val="6393D3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75" autoAdjust="0"/>
    <p:restoredTop sz="97520" autoAdjust="0"/>
  </p:normalViewPr>
  <p:slideViewPr>
    <p:cSldViewPr snapToGrid="0" showGuides="1">
      <p:cViewPr varScale="1">
        <p:scale>
          <a:sx n="64" d="100"/>
          <a:sy n="64" d="100"/>
        </p:scale>
        <p:origin x="672" y="52"/>
      </p:cViewPr>
      <p:guideLst>
        <p:guide orient="horz" pos="2160"/>
        <p:guide pos="3840"/>
        <p:guide orient="horz" pos="3974"/>
        <p:guide orient="horz" pos="346"/>
        <p:guide orient="horz" pos="799"/>
        <p:guide pos="7469"/>
        <p:guide pos="21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4.xml"/><Relationship Id="rId98" Type="http://schemas.openxmlformats.org/officeDocument/2006/relationships/slide" Target="slides/slide93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" Type="http://schemas.openxmlformats.org/officeDocument/2006/relationships/slide" Target="slides/slide4.xml"/><Relationship Id="rId89" Type="http://schemas.openxmlformats.org/officeDocument/2006/relationships/slide" Target="slides/slide84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80" Type="http://schemas.openxmlformats.org/officeDocument/2006/relationships/slide" Target="slides/slide75.xml"/><Relationship Id="rId8" Type="http://schemas.openxmlformats.org/officeDocument/2006/relationships/notesMaster" Target="notesMasters/notesMaster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7" Type="http://schemas.openxmlformats.org/officeDocument/2006/relationships/slide" Target="slides/slide3.xml"/><Relationship Id="rId69" Type="http://schemas.openxmlformats.org/officeDocument/2006/relationships/slide" Target="slides/slide64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0" Type="http://schemas.openxmlformats.org/officeDocument/2006/relationships/slide" Target="slides/slide55.xml"/><Relationship Id="rId6" Type="http://schemas.openxmlformats.org/officeDocument/2006/relationships/slide" Target="slides/slide2.xml"/><Relationship Id="rId59" Type="http://schemas.openxmlformats.org/officeDocument/2006/relationships/slide" Target="slides/slide54.xml"/><Relationship Id="rId58" Type="http://schemas.openxmlformats.org/officeDocument/2006/relationships/slide" Target="slides/slide53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" Type="http://schemas.openxmlformats.org/officeDocument/2006/relationships/slide" Target="slides/slide1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0" Type="http://schemas.openxmlformats.org/officeDocument/2006/relationships/tableStyles" Target="tableStyles.xml"/><Relationship Id="rId12" Type="http://schemas.openxmlformats.org/officeDocument/2006/relationships/slide" Target="slides/slide7.xml"/><Relationship Id="rId119" Type="http://schemas.openxmlformats.org/officeDocument/2006/relationships/viewProps" Target="viewProps.xml"/><Relationship Id="rId118" Type="http://schemas.openxmlformats.org/officeDocument/2006/relationships/presProps" Target="presProps.xml"/><Relationship Id="rId117" Type="http://schemas.openxmlformats.org/officeDocument/2006/relationships/handoutMaster" Target="handoutMasters/handoutMaster1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4" Type="http://schemas.openxmlformats.org/officeDocument/2006/relationships/slide" Target="slides/slide109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110" Type="http://schemas.openxmlformats.org/officeDocument/2006/relationships/slide" Target="slides/slide105.xml"/><Relationship Id="rId11" Type="http://schemas.openxmlformats.org/officeDocument/2006/relationships/slide" Target="slides/slide6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1A76EAC-610E-46F6-9E84-26CDD849EA37}" type="slidenum">
              <a:rPr lang="en-US" altLang="zh-CN" smtClean="0"/>
            </a:fld>
            <a:endParaRPr lang="en-US" altLang="zh-CN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algn="just">
              <a:lnSpc>
                <a:spcPct val="125000"/>
              </a:lnSpc>
            </a:pP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zh-CN" altLang="zh-CN" sz="1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endParaRPr lang="en-US" altLang="zh-CN" sz="1200" b="1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r" eaLnBrk="1" hangingPunct="1"/>
            <a:fld id="{52B992F5-D89B-4992-8CB7-0823792EE109}" type="slidenum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r" eaLnBrk="1" hangingPunct="1"/>
            <a:fld id="{52B992F5-D89B-4992-8CB7-0823792EE109}" type="slidenum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1200" b="1" dirty="0" smtClean="0"/>
              <a:t>位置传递</a:t>
            </a:r>
            <a:r>
              <a:rPr lang="zh-CN" altLang="en-US" sz="1200" dirty="0" smtClean="0"/>
              <a:t>  参数按照定义的位置及顺序进行传递</a:t>
            </a:r>
            <a:endParaRPr lang="en-US" altLang="zh-CN" sz="1200" dirty="0" smtClean="0"/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1200" b="1" dirty="0" smtClean="0"/>
              <a:t>关键字传递</a:t>
            </a:r>
            <a:r>
              <a:rPr lang="zh-CN" altLang="en-US" sz="1200" dirty="0" smtClean="0"/>
              <a:t>  通过传递的参数的名称进行识别</a:t>
            </a:r>
            <a:endParaRPr lang="en-US" altLang="zh-CN" sz="1200" dirty="0" smtClean="0"/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1200" b="1" dirty="0" smtClean="0"/>
              <a:t>默认值参数传递  </a:t>
            </a:r>
            <a:r>
              <a:rPr lang="zh-CN" altLang="en-US" sz="1200" dirty="0" smtClean="0"/>
              <a:t>给某些参数设置一个默认值，如果不传则读取默认值</a:t>
            </a:r>
            <a:endParaRPr lang="en-US" altLang="zh-CN" sz="1200" dirty="0" smtClean="0"/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1200" b="1" dirty="0" smtClean="0"/>
              <a:t>元组传递</a:t>
            </a:r>
            <a:r>
              <a:rPr lang="zh-CN" altLang="en-US" sz="1200" dirty="0" smtClean="0"/>
              <a:t>  在定义函数时，我们有时候并不知道调用的时候会传递多少个参数。元组参数来进行参数传递会非常有用。例：</a:t>
            </a:r>
            <a:endParaRPr lang="en-US" altLang="zh-CN" sz="1200" dirty="0" smtClean="0"/>
          </a:p>
          <a:p>
            <a:pPr marL="0" indent="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en-US" altLang="zh-CN" dirty="0" smtClean="0"/>
              <a:t> </a:t>
            </a:r>
            <a:r>
              <a:rPr lang="en-US" altLang="zh-CN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</a:t>
            </a:r>
            <a:r>
              <a:rPr lang="en-US" altLang="zh-CN" dirty="0" smtClean="0"/>
              <a:t> fun4(*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name): </a:t>
            </a:r>
            <a:endParaRPr lang="en-US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en-US" altLang="zh-CN" dirty="0" smtClean="0"/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print(type(name)) </a:t>
            </a:r>
            <a:endParaRPr lang="en-US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en-US" altLang="zh-CN" dirty="0" smtClean="0"/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print(name) </a:t>
            </a:r>
            <a:endParaRPr lang="en-US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en-US" altLang="zh-CN" dirty="0" smtClean="0"/>
              <a:t> </a:t>
            </a:r>
            <a:endParaRPr lang="en-US" altLang="zh-CN" dirty="0" smtClean="0"/>
          </a:p>
          <a:p>
            <a:pPr marL="0" indent="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en-US" altLang="zh-CN" dirty="0" smtClean="0"/>
              <a:t> </a:t>
            </a:r>
            <a:endParaRPr lang="en-US" altLang="zh-CN" dirty="0" smtClean="0"/>
          </a:p>
          <a:p>
            <a:pPr marL="0" indent="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en-US" altLang="zh-CN" dirty="0" smtClean="0"/>
              <a:t> fun4((1, 2, 3))</a:t>
            </a:r>
            <a:endParaRPr lang="en-US" altLang="zh-CN" sz="1200" dirty="0" smtClean="0"/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1200" b="1" dirty="0" smtClean="0"/>
              <a:t>字典传递</a:t>
            </a:r>
            <a:r>
              <a:rPr lang="zh-CN" altLang="en-US" sz="1200" dirty="0" smtClean="0"/>
              <a:t>  虽然通过元组可以传递多个参数，但如果需要通过键值来获取参数内容时，字典则更加方便。例：</a:t>
            </a:r>
            <a:endParaRPr lang="en-US" altLang="zh-CN" sz="1200" dirty="0" smtClean="0"/>
          </a:p>
          <a:p>
            <a:pPr marL="0" indent="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en-US" altLang="zh-CN" dirty="0" smtClean="0"/>
              <a:t> </a:t>
            </a:r>
            <a:r>
              <a:rPr lang="en-US" altLang="zh-CN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</a:t>
            </a:r>
            <a:r>
              <a:rPr lang="en-US" altLang="zh-CN" dirty="0" smtClean="0"/>
              <a:t> fun5(a, b, **</a:t>
            </a:r>
            <a:r>
              <a:rPr lang="en-US" altLang="zh-CN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kwargs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</a:t>
            </a:r>
            <a:endParaRPr lang="en-US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en-US" altLang="zh-CN" dirty="0" smtClean="0"/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</a:t>
            </a:r>
            <a:r>
              <a:rPr lang="en-US" altLang="zh-CN" dirty="0" smtClean="0"/>
              <a:t>(type(</a:t>
            </a:r>
            <a:r>
              <a:rPr lang="en-US" altLang="zh-CN" dirty="0" err="1" smtClean="0"/>
              <a:t>kwargs</a:t>
            </a:r>
            <a:r>
              <a:rPr lang="en-US" altLang="zh-CN" dirty="0" smtClean="0"/>
              <a:t>))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&lt;class '</a:t>
            </a:r>
            <a:r>
              <a:rPr lang="en-US" altLang="zh-CN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dict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'&gt;</a:t>
            </a:r>
            <a:r>
              <a:rPr lang="en-US" altLang="zh-CN" dirty="0" smtClean="0"/>
              <a:t> </a:t>
            </a:r>
            <a:endParaRPr lang="en-US" altLang="zh-CN" dirty="0" smtClean="0"/>
          </a:p>
          <a:p>
            <a:pPr marL="0" indent="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en-US" altLang="zh-CN" dirty="0" smtClean="0"/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print(a, b, </a:t>
            </a:r>
            <a:r>
              <a:rPr lang="en-US" altLang="zh-CN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kwargs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endParaRPr lang="en-US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en-US" altLang="zh-CN" dirty="0" smtClean="0"/>
              <a:t> </a:t>
            </a:r>
            <a:endParaRPr lang="en-US" altLang="zh-CN" dirty="0" smtClean="0"/>
          </a:p>
          <a:p>
            <a:pPr marL="0" indent="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en-US" altLang="zh-CN" dirty="0" smtClean="0"/>
              <a:t> </a:t>
            </a:r>
            <a:endParaRPr lang="en-US" altLang="zh-CN" dirty="0" smtClean="0"/>
          </a:p>
          <a:p>
            <a:pPr marL="0" indent="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en-US" altLang="zh-CN" dirty="0" smtClean="0"/>
              <a:t> fun5(2, 3, name=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en-US" altLang="zh-CN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Alan.hsiang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en-US" altLang="zh-CN" dirty="0" smtClean="0"/>
              <a:t>, age=23)</a:t>
            </a:r>
            <a:endParaRPr lang="en-US" altLang="zh-CN" dirty="0" smtClean="0"/>
          </a:p>
          <a:p>
            <a:pPr marL="0" indent="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None/>
            </a:pPr>
            <a:endParaRPr lang="en-US" altLang="zh-CN" sz="1200" dirty="0" smtClean="0">
              <a:solidFill>
                <a:srgbClr val="FF0000"/>
              </a:solidFill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参数传递注意事项：</a:t>
            </a:r>
            <a:endParaRPr lang="zh-CN" alt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不可变参数“通过值”进行传递</a:t>
            </a:r>
            <a:endParaRPr lang="zh-CN" alt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像整数和字符串这样的对象是不可变对象，它们通过对象引用而不是拷贝进行传递的，但是因为无论如何都不可能在原处改变不可变对象，实际的效果就很像创建了一份拷贝</a:t>
            </a:r>
            <a:endParaRPr lang="zh-CN" alt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可变对象是通过“指针”进行传递的</a:t>
            </a:r>
            <a:endParaRPr lang="zh-CN" alt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列表和字典这样的对象也是通过对象引用进行传递的，这一点与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语言使用指针传递数组很相似，可变对象能够在函数内部进行原处的改变，这一点和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数组很像</a:t>
            </a:r>
            <a:endParaRPr lang="zh-CN" alt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这些参数在书写时要遵循一定的顺序即：位置参数、默认参数、变长参数、关键字参数、命名关键字参数</a:t>
            </a:r>
            <a:endParaRPr lang="zh-CN" alt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Char char="u"/>
            </a:pPr>
            <a:endParaRPr lang="en-US" altLang="zh-CN" sz="1200" dirty="0">
              <a:solidFill>
                <a:srgbClr val="FF0000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r" eaLnBrk="1" hangingPunct="1"/>
            <a:fld id="{52B992F5-D89B-4992-8CB7-0823792EE109}" type="slidenum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r" eaLnBrk="1" hangingPunct="1"/>
            <a:fld id="{52B992F5-D89B-4992-8CB7-0823792EE109}" type="slidenum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r" eaLnBrk="1" hangingPunct="1"/>
            <a:fld id="{52B992F5-D89B-4992-8CB7-0823792EE109}" type="slidenum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r" eaLnBrk="1" hangingPunct="1"/>
            <a:fld id="{52B992F5-D89B-4992-8CB7-0823792EE109}" type="slidenum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Char char="u"/>
            </a:pPr>
            <a:endParaRPr lang="en-US" altLang="zh-CN" sz="1200" dirty="0">
              <a:solidFill>
                <a:srgbClr val="FF0000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r" eaLnBrk="1" hangingPunct="1"/>
            <a:fld id="{52B992F5-D89B-4992-8CB7-0823792EE109}" type="slidenum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Char char="u"/>
            </a:pPr>
            <a:endParaRPr lang="en-US" altLang="zh-CN" sz="1200" dirty="0">
              <a:solidFill>
                <a:srgbClr val="FF0000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r" eaLnBrk="1" hangingPunct="1"/>
            <a:fld id="{52B992F5-D89B-4992-8CB7-0823792EE109}" type="slidenum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Char char="u"/>
            </a:pPr>
            <a:endParaRPr lang="en-US" altLang="zh-CN" sz="1200" dirty="0">
              <a:solidFill>
                <a:srgbClr val="FF0000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r" eaLnBrk="1" hangingPunct="1"/>
            <a:fld id="{52B992F5-D89B-4992-8CB7-0823792EE109}" type="slidenum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Char char="u"/>
            </a:pPr>
            <a:endParaRPr lang="en-US" altLang="zh-CN" sz="1200" dirty="0">
              <a:solidFill>
                <a:srgbClr val="FF0000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r" eaLnBrk="1" hangingPunct="1"/>
            <a:fld id="{52B992F5-D89B-4992-8CB7-0823792EE109}" type="slidenum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Char char="u"/>
            </a:pPr>
            <a:endParaRPr lang="en-US" altLang="zh-CN" sz="1200" dirty="0">
              <a:solidFill>
                <a:srgbClr val="FF0000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r" eaLnBrk="1" hangingPunct="1"/>
            <a:fld id="{52B992F5-D89B-4992-8CB7-0823792EE109}" type="slidenum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r" eaLnBrk="1" hangingPunct="1"/>
            <a:fld id="{52B992F5-D89B-4992-8CB7-0823792EE109}" type="slidenum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r" eaLnBrk="1" hangingPunct="1"/>
            <a:fld id="{52B992F5-D89B-4992-8CB7-0823792EE109}" type="slidenum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r" eaLnBrk="1" hangingPunct="1"/>
            <a:fld id="{52B992F5-D89B-4992-8CB7-0823792EE109}" type="slidenum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r" eaLnBrk="1" hangingPunct="1"/>
            <a:fld id="{52B992F5-D89B-4992-8CB7-0823792EE109}" type="slidenum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3C372F4-393B-4A17-9B60-E02FF242AA7D}" type="slidenum">
              <a:rPr lang="en-US" altLang="zh-CN" smtClean="0"/>
            </a:fld>
            <a:endParaRPr lang="en-US" altLang="zh-CN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0BE823C-F5D9-40C2-A161-3463117DC0FF}" type="slidenum">
              <a:rPr lang="en-US" altLang="zh-CN" smtClean="0"/>
            </a:fld>
            <a:endParaRPr lang="en-US" altLang="zh-CN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0BE823C-F5D9-40C2-A161-3463117DC0FF}" type="slidenum">
              <a:rPr lang="en-US" altLang="zh-CN" smtClean="0"/>
            </a:fld>
            <a:endParaRPr lang="en-US" altLang="zh-CN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951AA05-93C3-4606-A479-33425F5003D2}" type="slidenum">
              <a:rPr lang="en-US" altLang="zh-CN" smtClean="0"/>
            </a:fld>
            <a:endParaRPr lang="en-US" altLang="zh-CN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951AA05-93C3-4606-A479-33425F5003D2}" type="slidenum">
              <a:rPr lang="en-US" altLang="zh-CN" smtClean="0"/>
            </a:fld>
            <a:endParaRPr lang="en-US" altLang="zh-CN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C2FA6F-DF84-40C8-B151-2A63D72004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C2FA6F-DF84-40C8-B151-2A63D72004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C2FA6F-DF84-40C8-B151-2A63D72004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110519C-2B21-4E54-9962-4C1557590675}" type="slidenum">
              <a:rPr lang="en-US" altLang="zh-CN" smtClean="0"/>
            </a:fld>
            <a:endParaRPr lang="en-US" altLang="zh-CN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110519C-2B21-4E54-9962-4C1557590675}" type="slidenum">
              <a:rPr lang="en-US" altLang="zh-CN" smtClean="0"/>
            </a:fld>
            <a:endParaRPr lang="en-US" altLang="zh-CN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110519C-2B21-4E54-9962-4C1557590675}" type="slidenum">
              <a:rPr lang="en-US" altLang="zh-CN" smtClean="0"/>
            </a:fld>
            <a:endParaRPr lang="en-US" altLang="zh-CN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110519C-2B21-4E54-9962-4C1557590675}" type="slidenum">
              <a:rPr lang="en-US" altLang="zh-CN" smtClean="0"/>
            </a:fld>
            <a:endParaRPr lang="en-US" altLang="zh-CN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600" dirty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C2FA6F-DF84-40C8-B151-2A63D72004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None/>
            </a:pPr>
            <a:endParaRPr lang="zh-CN" altLang="en-US" b="0" i="0" dirty="0">
              <a:solidFill>
                <a:srgbClr val="BEBEC5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None/>
            </a:pPr>
            <a:endParaRPr lang="zh-CN" altLang="en-US" b="0" i="0" dirty="0">
              <a:solidFill>
                <a:srgbClr val="BEBEC5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110519C-2B21-4E54-9962-4C1557590675}" type="slidenum">
              <a:rPr lang="en-US" altLang="zh-CN" smtClean="0"/>
            </a:fld>
            <a:endParaRPr lang="en-US" altLang="zh-CN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latinLnBrk="1"/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110519C-2B21-4E54-9962-4C1557590675}" type="slidenum">
              <a:rPr lang="en-US" altLang="zh-CN" smtClean="0"/>
            </a:fld>
            <a:endParaRPr lang="en-US" altLang="zh-CN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9B1E435-B906-4A23-9D6A-911233588A81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769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1577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8C19CD1-CC6A-4A3A-8443-39ED36BB2075}" type="slidenum">
              <a:rPr lang="zh-CN" altLang="en-US" smtClean="0">
                <a:latin typeface="Tahoma" panose="020B0604030504040204" pitchFamily="34" charset="0"/>
              </a:rPr>
            </a:fld>
            <a:endParaRPr lang="en-US" altLang="zh-CN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61CCEBDA-92BA-4FA4-B8DC-7BE441608FBF}" type="slidenum">
              <a:rPr lang="en-US" altLang="zh-CN" sz="1200">
                <a:latin typeface="Tahoma" panose="020B0604030504040204" pitchFamily="34" charset="0"/>
              </a:rPr>
            </a:fld>
            <a:endParaRPr lang="en-US" altLang="zh-CN" sz="1200">
              <a:latin typeface="Tahoma" panose="020B0604030504040204" pitchFamily="34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769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1577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8C19CD1-CC6A-4A3A-8443-39ED36BB2075}" type="slidenum">
              <a:rPr lang="zh-CN" altLang="en-US" smtClean="0">
                <a:latin typeface="Tahoma" panose="020B0604030504040204" pitchFamily="34" charset="0"/>
              </a:rPr>
            </a:fld>
            <a:endParaRPr lang="en-US" altLang="zh-CN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769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577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8C19CD1-CC6A-4A3A-8443-39ED36BB2075}" type="slidenum">
              <a:rPr lang="zh-CN" altLang="en-US" smtClean="0">
                <a:latin typeface="Tahoma" panose="020B0604030504040204" pitchFamily="34" charset="0"/>
              </a:rPr>
            </a:fld>
            <a:endParaRPr lang="en-US" altLang="zh-CN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8FFD4720-4125-406D-868E-2763E877335C}" type="slidenum">
              <a:rPr lang="en-US" altLang="zh-CN" sz="1200">
                <a:latin typeface="Tahoma" panose="020B0604030504040204" pitchFamily="34" charset="0"/>
              </a:rPr>
            </a:fld>
            <a:endParaRPr lang="en-US" altLang="zh-CN" sz="1200">
              <a:latin typeface="Tahoma" panose="020B0604030504040204" pitchFamily="34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C88D54B8-4887-4371-A706-CDBB9E40BE1D}" type="slidenum">
              <a:rPr lang="en-US" altLang="zh-CN" sz="1200">
                <a:latin typeface="Tahoma" panose="020B0604030504040204" pitchFamily="34" charset="0"/>
              </a:rPr>
            </a:fld>
            <a:endParaRPr lang="en-US" altLang="zh-CN" sz="1200">
              <a:latin typeface="Tahoma" panose="020B0604030504040204" pitchFamily="34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r" eaLnBrk="1" hangingPunct="1"/>
            <a:fld id="{52B992F5-D89B-4992-8CB7-0823792EE109}" type="slidenum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r" eaLnBrk="1" hangingPunct="1"/>
            <a:fld id="{52B992F5-D89B-4992-8CB7-0823792EE109}" type="slidenum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r" eaLnBrk="1" hangingPunct="1"/>
            <a:fld id="{52B992F5-D89B-4992-8CB7-0823792EE109}" type="slidenum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r" eaLnBrk="1" hangingPunct="1"/>
            <a:fld id="{52B992F5-D89B-4992-8CB7-0823792EE109}" type="slidenum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r" eaLnBrk="1" hangingPunct="1"/>
            <a:fld id="{52B992F5-D89B-4992-8CB7-0823792EE109}" type="slidenum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r" eaLnBrk="1" hangingPunct="1"/>
            <a:fld id="{52B992F5-D89B-4992-8CB7-0823792EE109}" type="slidenum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r" eaLnBrk="1" hangingPunct="1"/>
            <a:fld id="{52B992F5-D89B-4992-8CB7-0823792EE109}" type="slidenum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lipan:The</a:t>
            </a:r>
            <a:r>
              <a:rPr lang="en-US" altLang="zh-CN" dirty="0"/>
              <a:t> callback is only called once for each call to this method. To keep calling the callback, you need to reregister the callback inside itself</a:t>
            </a:r>
            <a:endParaRPr lang="en-US" altLang="zh-CN" dirty="0"/>
          </a:p>
          <a:p>
            <a:r>
              <a:rPr lang="en-US" altLang="zh-CN" dirty="0" err="1"/>
              <a:t>lipan:The</a:t>
            </a:r>
            <a:r>
              <a:rPr lang="en-US" altLang="zh-CN" dirty="0"/>
              <a:t> callback is only called once for each call to this method. To keep calling the callback, you need to reregister the callback inside itself:</a:t>
            </a:r>
            <a:endParaRPr lang="en-US" altLang="zh-CN" dirty="0"/>
          </a:p>
          <a:p>
            <a:r>
              <a:rPr lang="en-US" altLang="zh-CN" dirty="0"/>
              <a:t>class App:    </a:t>
            </a:r>
            <a:r>
              <a:rPr lang="en-US" altLang="zh-CN" dirty="0" err="1"/>
              <a:t>def</a:t>
            </a:r>
            <a:r>
              <a:rPr lang="en-US" altLang="zh-CN" dirty="0"/>
              <a:t> __</a:t>
            </a:r>
            <a:r>
              <a:rPr lang="en-US" altLang="zh-CN" dirty="0" err="1"/>
              <a:t>init</a:t>
            </a:r>
            <a:r>
              <a:rPr lang="en-US" altLang="zh-CN" dirty="0"/>
              <a:t>__(self, master):        </a:t>
            </a:r>
            <a:endParaRPr lang="en-US" altLang="zh-CN" dirty="0"/>
          </a:p>
          <a:p>
            <a:r>
              <a:rPr lang="en-US" altLang="zh-CN" dirty="0"/>
              <a:t>                   </a:t>
            </a:r>
            <a:r>
              <a:rPr lang="en-US" altLang="zh-CN" dirty="0" err="1"/>
              <a:t>self.master</a:t>
            </a:r>
            <a:r>
              <a:rPr lang="en-US" altLang="zh-CN" dirty="0"/>
              <a:t> = master        </a:t>
            </a:r>
            <a:endParaRPr lang="en-US" altLang="zh-CN" dirty="0"/>
          </a:p>
          <a:p>
            <a:r>
              <a:rPr lang="en-US" altLang="zh-CN" dirty="0"/>
              <a:t>                   </a:t>
            </a:r>
            <a:r>
              <a:rPr lang="en-US" altLang="zh-CN" dirty="0" err="1"/>
              <a:t>self.poll</a:t>
            </a:r>
            <a:r>
              <a:rPr lang="en-US" altLang="zh-CN" dirty="0"/>
              <a:t>() # start polling    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        </a:t>
            </a:r>
            <a:r>
              <a:rPr lang="en-US" altLang="zh-CN" dirty="0" err="1"/>
              <a:t>def</a:t>
            </a:r>
            <a:r>
              <a:rPr lang="en-US" altLang="zh-CN" dirty="0"/>
              <a:t> poll(self):       </a:t>
            </a:r>
            <a:endParaRPr lang="en-US" altLang="zh-CN" dirty="0"/>
          </a:p>
          <a:p>
            <a:r>
              <a:rPr lang="en-US" altLang="zh-CN" dirty="0"/>
              <a:t>                   ... do something ...        </a:t>
            </a:r>
            <a:endParaRPr lang="en-US" altLang="zh-CN" dirty="0"/>
          </a:p>
          <a:p>
            <a:r>
              <a:rPr lang="en-US" altLang="zh-CN" dirty="0"/>
              <a:t>                   </a:t>
            </a:r>
            <a:r>
              <a:rPr lang="en-US" altLang="zh-CN" dirty="0" err="1"/>
              <a:t>self.master.after</a:t>
            </a:r>
            <a:r>
              <a:rPr lang="en-US" altLang="zh-CN" dirty="0"/>
              <a:t>(100, </a:t>
            </a:r>
            <a:r>
              <a:rPr lang="en-US" altLang="zh-CN" dirty="0" err="1"/>
              <a:t>self.poll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9DBA67-DF7C-438E-A968-4F88C0CDE8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多边形: 形状 20"/>
          <p:cNvSpPr/>
          <p:nvPr userDrawn="1"/>
        </p:nvSpPr>
        <p:spPr>
          <a:xfrm>
            <a:off x="2" y="4"/>
            <a:ext cx="3717647" cy="1544951"/>
          </a:xfrm>
          <a:custGeom>
            <a:avLst/>
            <a:gdLst>
              <a:gd name="connsiteX0" fmla="*/ 0 w 3717646"/>
              <a:gd name="connsiteY0" fmla="*/ 0 h 1544951"/>
              <a:gd name="connsiteX1" fmla="*/ 3717646 w 3717646"/>
              <a:gd name="connsiteY1" fmla="*/ 0 h 1544951"/>
              <a:gd name="connsiteX2" fmla="*/ 3699576 w 3717646"/>
              <a:gd name="connsiteY2" fmla="*/ 34239 h 1544951"/>
              <a:gd name="connsiteX3" fmla="*/ 3065871 w 3717646"/>
              <a:gd name="connsiteY3" fmla="*/ 394102 h 1544951"/>
              <a:gd name="connsiteX4" fmla="*/ 2235746 w 3717646"/>
              <a:gd name="connsiteY4" fmla="*/ 342488 h 1544951"/>
              <a:gd name="connsiteX5" fmla="*/ 1748280 w 3717646"/>
              <a:gd name="connsiteY5" fmla="*/ 719558 h 1544951"/>
              <a:gd name="connsiteX6" fmla="*/ 56489 w 3717646"/>
              <a:gd name="connsiteY6" fmla="*/ 1542515 h 1544951"/>
              <a:gd name="connsiteX7" fmla="*/ 0 w 3717646"/>
              <a:gd name="connsiteY7" fmla="*/ 1543250 h 1544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17646" h="1544951">
                <a:moveTo>
                  <a:pt x="0" y="0"/>
                </a:moveTo>
                <a:lnTo>
                  <a:pt x="3717646" y="0"/>
                </a:lnTo>
                <a:lnTo>
                  <a:pt x="3699576" y="34239"/>
                </a:lnTo>
                <a:cubicBezTo>
                  <a:pt x="3551902" y="249297"/>
                  <a:pt x="3311037" y="386935"/>
                  <a:pt x="3065871" y="394102"/>
                </a:cubicBezTo>
                <a:cubicBezTo>
                  <a:pt x="2786295" y="402705"/>
                  <a:pt x="2505285" y="256465"/>
                  <a:pt x="2235746" y="342488"/>
                </a:cubicBezTo>
                <a:cubicBezTo>
                  <a:pt x="2043627" y="404139"/>
                  <a:pt x="1873015" y="550379"/>
                  <a:pt x="1748280" y="719558"/>
                </a:cubicBezTo>
                <a:cubicBezTo>
                  <a:pt x="1405622" y="1184084"/>
                  <a:pt x="654352" y="1579791"/>
                  <a:pt x="56489" y="1542515"/>
                </a:cubicBezTo>
                <a:lnTo>
                  <a:pt x="0" y="1543250"/>
                </a:lnTo>
                <a:close/>
              </a:path>
            </a:pathLst>
          </a:custGeom>
          <a:solidFill>
            <a:srgbClr val="6193D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2" name="任意多边形: 形状 21"/>
          <p:cNvSpPr/>
          <p:nvPr userDrawn="1"/>
        </p:nvSpPr>
        <p:spPr>
          <a:xfrm>
            <a:off x="8684861" y="4914751"/>
            <a:ext cx="3507139" cy="1943253"/>
          </a:xfrm>
          <a:custGeom>
            <a:avLst/>
            <a:gdLst>
              <a:gd name="connsiteX0" fmla="*/ 3507138 w 3507138"/>
              <a:gd name="connsiteY0" fmla="*/ 0 h 1943253"/>
              <a:gd name="connsiteX1" fmla="*/ 3507138 w 3507138"/>
              <a:gd name="connsiteY1" fmla="*/ 1943253 h 1943253"/>
              <a:gd name="connsiteX2" fmla="*/ 0 w 3507138"/>
              <a:gd name="connsiteY2" fmla="*/ 1943253 h 1943253"/>
              <a:gd name="connsiteX3" fmla="*/ 15912 w 3507138"/>
              <a:gd name="connsiteY3" fmla="*/ 1924864 h 1943253"/>
              <a:gd name="connsiteX4" fmla="*/ 102619 w 3507138"/>
              <a:gd name="connsiteY4" fmla="*/ 1849075 h 1943253"/>
              <a:gd name="connsiteX5" fmla="*/ 880070 w 3507138"/>
              <a:gd name="connsiteY5" fmla="*/ 1561504 h 1943253"/>
              <a:gd name="connsiteX6" fmla="*/ 1645962 w 3507138"/>
              <a:gd name="connsiteY6" fmla="*/ 1250811 h 1943253"/>
              <a:gd name="connsiteX7" fmla="*/ 2278906 w 3507138"/>
              <a:gd name="connsiteY7" fmla="*/ 525382 h 1943253"/>
              <a:gd name="connsiteX8" fmla="*/ 3290262 w 3507138"/>
              <a:gd name="connsiteY8" fmla="*/ 15231 h 1943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07138" h="1943253">
                <a:moveTo>
                  <a:pt x="3507138" y="0"/>
                </a:moveTo>
                <a:lnTo>
                  <a:pt x="3507138" y="1943253"/>
                </a:lnTo>
                <a:lnTo>
                  <a:pt x="0" y="1943253"/>
                </a:lnTo>
                <a:lnTo>
                  <a:pt x="15912" y="1924864"/>
                </a:lnTo>
                <a:cubicBezTo>
                  <a:pt x="42783" y="1897734"/>
                  <a:pt x="71640" y="1872377"/>
                  <a:pt x="102619" y="1849075"/>
                </a:cubicBezTo>
                <a:cubicBezTo>
                  <a:pt x="325161" y="1682890"/>
                  <a:pt x="609840" y="1629422"/>
                  <a:pt x="880070" y="1561504"/>
                </a:cubicBezTo>
                <a:cubicBezTo>
                  <a:pt x="1148855" y="1493584"/>
                  <a:pt x="1424864" y="1418440"/>
                  <a:pt x="1645962" y="1250811"/>
                </a:cubicBezTo>
                <a:cubicBezTo>
                  <a:pt x="1901740" y="1057171"/>
                  <a:pt x="2057808" y="759485"/>
                  <a:pt x="2278906" y="525382"/>
                </a:cubicBezTo>
                <a:cubicBezTo>
                  <a:pt x="2543535" y="245399"/>
                  <a:pt x="2908643" y="67587"/>
                  <a:pt x="3290262" y="15231"/>
                </a:cubicBezTo>
                <a:close/>
              </a:path>
            </a:pathLst>
          </a:custGeom>
          <a:solidFill>
            <a:srgbClr val="6193D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/>
        </p:nvSpPr>
        <p:spPr>
          <a:xfrm>
            <a:off x="2" y="4"/>
            <a:ext cx="3717647" cy="1544951"/>
          </a:xfrm>
          <a:custGeom>
            <a:avLst/>
            <a:gdLst>
              <a:gd name="connsiteX0" fmla="*/ 0 w 3717646"/>
              <a:gd name="connsiteY0" fmla="*/ 0 h 1544951"/>
              <a:gd name="connsiteX1" fmla="*/ 3717646 w 3717646"/>
              <a:gd name="connsiteY1" fmla="*/ 0 h 1544951"/>
              <a:gd name="connsiteX2" fmla="*/ 3699576 w 3717646"/>
              <a:gd name="connsiteY2" fmla="*/ 34239 h 1544951"/>
              <a:gd name="connsiteX3" fmla="*/ 3065871 w 3717646"/>
              <a:gd name="connsiteY3" fmla="*/ 394102 h 1544951"/>
              <a:gd name="connsiteX4" fmla="*/ 2235746 w 3717646"/>
              <a:gd name="connsiteY4" fmla="*/ 342488 h 1544951"/>
              <a:gd name="connsiteX5" fmla="*/ 1748280 w 3717646"/>
              <a:gd name="connsiteY5" fmla="*/ 719558 h 1544951"/>
              <a:gd name="connsiteX6" fmla="*/ 56489 w 3717646"/>
              <a:gd name="connsiteY6" fmla="*/ 1542515 h 1544951"/>
              <a:gd name="connsiteX7" fmla="*/ 0 w 3717646"/>
              <a:gd name="connsiteY7" fmla="*/ 1543250 h 1544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17646" h="1544951">
                <a:moveTo>
                  <a:pt x="0" y="0"/>
                </a:moveTo>
                <a:lnTo>
                  <a:pt x="3717646" y="0"/>
                </a:lnTo>
                <a:lnTo>
                  <a:pt x="3699576" y="34239"/>
                </a:lnTo>
                <a:cubicBezTo>
                  <a:pt x="3551902" y="249297"/>
                  <a:pt x="3311037" y="386935"/>
                  <a:pt x="3065871" y="394102"/>
                </a:cubicBezTo>
                <a:cubicBezTo>
                  <a:pt x="2786295" y="402705"/>
                  <a:pt x="2505285" y="256465"/>
                  <a:pt x="2235746" y="342488"/>
                </a:cubicBezTo>
                <a:cubicBezTo>
                  <a:pt x="2043627" y="404139"/>
                  <a:pt x="1873015" y="550379"/>
                  <a:pt x="1748280" y="719558"/>
                </a:cubicBezTo>
                <a:cubicBezTo>
                  <a:pt x="1405622" y="1184084"/>
                  <a:pt x="654352" y="1579791"/>
                  <a:pt x="56489" y="1542515"/>
                </a:cubicBezTo>
                <a:lnTo>
                  <a:pt x="0" y="1543250"/>
                </a:lnTo>
                <a:close/>
              </a:path>
            </a:pathLst>
          </a:custGeom>
          <a:solidFill>
            <a:srgbClr val="6193D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8" name="任意多边形: 形状 7"/>
          <p:cNvSpPr/>
          <p:nvPr userDrawn="1"/>
        </p:nvSpPr>
        <p:spPr>
          <a:xfrm>
            <a:off x="8684861" y="4914751"/>
            <a:ext cx="3507139" cy="1943253"/>
          </a:xfrm>
          <a:custGeom>
            <a:avLst/>
            <a:gdLst>
              <a:gd name="connsiteX0" fmla="*/ 3507138 w 3507138"/>
              <a:gd name="connsiteY0" fmla="*/ 0 h 1943253"/>
              <a:gd name="connsiteX1" fmla="*/ 3507138 w 3507138"/>
              <a:gd name="connsiteY1" fmla="*/ 1943253 h 1943253"/>
              <a:gd name="connsiteX2" fmla="*/ 0 w 3507138"/>
              <a:gd name="connsiteY2" fmla="*/ 1943253 h 1943253"/>
              <a:gd name="connsiteX3" fmla="*/ 15912 w 3507138"/>
              <a:gd name="connsiteY3" fmla="*/ 1924864 h 1943253"/>
              <a:gd name="connsiteX4" fmla="*/ 102619 w 3507138"/>
              <a:gd name="connsiteY4" fmla="*/ 1849075 h 1943253"/>
              <a:gd name="connsiteX5" fmla="*/ 880070 w 3507138"/>
              <a:gd name="connsiteY5" fmla="*/ 1561504 h 1943253"/>
              <a:gd name="connsiteX6" fmla="*/ 1645962 w 3507138"/>
              <a:gd name="connsiteY6" fmla="*/ 1250811 h 1943253"/>
              <a:gd name="connsiteX7" fmla="*/ 2278906 w 3507138"/>
              <a:gd name="connsiteY7" fmla="*/ 525382 h 1943253"/>
              <a:gd name="connsiteX8" fmla="*/ 3290262 w 3507138"/>
              <a:gd name="connsiteY8" fmla="*/ 15231 h 1943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07138" h="1943253">
                <a:moveTo>
                  <a:pt x="3507138" y="0"/>
                </a:moveTo>
                <a:lnTo>
                  <a:pt x="3507138" y="1943253"/>
                </a:lnTo>
                <a:lnTo>
                  <a:pt x="0" y="1943253"/>
                </a:lnTo>
                <a:lnTo>
                  <a:pt x="15912" y="1924864"/>
                </a:lnTo>
                <a:cubicBezTo>
                  <a:pt x="42783" y="1897734"/>
                  <a:pt x="71640" y="1872377"/>
                  <a:pt x="102619" y="1849075"/>
                </a:cubicBezTo>
                <a:cubicBezTo>
                  <a:pt x="325161" y="1682890"/>
                  <a:pt x="609840" y="1629422"/>
                  <a:pt x="880070" y="1561504"/>
                </a:cubicBezTo>
                <a:cubicBezTo>
                  <a:pt x="1148855" y="1493584"/>
                  <a:pt x="1424864" y="1418440"/>
                  <a:pt x="1645962" y="1250811"/>
                </a:cubicBezTo>
                <a:cubicBezTo>
                  <a:pt x="1901740" y="1057171"/>
                  <a:pt x="2057808" y="759485"/>
                  <a:pt x="2278906" y="525382"/>
                </a:cubicBezTo>
                <a:cubicBezTo>
                  <a:pt x="2543535" y="245399"/>
                  <a:pt x="2908643" y="67587"/>
                  <a:pt x="3290262" y="15231"/>
                </a:cubicBezTo>
                <a:close/>
              </a:path>
            </a:pathLst>
          </a:custGeom>
          <a:solidFill>
            <a:srgbClr val="6193D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C7D56-CF07-42E1-9C7F-B45EB9D44E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81CC1-3841-4961-AE53-0AA0CFD3B0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28033" y="184040"/>
            <a:ext cx="10377969" cy="796011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FD"/>
          <p:cNvSpPr>
            <a:spLocks noGrp="1"/>
          </p:cNvSpPr>
          <p:nvPr>
            <p:ph type="dt" sz="half" idx="10"/>
          </p:nvPr>
        </p:nvSpPr>
        <p:spPr>
          <a:xfrm>
            <a:off x="838200" y="6419854"/>
            <a:ext cx="2743200" cy="365125"/>
          </a:xfrm>
          <a:prstGeom prst="rect">
            <a:avLst/>
          </a:prstGeom>
        </p:spPr>
        <p:txBody>
          <a:bodyPr/>
          <a:lstStyle/>
          <a:p>
            <a:fld id="{13D0CE79-49FB-443D-BEF8-6B709DE8FD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KSO_FT"/>
          <p:cNvSpPr>
            <a:spLocks noGrp="1"/>
          </p:cNvSpPr>
          <p:nvPr>
            <p:ph type="ftr" sz="quarter" idx="11"/>
          </p:nvPr>
        </p:nvSpPr>
        <p:spPr>
          <a:xfrm>
            <a:off x="4038600" y="64198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KSO_FN"/>
          <p:cNvSpPr>
            <a:spLocks noGrp="1"/>
          </p:cNvSpPr>
          <p:nvPr>
            <p:ph type="sldNum" sz="quarter" idx="12"/>
          </p:nvPr>
        </p:nvSpPr>
        <p:spPr>
          <a:xfrm>
            <a:off x="8610600" y="6419854"/>
            <a:ext cx="2743200" cy="365125"/>
          </a:xfrm>
          <a:prstGeom prst="rect">
            <a:avLst/>
          </a:prstGeom>
        </p:spPr>
        <p:txBody>
          <a:bodyPr/>
          <a:lstStyle/>
          <a:p>
            <a:fld id="{EF906490-237C-474C-BA2E-D98840BC1F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91477" y="332657"/>
            <a:ext cx="9889099" cy="615603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239349" y="216814"/>
            <a:ext cx="1082741" cy="847287"/>
            <a:chOff x="4838310" y="2343675"/>
            <a:chExt cx="1257690" cy="1257690"/>
          </a:xfrm>
        </p:grpSpPr>
        <p:sp>
          <p:nvSpPr>
            <p:cNvPr id="4" name="圆形 15"/>
            <p:cNvSpPr/>
            <p:nvPr/>
          </p:nvSpPr>
          <p:spPr>
            <a:xfrm>
              <a:off x="4838310" y="234367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5" name="图形 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25155" y="2630520"/>
              <a:ext cx="684000" cy="684000"/>
            </a:xfrm>
            <a:prstGeom prst="rect">
              <a:avLst/>
            </a:prstGeom>
          </p:spPr>
        </p:pic>
      </p:grpSp>
      <p:sp>
        <p:nvSpPr>
          <p:cNvPr id="7" name="内容占位符 6"/>
          <p:cNvSpPr>
            <a:spLocks noGrp="1"/>
          </p:cNvSpPr>
          <p:nvPr>
            <p:ph sz="quarter" idx="10" hasCustomPrompt="1"/>
          </p:nvPr>
        </p:nvSpPr>
        <p:spPr>
          <a:xfrm>
            <a:off x="1391478" y="1340768"/>
            <a:ext cx="9889099" cy="5040560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Clr>
                <a:srgbClr val="0070C0"/>
              </a:buClr>
              <a:buFont typeface="Wingdings" panose="05000000000000000000" pitchFamily="2" charset="2"/>
              <a:buChar char="u"/>
              <a:defRPr sz="2800"/>
            </a:lvl1pPr>
            <a:lvl2pPr marL="514350" indent="-171450">
              <a:lnSpc>
                <a:spcPct val="100000"/>
              </a:lnSpc>
              <a:buClr>
                <a:srgbClr val="0070C0"/>
              </a:buClr>
              <a:buFont typeface="Wingdings" panose="05000000000000000000" pitchFamily="2" charset="2"/>
              <a:buChar char="Ø"/>
              <a:defRPr sz="2000"/>
            </a:lvl2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多边形: 形状 20"/>
          <p:cNvSpPr/>
          <p:nvPr userDrawn="1"/>
        </p:nvSpPr>
        <p:spPr>
          <a:xfrm>
            <a:off x="2" y="4"/>
            <a:ext cx="3717647" cy="1544951"/>
          </a:xfrm>
          <a:custGeom>
            <a:avLst/>
            <a:gdLst>
              <a:gd name="connsiteX0" fmla="*/ 0 w 3717646"/>
              <a:gd name="connsiteY0" fmla="*/ 0 h 1544951"/>
              <a:gd name="connsiteX1" fmla="*/ 3717646 w 3717646"/>
              <a:gd name="connsiteY1" fmla="*/ 0 h 1544951"/>
              <a:gd name="connsiteX2" fmla="*/ 3699576 w 3717646"/>
              <a:gd name="connsiteY2" fmla="*/ 34239 h 1544951"/>
              <a:gd name="connsiteX3" fmla="*/ 3065871 w 3717646"/>
              <a:gd name="connsiteY3" fmla="*/ 394102 h 1544951"/>
              <a:gd name="connsiteX4" fmla="*/ 2235746 w 3717646"/>
              <a:gd name="connsiteY4" fmla="*/ 342488 h 1544951"/>
              <a:gd name="connsiteX5" fmla="*/ 1748280 w 3717646"/>
              <a:gd name="connsiteY5" fmla="*/ 719558 h 1544951"/>
              <a:gd name="connsiteX6" fmla="*/ 56489 w 3717646"/>
              <a:gd name="connsiteY6" fmla="*/ 1542515 h 1544951"/>
              <a:gd name="connsiteX7" fmla="*/ 0 w 3717646"/>
              <a:gd name="connsiteY7" fmla="*/ 1543250 h 1544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17646" h="1544951">
                <a:moveTo>
                  <a:pt x="0" y="0"/>
                </a:moveTo>
                <a:lnTo>
                  <a:pt x="3717646" y="0"/>
                </a:lnTo>
                <a:lnTo>
                  <a:pt x="3699576" y="34239"/>
                </a:lnTo>
                <a:cubicBezTo>
                  <a:pt x="3551902" y="249297"/>
                  <a:pt x="3311037" y="386935"/>
                  <a:pt x="3065871" y="394102"/>
                </a:cubicBezTo>
                <a:cubicBezTo>
                  <a:pt x="2786295" y="402705"/>
                  <a:pt x="2505285" y="256465"/>
                  <a:pt x="2235746" y="342488"/>
                </a:cubicBezTo>
                <a:cubicBezTo>
                  <a:pt x="2043627" y="404139"/>
                  <a:pt x="1873015" y="550379"/>
                  <a:pt x="1748280" y="719558"/>
                </a:cubicBezTo>
                <a:cubicBezTo>
                  <a:pt x="1405622" y="1184084"/>
                  <a:pt x="654352" y="1579791"/>
                  <a:pt x="56489" y="1542515"/>
                </a:cubicBezTo>
                <a:lnTo>
                  <a:pt x="0" y="1543250"/>
                </a:lnTo>
                <a:close/>
              </a:path>
            </a:pathLst>
          </a:custGeom>
          <a:solidFill>
            <a:srgbClr val="6193D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2" name="任意多边形: 形状 21"/>
          <p:cNvSpPr/>
          <p:nvPr userDrawn="1"/>
        </p:nvSpPr>
        <p:spPr>
          <a:xfrm>
            <a:off x="8684861" y="4914751"/>
            <a:ext cx="3507139" cy="1943253"/>
          </a:xfrm>
          <a:custGeom>
            <a:avLst/>
            <a:gdLst>
              <a:gd name="connsiteX0" fmla="*/ 3507138 w 3507138"/>
              <a:gd name="connsiteY0" fmla="*/ 0 h 1943253"/>
              <a:gd name="connsiteX1" fmla="*/ 3507138 w 3507138"/>
              <a:gd name="connsiteY1" fmla="*/ 1943253 h 1943253"/>
              <a:gd name="connsiteX2" fmla="*/ 0 w 3507138"/>
              <a:gd name="connsiteY2" fmla="*/ 1943253 h 1943253"/>
              <a:gd name="connsiteX3" fmla="*/ 15912 w 3507138"/>
              <a:gd name="connsiteY3" fmla="*/ 1924864 h 1943253"/>
              <a:gd name="connsiteX4" fmla="*/ 102619 w 3507138"/>
              <a:gd name="connsiteY4" fmla="*/ 1849075 h 1943253"/>
              <a:gd name="connsiteX5" fmla="*/ 880070 w 3507138"/>
              <a:gd name="connsiteY5" fmla="*/ 1561504 h 1943253"/>
              <a:gd name="connsiteX6" fmla="*/ 1645962 w 3507138"/>
              <a:gd name="connsiteY6" fmla="*/ 1250811 h 1943253"/>
              <a:gd name="connsiteX7" fmla="*/ 2278906 w 3507138"/>
              <a:gd name="connsiteY7" fmla="*/ 525382 h 1943253"/>
              <a:gd name="connsiteX8" fmla="*/ 3290262 w 3507138"/>
              <a:gd name="connsiteY8" fmla="*/ 15231 h 1943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07138" h="1943253">
                <a:moveTo>
                  <a:pt x="3507138" y="0"/>
                </a:moveTo>
                <a:lnTo>
                  <a:pt x="3507138" y="1943253"/>
                </a:lnTo>
                <a:lnTo>
                  <a:pt x="0" y="1943253"/>
                </a:lnTo>
                <a:lnTo>
                  <a:pt x="15912" y="1924864"/>
                </a:lnTo>
                <a:cubicBezTo>
                  <a:pt x="42783" y="1897734"/>
                  <a:pt x="71640" y="1872377"/>
                  <a:pt x="102619" y="1849075"/>
                </a:cubicBezTo>
                <a:cubicBezTo>
                  <a:pt x="325161" y="1682890"/>
                  <a:pt x="609840" y="1629422"/>
                  <a:pt x="880070" y="1561504"/>
                </a:cubicBezTo>
                <a:cubicBezTo>
                  <a:pt x="1148855" y="1493584"/>
                  <a:pt x="1424864" y="1418440"/>
                  <a:pt x="1645962" y="1250811"/>
                </a:cubicBezTo>
                <a:cubicBezTo>
                  <a:pt x="1901740" y="1057171"/>
                  <a:pt x="2057808" y="759485"/>
                  <a:pt x="2278906" y="525382"/>
                </a:cubicBezTo>
                <a:cubicBezTo>
                  <a:pt x="2543535" y="245399"/>
                  <a:pt x="2908643" y="67587"/>
                  <a:pt x="3290262" y="15231"/>
                </a:cubicBezTo>
                <a:close/>
              </a:path>
            </a:pathLst>
          </a:custGeom>
          <a:solidFill>
            <a:srgbClr val="6193D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/>
        </p:nvSpPr>
        <p:spPr>
          <a:xfrm>
            <a:off x="2" y="4"/>
            <a:ext cx="3717647" cy="1544951"/>
          </a:xfrm>
          <a:custGeom>
            <a:avLst/>
            <a:gdLst>
              <a:gd name="connsiteX0" fmla="*/ 0 w 3717646"/>
              <a:gd name="connsiteY0" fmla="*/ 0 h 1544951"/>
              <a:gd name="connsiteX1" fmla="*/ 3717646 w 3717646"/>
              <a:gd name="connsiteY1" fmla="*/ 0 h 1544951"/>
              <a:gd name="connsiteX2" fmla="*/ 3699576 w 3717646"/>
              <a:gd name="connsiteY2" fmla="*/ 34239 h 1544951"/>
              <a:gd name="connsiteX3" fmla="*/ 3065871 w 3717646"/>
              <a:gd name="connsiteY3" fmla="*/ 394102 h 1544951"/>
              <a:gd name="connsiteX4" fmla="*/ 2235746 w 3717646"/>
              <a:gd name="connsiteY4" fmla="*/ 342488 h 1544951"/>
              <a:gd name="connsiteX5" fmla="*/ 1748280 w 3717646"/>
              <a:gd name="connsiteY5" fmla="*/ 719558 h 1544951"/>
              <a:gd name="connsiteX6" fmla="*/ 56489 w 3717646"/>
              <a:gd name="connsiteY6" fmla="*/ 1542515 h 1544951"/>
              <a:gd name="connsiteX7" fmla="*/ 0 w 3717646"/>
              <a:gd name="connsiteY7" fmla="*/ 1543250 h 1544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17646" h="1544951">
                <a:moveTo>
                  <a:pt x="0" y="0"/>
                </a:moveTo>
                <a:lnTo>
                  <a:pt x="3717646" y="0"/>
                </a:lnTo>
                <a:lnTo>
                  <a:pt x="3699576" y="34239"/>
                </a:lnTo>
                <a:cubicBezTo>
                  <a:pt x="3551902" y="249297"/>
                  <a:pt x="3311037" y="386935"/>
                  <a:pt x="3065871" y="394102"/>
                </a:cubicBezTo>
                <a:cubicBezTo>
                  <a:pt x="2786295" y="402705"/>
                  <a:pt x="2505285" y="256465"/>
                  <a:pt x="2235746" y="342488"/>
                </a:cubicBezTo>
                <a:cubicBezTo>
                  <a:pt x="2043627" y="404139"/>
                  <a:pt x="1873015" y="550379"/>
                  <a:pt x="1748280" y="719558"/>
                </a:cubicBezTo>
                <a:cubicBezTo>
                  <a:pt x="1405622" y="1184084"/>
                  <a:pt x="654352" y="1579791"/>
                  <a:pt x="56489" y="1542515"/>
                </a:cubicBezTo>
                <a:lnTo>
                  <a:pt x="0" y="1543250"/>
                </a:lnTo>
                <a:close/>
              </a:path>
            </a:pathLst>
          </a:custGeom>
          <a:solidFill>
            <a:srgbClr val="6193D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8" name="任意多边形: 形状 7"/>
          <p:cNvSpPr/>
          <p:nvPr userDrawn="1"/>
        </p:nvSpPr>
        <p:spPr>
          <a:xfrm>
            <a:off x="8684861" y="4914751"/>
            <a:ext cx="3507139" cy="1943253"/>
          </a:xfrm>
          <a:custGeom>
            <a:avLst/>
            <a:gdLst>
              <a:gd name="connsiteX0" fmla="*/ 3507138 w 3507138"/>
              <a:gd name="connsiteY0" fmla="*/ 0 h 1943253"/>
              <a:gd name="connsiteX1" fmla="*/ 3507138 w 3507138"/>
              <a:gd name="connsiteY1" fmla="*/ 1943253 h 1943253"/>
              <a:gd name="connsiteX2" fmla="*/ 0 w 3507138"/>
              <a:gd name="connsiteY2" fmla="*/ 1943253 h 1943253"/>
              <a:gd name="connsiteX3" fmla="*/ 15912 w 3507138"/>
              <a:gd name="connsiteY3" fmla="*/ 1924864 h 1943253"/>
              <a:gd name="connsiteX4" fmla="*/ 102619 w 3507138"/>
              <a:gd name="connsiteY4" fmla="*/ 1849075 h 1943253"/>
              <a:gd name="connsiteX5" fmla="*/ 880070 w 3507138"/>
              <a:gd name="connsiteY5" fmla="*/ 1561504 h 1943253"/>
              <a:gd name="connsiteX6" fmla="*/ 1645962 w 3507138"/>
              <a:gd name="connsiteY6" fmla="*/ 1250811 h 1943253"/>
              <a:gd name="connsiteX7" fmla="*/ 2278906 w 3507138"/>
              <a:gd name="connsiteY7" fmla="*/ 525382 h 1943253"/>
              <a:gd name="connsiteX8" fmla="*/ 3290262 w 3507138"/>
              <a:gd name="connsiteY8" fmla="*/ 15231 h 1943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07138" h="1943253">
                <a:moveTo>
                  <a:pt x="3507138" y="0"/>
                </a:moveTo>
                <a:lnTo>
                  <a:pt x="3507138" y="1943253"/>
                </a:lnTo>
                <a:lnTo>
                  <a:pt x="0" y="1943253"/>
                </a:lnTo>
                <a:lnTo>
                  <a:pt x="15912" y="1924864"/>
                </a:lnTo>
                <a:cubicBezTo>
                  <a:pt x="42783" y="1897734"/>
                  <a:pt x="71640" y="1872377"/>
                  <a:pt x="102619" y="1849075"/>
                </a:cubicBezTo>
                <a:cubicBezTo>
                  <a:pt x="325161" y="1682890"/>
                  <a:pt x="609840" y="1629422"/>
                  <a:pt x="880070" y="1561504"/>
                </a:cubicBezTo>
                <a:cubicBezTo>
                  <a:pt x="1148855" y="1493584"/>
                  <a:pt x="1424864" y="1418440"/>
                  <a:pt x="1645962" y="1250811"/>
                </a:cubicBezTo>
                <a:cubicBezTo>
                  <a:pt x="1901740" y="1057171"/>
                  <a:pt x="2057808" y="759485"/>
                  <a:pt x="2278906" y="525382"/>
                </a:cubicBezTo>
                <a:cubicBezTo>
                  <a:pt x="2543535" y="245399"/>
                  <a:pt x="2908643" y="67587"/>
                  <a:pt x="3290262" y="15231"/>
                </a:cubicBezTo>
                <a:close/>
              </a:path>
            </a:pathLst>
          </a:custGeom>
          <a:solidFill>
            <a:srgbClr val="6193D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445615-A484-4865-98C6-E1146571BE1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91477" y="332657"/>
            <a:ext cx="9889099" cy="615603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239349" y="216814"/>
            <a:ext cx="1082741" cy="847287"/>
            <a:chOff x="4838310" y="2343675"/>
            <a:chExt cx="1257690" cy="1257690"/>
          </a:xfrm>
        </p:grpSpPr>
        <p:sp>
          <p:nvSpPr>
            <p:cNvPr id="4" name="圆形 15"/>
            <p:cNvSpPr/>
            <p:nvPr/>
          </p:nvSpPr>
          <p:spPr>
            <a:xfrm>
              <a:off x="4838310" y="234367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5" name="图形 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25155" y="2630520"/>
              <a:ext cx="684000" cy="684000"/>
            </a:xfrm>
            <a:prstGeom prst="rect">
              <a:avLst/>
            </a:prstGeom>
          </p:spPr>
        </p:pic>
      </p:grpSp>
      <p:sp>
        <p:nvSpPr>
          <p:cNvPr id="7" name="内容占位符 6"/>
          <p:cNvSpPr>
            <a:spLocks noGrp="1"/>
          </p:cNvSpPr>
          <p:nvPr>
            <p:ph sz="quarter" idx="10" hasCustomPrompt="1"/>
          </p:nvPr>
        </p:nvSpPr>
        <p:spPr>
          <a:xfrm>
            <a:off x="1391478" y="1340768"/>
            <a:ext cx="9889099" cy="5040560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Clr>
                <a:srgbClr val="0070C0"/>
              </a:buClr>
              <a:buFont typeface="Wingdings" panose="05000000000000000000" pitchFamily="2" charset="2"/>
              <a:buChar char="u"/>
              <a:defRPr sz="2800"/>
            </a:lvl1pPr>
            <a:lvl2pPr marL="514350" indent="-171450">
              <a:lnSpc>
                <a:spcPct val="100000"/>
              </a:lnSpc>
              <a:buClr>
                <a:srgbClr val="0070C0"/>
              </a:buClr>
              <a:buFont typeface="Wingdings" panose="05000000000000000000" pitchFamily="2" charset="2"/>
              <a:buChar char="Ø"/>
              <a:defRPr sz="2000"/>
            </a:lvl2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/>
        </p:nvSpPr>
        <p:spPr>
          <a:xfrm>
            <a:off x="3" y="6"/>
            <a:ext cx="3717647" cy="1544951"/>
          </a:xfrm>
          <a:custGeom>
            <a:avLst/>
            <a:gdLst>
              <a:gd name="connsiteX0" fmla="*/ 0 w 3717646"/>
              <a:gd name="connsiteY0" fmla="*/ 0 h 1544951"/>
              <a:gd name="connsiteX1" fmla="*/ 3717646 w 3717646"/>
              <a:gd name="connsiteY1" fmla="*/ 0 h 1544951"/>
              <a:gd name="connsiteX2" fmla="*/ 3699576 w 3717646"/>
              <a:gd name="connsiteY2" fmla="*/ 34239 h 1544951"/>
              <a:gd name="connsiteX3" fmla="*/ 3065871 w 3717646"/>
              <a:gd name="connsiteY3" fmla="*/ 394102 h 1544951"/>
              <a:gd name="connsiteX4" fmla="*/ 2235746 w 3717646"/>
              <a:gd name="connsiteY4" fmla="*/ 342488 h 1544951"/>
              <a:gd name="connsiteX5" fmla="*/ 1748280 w 3717646"/>
              <a:gd name="connsiteY5" fmla="*/ 719558 h 1544951"/>
              <a:gd name="connsiteX6" fmla="*/ 56489 w 3717646"/>
              <a:gd name="connsiteY6" fmla="*/ 1542515 h 1544951"/>
              <a:gd name="connsiteX7" fmla="*/ 0 w 3717646"/>
              <a:gd name="connsiteY7" fmla="*/ 1543250 h 1544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17646" h="1544951">
                <a:moveTo>
                  <a:pt x="0" y="0"/>
                </a:moveTo>
                <a:lnTo>
                  <a:pt x="3717646" y="0"/>
                </a:lnTo>
                <a:lnTo>
                  <a:pt x="3699576" y="34239"/>
                </a:lnTo>
                <a:cubicBezTo>
                  <a:pt x="3551902" y="249297"/>
                  <a:pt x="3311037" y="386935"/>
                  <a:pt x="3065871" y="394102"/>
                </a:cubicBezTo>
                <a:cubicBezTo>
                  <a:pt x="2786295" y="402705"/>
                  <a:pt x="2505285" y="256465"/>
                  <a:pt x="2235746" y="342488"/>
                </a:cubicBezTo>
                <a:cubicBezTo>
                  <a:pt x="2043627" y="404139"/>
                  <a:pt x="1873015" y="550379"/>
                  <a:pt x="1748280" y="719558"/>
                </a:cubicBezTo>
                <a:cubicBezTo>
                  <a:pt x="1405622" y="1184084"/>
                  <a:pt x="654352" y="1579791"/>
                  <a:pt x="56489" y="1542515"/>
                </a:cubicBezTo>
                <a:lnTo>
                  <a:pt x="0" y="1543250"/>
                </a:lnTo>
                <a:close/>
              </a:path>
            </a:pathLst>
          </a:custGeom>
          <a:solidFill>
            <a:srgbClr val="6193D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8" name="任意多边形: 形状 7"/>
          <p:cNvSpPr/>
          <p:nvPr userDrawn="1"/>
        </p:nvSpPr>
        <p:spPr>
          <a:xfrm>
            <a:off x="8684861" y="4914753"/>
            <a:ext cx="3507139" cy="1943253"/>
          </a:xfrm>
          <a:custGeom>
            <a:avLst/>
            <a:gdLst>
              <a:gd name="connsiteX0" fmla="*/ 3507138 w 3507138"/>
              <a:gd name="connsiteY0" fmla="*/ 0 h 1943253"/>
              <a:gd name="connsiteX1" fmla="*/ 3507138 w 3507138"/>
              <a:gd name="connsiteY1" fmla="*/ 1943253 h 1943253"/>
              <a:gd name="connsiteX2" fmla="*/ 0 w 3507138"/>
              <a:gd name="connsiteY2" fmla="*/ 1943253 h 1943253"/>
              <a:gd name="connsiteX3" fmla="*/ 15912 w 3507138"/>
              <a:gd name="connsiteY3" fmla="*/ 1924864 h 1943253"/>
              <a:gd name="connsiteX4" fmla="*/ 102619 w 3507138"/>
              <a:gd name="connsiteY4" fmla="*/ 1849075 h 1943253"/>
              <a:gd name="connsiteX5" fmla="*/ 880070 w 3507138"/>
              <a:gd name="connsiteY5" fmla="*/ 1561504 h 1943253"/>
              <a:gd name="connsiteX6" fmla="*/ 1645962 w 3507138"/>
              <a:gd name="connsiteY6" fmla="*/ 1250811 h 1943253"/>
              <a:gd name="connsiteX7" fmla="*/ 2278906 w 3507138"/>
              <a:gd name="connsiteY7" fmla="*/ 525382 h 1943253"/>
              <a:gd name="connsiteX8" fmla="*/ 3290262 w 3507138"/>
              <a:gd name="connsiteY8" fmla="*/ 15231 h 1943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07138" h="1943253">
                <a:moveTo>
                  <a:pt x="3507138" y="0"/>
                </a:moveTo>
                <a:lnTo>
                  <a:pt x="3507138" y="1943253"/>
                </a:lnTo>
                <a:lnTo>
                  <a:pt x="0" y="1943253"/>
                </a:lnTo>
                <a:lnTo>
                  <a:pt x="15912" y="1924864"/>
                </a:lnTo>
                <a:cubicBezTo>
                  <a:pt x="42783" y="1897734"/>
                  <a:pt x="71640" y="1872377"/>
                  <a:pt x="102619" y="1849075"/>
                </a:cubicBezTo>
                <a:cubicBezTo>
                  <a:pt x="325161" y="1682890"/>
                  <a:pt x="609840" y="1629422"/>
                  <a:pt x="880070" y="1561504"/>
                </a:cubicBezTo>
                <a:cubicBezTo>
                  <a:pt x="1148855" y="1493584"/>
                  <a:pt x="1424864" y="1418440"/>
                  <a:pt x="1645962" y="1250811"/>
                </a:cubicBezTo>
                <a:cubicBezTo>
                  <a:pt x="1901740" y="1057171"/>
                  <a:pt x="2057808" y="759485"/>
                  <a:pt x="2278906" y="525382"/>
                </a:cubicBezTo>
                <a:cubicBezTo>
                  <a:pt x="2543535" y="245399"/>
                  <a:pt x="2908643" y="67587"/>
                  <a:pt x="3290262" y="15231"/>
                </a:cubicBezTo>
                <a:close/>
              </a:path>
            </a:pathLst>
          </a:custGeom>
          <a:solidFill>
            <a:srgbClr val="6193D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27915" y="1700809"/>
            <a:ext cx="1560711" cy="1164437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967541" y="3140968"/>
            <a:ext cx="9313035" cy="792088"/>
          </a:xfrm>
          <a:prstGeom prst="rect">
            <a:avLst/>
          </a:prstGeom>
        </p:spPr>
        <p:txBody>
          <a:bodyPr/>
          <a:lstStyle>
            <a:lvl1pPr>
              <a:defRPr sz="44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/>
        </p:nvSpPr>
        <p:spPr>
          <a:xfrm>
            <a:off x="3" y="6"/>
            <a:ext cx="3717647" cy="1544951"/>
          </a:xfrm>
          <a:custGeom>
            <a:avLst/>
            <a:gdLst>
              <a:gd name="connsiteX0" fmla="*/ 0 w 3717646"/>
              <a:gd name="connsiteY0" fmla="*/ 0 h 1544951"/>
              <a:gd name="connsiteX1" fmla="*/ 3717646 w 3717646"/>
              <a:gd name="connsiteY1" fmla="*/ 0 h 1544951"/>
              <a:gd name="connsiteX2" fmla="*/ 3699576 w 3717646"/>
              <a:gd name="connsiteY2" fmla="*/ 34239 h 1544951"/>
              <a:gd name="connsiteX3" fmla="*/ 3065871 w 3717646"/>
              <a:gd name="connsiteY3" fmla="*/ 394102 h 1544951"/>
              <a:gd name="connsiteX4" fmla="*/ 2235746 w 3717646"/>
              <a:gd name="connsiteY4" fmla="*/ 342488 h 1544951"/>
              <a:gd name="connsiteX5" fmla="*/ 1748280 w 3717646"/>
              <a:gd name="connsiteY5" fmla="*/ 719558 h 1544951"/>
              <a:gd name="connsiteX6" fmla="*/ 56489 w 3717646"/>
              <a:gd name="connsiteY6" fmla="*/ 1542515 h 1544951"/>
              <a:gd name="connsiteX7" fmla="*/ 0 w 3717646"/>
              <a:gd name="connsiteY7" fmla="*/ 1543250 h 1544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17646" h="1544951">
                <a:moveTo>
                  <a:pt x="0" y="0"/>
                </a:moveTo>
                <a:lnTo>
                  <a:pt x="3717646" y="0"/>
                </a:lnTo>
                <a:lnTo>
                  <a:pt x="3699576" y="34239"/>
                </a:lnTo>
                <a:cubicBezTo>
                  <a:pt x="3551902" y="249297"/>
                  <a:pt x="3311037" y="386935"/>
                  <a:pt x="3065871" y="394102"/>
                </a:cubicBezTo>
                <a:cubicBezTo>
                  <a:pt x="2786295" y="402705"/>
                  <a:pt x="2505285" y="256465"/>
                  <a:pt x="2235746" y="342488"/>
                </a:cubicBezTo>
                <a:cubicBezTo>
                  <a:pt x="2043627" y="404139"/>
                  <a:pt x="1873015" y="550379"/>
                  <a:pt x="1748280" y="719558"/>
                </a:cubicBezTo>
                <a:cubicBezTo>
                  <a:pt x="1405622" y="1184084"/>
                  <a:pt x="654352" y="1579791"/>
                  <a:pt x="56489" y="1542515"/>
                </a:cubicBezTo>
                <a:lnTo>
                  <a:pt x="0" y="1543250"/>
                </a:lnTo>
                <a:close/>
              </a:path>
            </a:pathLst>
          </a:custGeom>
          <a:solidFill>
            <a:srgbClr val="6193D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8" name="任意多边形: 形状 7"/>
          <p:cNvSpPr/>
          <p:nvPr userDrawn="1"/>
        </p:nvSpPr>
        <p:spPr>
          <a:xfrm>
            <a:off x="8684861" y="4914753"/>
            <a:ext cx="3507139" cy="1943253"/>
          </a:xfrm>
          <a:custGeom>
            <a:avLst/>
            <a:gdLst>
              <a:gd name="connsiteX0" fmla="*/ 3507138 w 3507138"/>
              <a:gd name="connsiteY0" fmla="*/ 0 h 1943253"/>
              <a:gd name="connsiteX1" fmla="*/ 3507138 w 3507138"/>
              <a:gd name="connsiteY1" fmla="*/ 1943253 h 1943253"/>
              <a:gd name="connsiteX2" fmla="*/ 0 w 3507138"/>
              <a:gd name="connsiteY2" fmla="*/ 1943253 h 1943253"/>
              <a:gd name="connsiteX3" fmla="*/ 15912 w 3507138"/>
              <a:gd name="connsiteY3" fmla="*/ 1924864 h 1943253"/>
              <a:gd name="connsiteX4" fmla="*/ 102619 w 3507138"/>
              <a:gd name="connsiteY4" fmla="*/ 1849075 h 1943253"/>
              <a:gd name="connsiteX5" fmla="*/ 880070 w 3507138"/>
              <a:gd name="connsiteY5" fmla="*/ 1561504 h 1943253"/>
              <a:gd name="connsiteX6" fmla="*/ 1645962 w 3507138"/>
              <a:gd name="connsiteY6" fmla="*/ 1250811 h 1943253"/>
              <a:gd name="connsiteX7" fmla="*/ 2278906 w 3507138"/>
              <a:gd name="connsiteY7" fmla="*/ 525382 h 1943253"/>
              <a:gd name="connsiteX8" fmla="*/ 3290262 w 3507138"/>
              <a:gd name="connsiteY8" fmla="*/ 15231 h 1943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07138" h="1943253">
                <a:moveTo>
                  <a:pt x="3507138" y="0"/>
                </a:moveTo>
                <a:lnTo>
                  <a:pt x="3507138" y="1943253"/>
                </a:lnTo>
                <a:lnTo>
                  <a:pt x="0" y="1943253"/>
                </a:lnTo>
                <a:lnTo>
                  <a:pt x="15912" y="1924864"/>
                </a:lnTo>
                <a:cubicBezTo>
                  <a:pt x="42783" y="1897734"/>
                  <a:pt x="71640" y="1872377"/>
                  <a:pt x="102619" y="1849075"/>
                </a:cubicBezTo>
                <a:cubicBezTo>
                  <a:pt x="325161" y="1682890"/>
                  <a:pt x="609840" y="1629422"/>
                  <a:pt x="880070" y="1561504"/>
                </a:cubicBezTo>
                <a:cubicBezTo>
                  <a:pt x="1148855" y="1493584"/>
                  <a:pt x="1424864" y="1418440"/>
                  <a:pt x="1645962" y="1250811"/>
                </a:cubicBezTo>
                <a:cubicBezTo>
                  <a:pt x="1901740" y="1057171"/>
                  <a:pt x="2057808" y="759485"/>
                  <a:pt x="2278906" y="525382"/>
                </a:cubicBezTo>
                <a:cubicBezTo>
                  <a:pt x="2543535" y="245399"/>
                  <a:pt x="2908643" y="67587"/>
                  <a:pt x="3290262" y="15231"/>
                </a:cubicBezTo>
                <a:close/>
              </a:path>
            </a:pathLst>
          </a:custGeom>
          <a:solidFill>
            <a:srgbClr val="6193D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27915" y="1700809"/>
            <a:ext cx="1560711" cy="1164437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967541" y="3140968"/>
            <a:ext cx="9313035" cy="792088"/>
          </a:xfrm>
          <a:prstGeom prst="rect">
            <a:avLst/>
          </a:prstGeom>
        </p:spPr>
        <p:txBody>
          <a:bodyPr/>
          <a:lstStyle>
            <a:lvl1pPr>
              <a:defRPr sz="44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91477" y="332657"/>
            <a:ext cx="9889099" cy="615603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239349" y="216814"/>
            <a:ext cx="1082741" cy="847287"/>
            <a:chOff x="4838310" y="2343675"/>
            <a:chExt cx="1257690" cy="1257690"/>
          </a:xfrm>
        </p:grpSpPr>
        <p:sp>
          <p:nvSpPr>
            <p:cNvPr id="4" name="圆形 15"/>
            <p:cNvSpPr/>
            <p:nvPr/>
          </p:nvSpPr>
          <p:spPr>
            <a:xfrm>
              <a:off x="4838310" y="234367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pic>
          <p:nvPicPr>
            <p:cNvPr id="5" name="图形 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25155" y="2630520"/>
              <a:ext cx="684000" cy="684000"/>
            </a:xfrm>
            <a:prstGeom prst="rect">
              <a:avLst/>
            </a:prstGeom>
          </p:spPr>
        </p:pic>
      </p:grpSp>
      <p:sp>
        <p:nvSpPr>
          <p:cNvPr id="7" name="内容占位符 6"/>
          <p:cNvSpPr>
            <a:spLocks noGrp="1"/>
          </p:cNvSpPr>
          <p:nvPr>
            <p:ph sz="quarter" idx="10" hasCustomPrompt="1"/>
          </p:nvPr>
        </p:nvSpPr>
        <p:spPr>
          <a:xfrm>
            <a:off x="1391478" y="1340768"/>
            <a:ext cx="9889099" cy="5040560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Clr>
                <a:srgbClr val="0070C0"/>
              </a:buClr>
              <a:buFont typeface="Wingdings" panose="05000000000000000000" pitchFamily="2" charset="2"/>
              <a:buChar char="u"/>
              <a:defRPr sz="2800"/>
            </a:lvl1pPr>
            <a:lvl2pPr marL="514350" indent="-171450">
              <a:lnSpc>
                <a:spcPct val="100000"/>
              </a:lnSpc>
              <a:buClr>
                <a:srgbClr val="0070C0"/>
              </a:buClr>
              <a:buFont typeface="Wingdings" panose="05000000000000000000" pitchFamily="2" charset="2"/>
              <a:buChar char="Ø"/>
              <a:defRPr sz="2000"/>
            </a:lvl2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7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.sv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sv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4.xml"/><Relationship Id="rId4" Type="http://schemas.openxmlformats.org/officeDocument/2006/relationships/hyperlink" Target="https://pypi.org/" TargetMode="External"/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sv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sv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sv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1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7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svg"/><Relationship Id="rId1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8.png"/><Relationship Id="rId2" Type="http://schemas.openxmlformats.org/officeDocument/2006/relationships/image" Target="../media/image2.svg"/><Relationship Id="rId1" Type="http://schemas.openxmlformats.org/officeDocument/2006/relationships/image" Target="../media/image4.png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9.png"/><Relationship Id="rId2" Type="http://schemas.openxmlformats.org/officeDocument/2006/relationships/image" Target="../media/image2.svg"/><Relationship Id="rId1" Type="http://schemas.openxmlformats.org/officeDocument/2006/relationships/image" Target="../media/image4.png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0.png"/><Relationship Id="rId2" Type="http://schemas.openxmlformats.org/officeDocument/2006/relationships/image" Target="../media/image2.svg"/><Relationship Id="rId1" Type="http://schemas.openxmlformats.org/officeDocument/2006/relationships/image" Target="../media/image4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svg"/><Relationship Id="rId1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1.png"/><Relationship Id="rId2" Type="http://schemas.openxmlformats.org/officeDocument/2006/relationships/image" Target="../media/image2.svg"/><Relationship Id="rId1" Type="http://schemas.openxmlformats.org/officeDocument/2006/relationships/image" Target="../media/image4.png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2.png"/><Relationship Id="rId2" Type="http://schemas.openxmlformats.org/officeDocument/2006/relationships/image" Target="../media/image2.svg"/><Relationship Id="rId1" Type="http://schemas.openxmlformats.org/officeDocument/2006/relationships/image" Target="../media/image4.pn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svg"/><Relationship Id="rId1" Type="http://schemas.openxmlformats.org/officeDocument/2006/relationships/image" Target="../media/image2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svg"/><Relationship Id="rId1" Type="http://schemas.openxmlformats.org/officeDocument/2006/relationships/image" Target="../media/image2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4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9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0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6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6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6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6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6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5.png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7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5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6.png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7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6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7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7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7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8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7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9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7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0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7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7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7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3.x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2.svg"/><Relationship Id="rId4" Type="http://schemas.openxmlformats.org/officeDocument/2006/relationships/image" Target="../media/image15.png"/><Relationship Id="rId3" Type="http://schemas.openxmlformats.org/officeDocument/2006/relationships/hyperlink" Target="https://imageio.readthedocs.io/en/stable/user_guide/index.html" TargetMode="External"/><Relationship Id="rId2" Type="http://schemas.openxmlformats.org/officeDocument/2006/relationships/hyperlink" Target="http://amueller.github.io/word_cloud/auto_examples/index.html#example-gallery" TargetMode="External"/><Relationship Id="rId1" Type="http://schemas.openxmlformats.org/officeDocument/2006/relationships/hyperlink" Target="https://matplotlib.org/stable/gallery/index" TargetMode="External"/></Relationships>
</file>

<file path=ppt/slides/_rels/slide7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4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8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5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8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9.png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8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2.svg"/><Relationship Id="rId3" Type="http://schemas.openxmlformats.org/officeDocument/2006/relationships/image" Target="../media/image15.png"/><Relationship Id="rId2" Type="http://schemas.openxmlformats.org/officeDocument/2006/relationships/image" Target="../media/image30.png"/><Relationship Id="rId1" Type="http://schemas.openxmlformats.org/officeDocument/2006/relationships/hyperlink" Target="https://matplotlib.org/stable/gallery/index.html" TargetMode="External"/></Relationships>
</file>

<file path=ppt/slides/_rels/slide8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9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8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0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8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1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8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2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8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3.xml"/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31.png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8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4.xml"/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32.png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9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5.xml"/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32.png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9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6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9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7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9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8.xml"/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33.png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9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9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9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0.xml"/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34.png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9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1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3.xml"/></Relationships>
</file>

<file path=ppt/slides/_rels/slide9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3.xml"/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35.png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36.png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37.png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38.png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4.xml"/><Relationship Id="rId6" Type="http://schemas.openxmlformats.org/officeDocument/2006/relationships/slideLayout" Target="../slideLayouts/slideLayout1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44.png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2.svg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224870" y="3354920"/>
            <a:ext cx="574227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b="1" dirty="0">
                <a:cs typeface="+mn-ea"/>
                <a:sym typeface="+mn-lt"/>
              </a:rPr>
              <a:t>0 </a:t>
            </a:r>
            <a:r>
              <a:rPr lang="zh-CN" altLang="en-US" sz="4400" b="1" dirty="0">
                <a:cs typeface="+mn-ea"/>
                <a:sym typeface="+mn-lt"/>
              </a:rPr>
              <a:t>编程语言与编程环境</a:t>
            </a:r>
            <a:endParaRPr lang="en-US" sz="4400" b="1" dirty="0">
              <a:cs typeface="+mn-ea"/>
              <a:sym typeface="+mn-lt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511800" y="1955759"/>
            <a:ext cx="1168400" cy="1168400"/>
            <a:chOff x="4838310" y="2343675"/>
            <a:chExt cx="1257690" cy="1257690"/>
          </a:xfrm>
        </p:grpSpPr>
        <p:sp>
          <p:nvSpPr>
            <p:cNvPr id="2" name="圆形 15"/>
            <p:cNvSpPr/>
            <p:nvPr/>
          </p:nvSpPr>
          <p:spPr>
            <a:xfrm>
              <a:off x="4838310" y="234367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4" name="图形 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125155" y="2630520"/>
              <a:ext cx="684000" cy="6840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426741" y="1022922"/>
            <a:ext cx="10010515" cy="507831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6193D4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+mj-lt"/>
                <a:ea typeface="+mj-ea"/>
                <a:cs typeface="+mj-cs"/>
              </a:rPr>
              <a:t>选择题    </a:t>
            </a:r>
            <a:r>
              <a:rPr lang="en-US" altLang="zh-CN" sz="2400" b="1" dirty="0">
                <a:latin typeface="+mj-lt"/>
                <a:ea typeface="+mj-ea"/>
                <a:cs typeface="+mj-cs"/>
              </a:rPr>
              <a:t>30</a:t>
            </a:r>
            <a:r>
              <a:rPr lang="zh-CN" altLang="en-US" sz="2400" b="1" dirty="0">
                <a:latin typeface="+mj-lt"/>
                <a:ea typeface="+mj-ea"/>
                <a:cs typeface="+mj-cs"/>
              </a:rPr>
              <a:t>分（</a:t>
            </a:r>
            <a:r>
              <a:rPr lang="en-US" altLang="zh-CN" sz="2400" b="1" dirty="0">
                <a:latin typeface="+mj-lt"/>
                <a:ea typeface="+mj-ea"/>
                <a:cs typeface="+mj-cs"/>
              </a:rPr>
              <a:t>15</a:t>
            </a:r>
            <a:r>
              <a:rPr lang="zh-CN" altLang="en-US" sz="2400" b="1" dirty="0">
                <a:latin typeface="+mj-lt"/>
                <a:ea typeface="+mj-ea"/>
                <a:cs typeface="+mj-cs"/>
              </a:rPr>
              <a:t>*</a:t>
            </a:r>
            <a:r>
              <a:rPr lang="en-US" altLang="zh-CN" sz="2400" b="1" dirty="0">
                <a:latin typeface="+mj-lt"/>
                <a:ea typeface="+mj-ea"/>
                <a:cs typeface="+mj-cs"/>
              </a:rPr>
              <a:t>2</a:t>
            </a:r>
            <a:r>
              <a:rPr lang="zh-CN" altLang="en-US" sz="2400" b="1" dirty="0">
                <a:latin typeface="+mj-lt"/>
                <a:ea typeface="+mj-ea"/>
                <a:cs typeface="+mj-cs"/>
              </a:rPr>
              <a:t>）模块 标识符 数据类型与运算符 输入输出 分支结构 循环结构 列表 字符串 字典 绘图 词云 函数 正</a:t>
            </a:r>
            <a:r>
              <a:rPr lang="zh-CN" altLang="en-US" sz="2400" b="1" dirty="0" smtClean="0">
                <a:latin typeface="+mj-lt"/>
                <a:ea typeface="+mj-ea"/>
                <a:cs typeface="+mj-cs"/>
              </a:rPr>
              <a:t>则 爬虫 </a:t>
            </a:r>
            <a:r>
              <a:rPr lang="zh-CN" altLang="en-US" sz="2400" b="1" dirty="0">
                <a:latin typeface="+mj-lt"/>
                <a:ea typeface="+mj-ea"/>
                <a:cs typeface="+mj-cs"/>
              </a:rPr>
              <a:t>文件读写</a:t>
            </a:r>
            <a:endParaRPr lang="en-US" altLang="zh-CN" sz="2400" b="1" dirty="0">
              <a:latin typeface="+mj-lt"/>
              <a:ea typeface="+mj-ea"/>
              <a:cs typeface="+mj-cs"/>
            </a:endParaRP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6193D4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+mj-lt"/>
                <a:ea typeface="+mj-ea"/>
                <a:cs typeface="+mj-cs"/>
              </a:rPr>
              <a:t>填空题    </a:t>
            </a:r>
            <a:r>
              <a:rPr lang="en-US" altLang="zh-CN" sz="2400" b="1" dirty="0">
                <a:latin typeface="+mj-lt"/>
                <a:ea typeface="+mj-ea"/>
                <a:cs typeface="+mj-cs"/>
              </a:rPr>
              <a:t>20</a:t>
            </a:r>
            <a:r>
              <a:rPr lang="zh-CN" altLang="en-US" sz="2400" b="1" dirty="0">
                <a:latin typeface="+mj-lt"/>
                <a:ea typeface="+mj-ea"/>
                <a:cs typeface="+mj-cs"/>
              </a:rPr>
              <a:t>分（</a:t>
            </a:r>
            <a:r>
              <a:rPr lang="en-US" altLang="zh-CN" sz="2400" b="1" dirty="0">
                <a:latin typeface="+mj-lt"/>
                <a:ea typeface="+mj-ea"/>
                <a:cs typeface="+mj-cs"/>
              </a:rPr>
              <a:t>3</a:t>
            </a:r>
            <a:r>
              <a:rPr lang="zh-CN" altLang="en-US" sz="2400" b="1" dirty="0">
                <a:latin typeface="+mj-lt"/>
                <a:ea typeface="+mj-ea"/>
                <a:cs typeface="+mj-cs"/>
              </a:rPr>
              <a:t>*</a:t>
            </a:r>
            <a:r>
              <a:rPr lang="en-US" altLang="zh-CN" sz="2400" b="1" dirty="0">
                <a:latin typeface="+mj-lt"/>
                <a:ea typeface="+mj-ea"/>
                <a:cs typeface="+mj-cs"/>
              </a:rPr>
              <a:t>2+3</a:t>
            </a:r>
            <a:r>
              <a:rPr lang="zh-CN" altLang="en-US" sz="2400" b="1" dirty="0">
                <a:latin typeface="+mj-lt"/>
                <a:ea typeface="+mj-ea"/>
                <a:cs typeface="+mj-cs"/>
              </a:rPr>
              <a:t>*</a:t>
            </a:r>
            <a:r>
              <a:rPr lang="en-US" altLang="zh-CN" sz="2400" b="1" dirty="0">
                <a:latin typeface="+mj-lt"/>
                <a:ea typeface="+mj-ea"/>
                <a:cs typeface="+mj-cs"/>
              </a:rPr>
              <a:t>2+4</a:t>
            </a:r>
            <a:r>
              <a:rPr lang="zh-CN" altLang="en-US" sz="2400" b="1" dirty="0">
                <a:latin typeface="+mj-lt"/>
                <a:ea typeface="+mj-ea"/>
                <a:cs typeface="+mj-cs"/>
              </a:rPr>
              <a:t>*</a:t>
            </a:r>
            <a:r>
              <a:rPr lang="en-US" altLang="zh-CN" sz="2400" b="1" dirty="0">
                <a:latin typeface="+mj-lt"/>
                <a:ea typeface="+mj-ea"/>
                <a:cs typeface="+mj-cs"/>
              </a:rPr>
              <a:t>2</a:t>
            </a:r>
            <a:r>
              <a:rPr lang="zh-CN" altLang="en-US" sz="2400" b="1" dirty="0">
                <a:latin typeface="+mj-lt"/>
                <a:ea typeface="+mj-ea"/>
                <a:cs typeface="+mj-cs"/>
              </a:rPr>
              <a:t>）</a:t>
            </a:r>
            <a:endParaRPr lang="en-US" altLang="zh-CN" sz="2400" b="1" dirty="0">
              <a:latin typeface="+mj-lt"/>
              <a:ea typeface="+mj-ea"/>
              <a:cs typeface="+mj-cs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6193D4"/>
              </a:buClr>
            </a:pPr>
            <a:r>
              <a:rPr lang="zh-CN" altLang="en-US" sz="2400" b="1" dirty="0"/>
              <a:t>                   图形打印</a:t>
            </a:r>
            <a:r>
              <a:rPr lang="zh-CN" altLang="en-US" sz="2400" b="1" dirty="0" smtClean="0"/>
              <a:t>、字典统计</a:t>
            </a:r>
            <a:r>
              <a:rPr lang="en-US" altLang="zh-CN" sz="2400" b="1" dirty="0" smtClean="0"/>
              <a:t>+</a:t>
            </a:r>
            <a:r>
              <a:rPr lang="zh-CN" altLang="en-US" sz="2400" b="1" dirty="0" smtClean="0"/>
              <a:t>写文件</a:t>
            </a:r>
            <a:r>
              <a:rPr lang="en-US" altLang="zh-CN" sz="2400" b="1" dirty="0" smtClean="0"/>
              <a:t>TXT</a:t>
            </a:r>
            <a:r>
              <a:rPr lang="zh-CN" altLang="en-US" sz="2400" b="1" dirty="0" smtClean="0"/>
              <a:t>、函数</a:t>
            </a:r>
            <a:r>
              <a:rPr lang="en-US" altLang="zh-CN" sz="2400" b="1" dirty="0" smtClean="0"/>
              <a:t>+</a:t>
            </a:r>
            <a:r>
              <a:rPr lang="en-US" altLang="zh-CN" sz="2400" b="1" dirty="0" err="1" smtClean="0"/>
              <a:t>tkinter</a:t>
            </a:r>
            <a:r>
              <a:rPr lang="en-US" altLang="zh-CN" sz="2400" b="1" dirty="0" smtClean="0"/>
              <a:t>(label</a:t>
            </a:r>
            <a:r>
              <a:rPr lang="zh-CN" altLang="en-US" sz="2400" b="1" dirty="0" smtClean="0"/>
              <a:t>、</a:t>
            </a:r>
            <a:r>
              <a:rPr lang="en-US" altLang="zh-CN" sz="2400" b="1" dirty="0" smtClean="0"/>
              <a:t>button</a:t>
            </a:r>
            <a:r>
              <a:rPr lang="zh-CN" altLang="en-US" sz="2400" b="1" dirty="0" smtClean="0"/>
              <a:t>、</a:t>
            </a:r>
            <a:r>
              <a:rPr lang="en-US" altLang="zh-CN" sz="2400" b="1" dirty="0" smtClean="0"/>
              <a:t>entry</a:t>
            </a:r>
            <a:r>
              <a:rPr lang="zh-CN" altLang="en-US" sz="2400" b="1" dirty="0" smtClean="0"/>
              <a:t>、</a:t>
            </a:r>
            <a:r>
              <a:rPr lang="en-US" altLang="zh-CN" sz="2400" b="1" dirty="0" smtClean="0"/>
              <a:t>text)</a:t>
            </a:r>
            <a:endParaRPr lang="en-US" altLang="zh-CN" sz="2400" b="1" dirty="0">
              <a:latin typeface="+mj-lt"/>
              <a:ea typeface="+mj-ea"/>
              <a:cs typeface="+mj-cs"/>
            </a:endParaRP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6193D4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+mj-lt"/>
                <a:ea typeface="+mj-ea"/>
                <a:cs typeface="+mj-cs"/>
              </a:rPr>
              <a:t>简答题    </a:t>
            </a:r>
            <a:r>
              <a:rPr lang="en-US" altLang="zh-CN" sz="2400" b="1" dirty="0">
                <a:latin typeface="+mj-lt"/>
                <a:ea typeface="+mj-ea"/>
                <a:cs typeface="+mj-cs"/>
              </a:rPr>
              <a:t>20</a:t>
            </a:r>
            <a:r>
              <a:rPr lang="zh-CN" altLang="en-US" sz="2400" b="1" dirty="0">
                <a:latin typeface="+mj-lt"/>
                <a:ea typeface="+mj-ea"/>
                <a:cs typeface="+mj-cs"/>
              </a:rPr>
              <a:t>分（</a:t>
            </a:r>
            <a:r>
              <a:rPr lang="en-US" altLang="zh-CN" sz="2400" b="1" dirty="0">
                <a:latin typeface="+mj-lt"/>
                <a:ea typeface="+mj-ea"/>
                <a:cs typeface="+mj-cs"/>
              </a:rPr>
              <a:t>4</a:t>
            </a:r>
            <a:r>
              <a:rPr lang="zh-CN" altLang="en-US" sz="2400" b="1" dirty="0">
                <a:latin typeface="+mj-lt"/>
                <a:ea typeface="+mj-ea"/>
                <a:cs typeface="+mj-cs"/>
              </a:rPr>
              <a:t>*</a:t>
            </a:r>
            <a:r>
              <a:rPr lang="en-US" altLang="zh-CN" sz="2400" b="1" dirty="0">
                <a:latin typeface="+mj-lt"/>
                <a:ea typeface="+mj-ea"/>
                <a:cs typeface="+mj-cs"/>
              </a:rPr>
              <a:t>5</a:t>
            </a:r>
            <a:r>
              <a:rPr lang="zh-CN" altLang="en-US" sz="2400" b="1" dirty="0">
                <a:latin typeface="+mj-lt"/>
                <a:ea typeface="+mj-ea"/>
                <a:cs typeface="+mj-cs"/>
              </a:rPr>
              <a:t>）</a:t>
            </a:r>
            <a:endParaRPr lang="en-US" altLang="zh-CN" sz="2400" b="1" dirty="0">
              <a:latin typeface="+mj-lt"/>
              <a:ea typeface="+mj-ea"/>
              <a:cs typeface="+mj-cs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6193D4"/>
              </a:buClr>
            </a:pPr>
            <a:r>
              <a:rPr lang="zh-CN" altLang="en-US" sz="2400" b="1" dirty="0"/>
              <a:t>                  程序结构 数据类型 </a:t>
            </a:r>
            <a:r>
              <a:rPr lang="zh-CN" altLang="en-US" sz="2400" b="1" dirty="0" smtClean="0"/>
              <a:t>正则与爬虫 </a:t>
            </a:r>
            <a:r>
              <a:rPr lang="zh-CN" altLang="en-US" sz="2400" b="1" dirty="0"/>
              <a:t>词频分析与词云</a:t>
            </a:r>
            <a:endParaRPr lang="en-US" altLang="zh-CN" sz="2400" b="1" dirty="0">
              <a:latin typeface="+mj-lt"/>
              <a:ea typeface="+mj-ea"/>
              <a:cs typeface="+mj-cs"/>
            </a:endParaRP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6193D4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+mj-lt"/>
                <a:ea typeface="+mj-ea"/>
                <a:cs typeface="+mj-cs"/>
              </a:rPr>
              <a:t>编程题    </a:t>
            </a:r>
            <a:r>
              <a:rPr lang="en-US" altLang="zh-CN" sz="2400" b="1" dirty="0">
                <a:latin typeface="+mj-lt"/>
                <a:ea typeface="+mj-ea"/>
                <a:cs typeface="+mj-cs"/>
              </a:rPr>
              <a:t>30</a:t>
            </a:r>
            <a:r>
              <a:rPr lang="zh-CN" altLang="en-US" sz="2400" b="1" dirty="0">
                <a:latin typeface="+mj-lt"/>
                <a:ea typeface="+mj-ea"/>
                <a:cs typeface="+mj-cs"/>
              </a:rPr>
              <a:t>分（</a:t>
            </a:r>
            <a:r>
              <a:rPr lang="en-US" altLang="zh-CN" sz="2400" b="1" dirty="0">
                <a:latin typeface="+mj-lt"/>
                <a:ea typeface="+mj-ea"/>
                <a:cs typeface="+mj-cs"/>
              </a:rPr>
              <a:t>3</a:t>
            </a:r>
            <a:r>
              <a:rPr lang="zh-CN" altLang="en-US" sz="2400" b="1" dirty="0">
                <a:latin typeface="+mj-lt"/>
                <a:ea typeface="+mj-ea"/>
                <a:cs typeface="+mj-cs"/>
              </a:rPr>
              <a:t>*</a:t>
            </a:r>
            <a:r>
              <a:rPr lang="en-US" altLang="zh-CN" sz="2400" b="1" dirty="0">
                <a:latin typeface="+mj-lt"/>
                <a:ea typeface="+mj-ea"/>
                <a:cs typeface="+mj-cs"/>
              </a:rPr>
              <a:t>10</a:t>
            </a:r>
            <a:r>
              <a:rPr lang="zh-CN" altLang="en-US" sz="2400" b="1" dirty="0">
                <a:latin typeface="+mj-lt"/>
                <a:ea typeface="+mj-ea"/>
                <a:cs typeface="+mj-cs"/>
              </a:rPr>
              <a:t>）</a:t>
            </a:r>
            <a:endParaRPr lang="en-US" altLang="zh-CN" sz="2400" b="1" dirty="0">
              <a:latin typeface="+mj-lt"/>
              <a:ea typeface="+mj-ea"/>
              <a:cs typeface="+mj-cs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6193D4"/>
              </a:buClr>
            </a:pPr>
            <a:r>
              <a:rPr lang="zh-CN" altLang="en-US" sz="2400" b="1" dirty="0"/>
              <a:t>                  </a:t>
            </a:r>
            <a:r>
              <a:rPr lang="zh-CN" altLang="en-US" sz="2400" b="1" dirty="0" smtClean="0"/>
              <a:t>程序结构</a:t>
            </a:r>
            <a:r>
              <a:rPr lang="en-US" altLang="zh-CN" sz="2400" b="1" dirty="0" smtClean="0"/>
              <a:t>  </a:t>
            </a:r>
            <a:r>
              <a:rPr lang="en-US" altLang="zh-CN" sz="2400" b="1" dirty="0" err="1" smtClean="0"/>
              <a:t>matplotlib</a:t>
            </a:r>
            <a:r>
              <a:rPr lang="zh-CN" altLang="en-US" sz="2400" b="1" dirty="0" smtClean="0"/>
              <a:t>绘图  </a:t>
            </a:r>
            <a:r>
              <a:rPr lang="zh-CN" altLang="en-US" sz="2400" b="1" dirty="0"/>
              <a:t>基于</a:t>
            </a:r>
            <a:r>
              <a:rPr lang="zh-CN" altLang="en-US" sz="2400" b="1" dirty="0" smtClean="0"/>
              <a:t>文件</a:t>
            </a:r>
            <a:r>
              <a:rPr lang="en-US" altLang="zh-CN" sz="2400" b="1" dirty="0" smtClean="0"/>
              <a:t>CSV</a:t>
            </a:r>
            <a:r>
              <a:rPr lang="zh-CN" altLang="en-US" sz="2400" b="1" dirty="0" smtClean="0"/>
              <a:t>的</a:t>
            </a:r>
            <a:r>
              <a:rPr lang="zh-CN" altLang="en-US" sz="2400" b="1" dirty="0"/>
              <a:t>统计分析</a:t>
            </a:r>
            <a:endParaRPr lang="zh-CN" altLang="zh-CN" sz="2400" b="1" dirty="0">
              <a:latin typeface="+mj-lt"/>
              <a:ea typeface="+mj-ea"/>
              <a:cs typeface="+mj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31523" y="481157"/>
            <a:ext cx="952761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800" b="1" dirty="0">
                <a:solidFill>
                  <a:prstClr val="black"/>
                </a:solidFill>
                <a:latin typeface="Segoe UI" panose="020B0502040204020203"/>
                <a:ea typeface="微软雅黑" panose="020B0503020204020204" charset="-122"/>
                <a:cs typeface="+mn-ea"/>
              </a:rPr>
              <a:t>考试题型：</a:t>
            </a:r>
            <a:endParaRPr lang="zh-CN" altLang="en-US" sz="4800" b="1" dirty="0">
              <a:solidFill>
                <a:prstClr val="black"/>
              </a:solidFill>
              <a:latin typeface="Segoe UI" panose="020B0502040204020203"/>
              <a:ea typeface="微软雅黑" panose="020B0503020204020204" charset="-122"/>
              <a:cs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96217" y="518765"/>
            <a:ext cx="680176" cy="711395"/>
            <a:chOff x="3820548" y="-894825"/>
            <a:chExt cx="1257690" cy="1257690"/>
          </a:xfrm>
        </p:grpSpPr>
        <p:sp>
          <p:nvSpPr>
            <p:cNvPr id="8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9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sp>
        <p:nvSpPr>
          <p:cNvPr id="10" name="矩形 9"/>
          <p:cNvSpPr/>
          <p:nvPr/>
        </p:nvSpPr>
        <p:spPr>
          <a:xfrm>
            <a:off x="560717" y="5996669"/>
            <a:ext cx="103603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prstClr val="black"/>
                </a:solidFill>
                <a:latin typeface="Segoe UI" panose="020B0502040204020203"/>
                <a:ea typeface="微软雅黑" panose="020B0503020204020204" charset="-122"/>
                <a:cs typeface="+mn-ea"/>
              </a:rPr>
              <a:t>考试形式：闭卷机</a:t>
            </a:r>
            <a:r>
              <a:rPr lang="zh-CN" altLang="en-US" sz="3600" b="1" dirty="0" smtClean="0">
                <a:solidFill>
                  <a:prstClr val="black"/>
                </a:solidFill>
                <a:latin typeface="Segoe UI" panose="020B0502040204020203"/>
                <a:ea typeface="微软雅黑" panose="020B0503020204020204" charset="-122"/>
                <a:cs typeface="+mn-ea"/>
              </a:rPr>
              <a:t>考（教务处通知）信息楼</a:t>
            </a:r>
            <a:r>
              <a:rPr lang="zh-CN" altLang="en-US" sz="3600" b="1" dirty="0">
                <a:solidFill>
                  <a:prstClr val="black"/>
                </a:solidFill>
                <a:latin typeface="Segoe UI" panose="020B0502040204020203"/>
                <a:ea typeface="微软雅黑" panose="020B0503020204020204" charset="-122"/>
                <a:cs typeface="+mn-ea"/>
              </a:rPr>
              <a:t>机房</a:t>
            </a:r>
            <a:endParaRPr lang="zh-CN" altLang="en-US" sz="3600" b="1" dirty="0">
              <a:solidFill>
                <a:prstClr val="black"/>
              </a:solidFill>
              <a:latin typeface="Segoe UI" panose="020B0502040204020203"/>
              <a:ea typeface="微软雅黑" panose="020B0503020204020204" charset="-122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build="p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5A6AF0D-38AB-4EC6-A434-264BD5DB39B0}" type="slidenum">
              <a:rPr lang="en-US" altLang="zh-CN" sz="1200">
                <a:latin typeface="Garamond" panose="02020404030301010803" pitchFamily="18" charset="0"/>
              </a:rPr>
            </a:fld>
            <a:endParaRPr lang="en-US" altLang="zh-CN" sz="1200">
              <a:latin typeface="Garamond" panose="02020404030301010803" pitchFamily="18" charset="0"/>
            </a:endParaRP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211756" y="1544877"/>
            <a:ext cx="11980243" cy="3816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just" eaLnBrk="1" hangingPunct="1">
              <a:lnSpc>
                <a:spcPct val="125000"/>
              </a:lnSpc>
              <a:defRPr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有强大的标准库和丰富的第三方库        </a:t>
            </a: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zh-CN" alt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标  准  库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https://docs.python.org/3.8/library/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200"/>
              </a:lnSpc>
              <a:defRPr/>
            </a:pP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如：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random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webbrowser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calendar</a:t>
            </a:r>
            <a:r>
              <a:rPr lang="zh-CN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r>
              <a:rPr lang="zh-CN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等</a:t>
            </a: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zh-CN" alt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第三方库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https://pypi.org/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如：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wordcolud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requests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等，需要安装</a:t>
            </a:r>
            <a:endParaRPr lang="zh-CN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048523" y="517525"/>
            <a:ext cx="59436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en-US" altLang="zh-CN" sz="4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Python</a:t>
            </a:r>
            <a:r>
              <a:rPr lang="zh-CN" altLang="en-US" sz="4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库简介</a:t>
            </a:r>
            <a:endParaRPr lang="en-US" altLang="zh-CN" sz="48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96217" y="517525"/>
            <a:ext cx="680176" cy="711395"/>
            <a:chOff x="3820548" y="-894825"/>
            <a:chExt cx="1257690" cy="1257690"/>
          </a:xfrm>
        </p:grpSpPr>
        <p:sp>
          <p:nvSpPr>
            <p:cNvPr id="7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8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autoUpdateAnimBg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D7D7813-5126-4F6C-BE8E-6FD721996B15}" type="slidenum">
              <a:rPr lang="en-US" altLang="zh-CN" smtClean="0"/>
            </a:fld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8157" y="3260272"/>
            <a:ext cx="7523816" cy="11022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文本框 6"/>
          <p:cNvSpPr txBox="1">
            <a:spLocks noChangeArrowheads="1"/>
          </p:cNvSpPr>
          <p:nvPr/>
        </p:nvSpPr>
        <p:spPr bwMode="auto">
          <a:xfrm>
            <a:off x="1190110" y="456303"/>
            <a:ext cx="7848600" cy="1200150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48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dirty="0"/>
              <a:t>第三方库安装</a:t>
            </a:r>
            <a:endParaRPr lang="en-US" altLang="zh-CN" dirty="0"/>
          </a:p>
        </p:txBody>
      </p:sp>
      <p:sp>
        <p:nvSpPr>
          <p:cNvPr id="8" name="矩形 7"/>
          <p:cNvSpPr/>
          <p:nvPr/>
        </p:nvSpPr>
        <p:spPr bwMode="auto">
          <a:xfrm>
            <a:off x="3880757" y="3260272"/>
            <a:ext cx="2819400" cy="381000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96217" y="517525"/>
            <a:ext cx="680176" cy="711395"/>
            <a:chOff x="3820548" y="-894825"/>
            <a:chExt cx="1257690" cy="1257690"/>
          </a:xfrm>
        </p:grpSpPr>
        <p:sp>
          <p:nvSpPr>
            <p:cNvPr id="13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14" name="图形 2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2135863" y="1540024"/>
            <a:ext cx="9187544" cy="99897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Char char="u"/>
              <a:defRPr lang="zh-CN" altLang="en-US" sz="3600" kern="1200" dirty="0" smtClean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u"/>
              <a:defRPr sz="32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u"/>
              <a:defRPr sz="32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  <a:defRPr/>
            </a:pPr>
            <a:r>
              <a:rPr lang="zh-CN" altLang="en-US" sz="3200" b="1" dirty="0"/>
              <a:t>可以安装的模块可以在</a:t>
            </a:r>
            <a:r>
              <a:rPr lang="en-US" altLang="zh-CN" sz="3200" b="1" dirty="0">
                <a:hlinkClick r:id="rId4"/>
              </a:rPr>
              <a:t>https://pypi.org/</a:t>
            </a:r>
            <a:r>
              <a:rPr lang="zh-CN" altLang="en-US" sz="3200" b="1" dirty="0"/>
              <a:t>中查找</a:t>
            </a:r>
            <a:endParaRPr lang="en-US" altLang="zh-CN" sz="3200" b="1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zh-CN" altLang="en-US" sz="3200" b="1" dirty="0">
                <a:latin typeface="Times New Roman" panose="02020603050405020304" pitchFamily="18" charset="0"/>
              </a:rPr>
              <a:t>运行</a:t>
            </a:r>
            <a:r>
              <a:rPr lang="en-US" altLang="zh-CN" sz="3200" b="1" dirty="0">
                <a:latin typeface="Times New Roman" panose="02020603050405020304" pitchFamily="18" charset="0"/>
              </a:rPr>
              <a:t>-&gt;</a:t>
            </a:r>
            <a:r>
              <a:rPr lang="en-US" altLang="zh-CN" sz="3200" b="1" dirty="0" err="1">
                <a:latin typeface="Times New Roman" panose="02020603050405020304" pitchFamily="18" charset="0"/>
              </a:rPr>
              <a:t>cmd</a:t>
            </a:r>
            <a:r>
              <a:rPr lang="zh-CN" altLang="en-US" sz="3200" b="1" dirty="0">
                <a:latin typeface="Times New Roman" panose="02020603050405020304" pitchFamily="18" charset="0"/>
              </a:rPr>
              <a:t>进入命令提示符</a:t>
            </a:r>
            <a:endParaRPr lang="zh-CN" altLang="en-US" sz="3200" b="1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en-US" altLang="zh-CN" sz="3200" b="1" dirty="0">
                <a:latin typeface="Times New Roman" panose="02020603050405020304" pitchFamily="18" charset="0"/>
              </a:rPr>
              <a:t>pip install </a:t>
            </a:r>
            <a:r>
              <a:rPr lang="zh-CN" altLang="en-US" sz="3200" b="1" dirty="0">
                <a:latin typeface="Times New Roman" panose="02020603050405020304" pitchFamily="18" charset="0"/>
              </a:rPr>
              <a:t>库名，例如：</a:t>
            </a:r>
            <a:r>
              <a:rPr lang="en-US" altLang="zh-CN" sz="3200" dirty="0"/>
              <a:t> </a:t>
            </a:r>
            <a:r>
              <a:rPr lang="en-US" altLang="zh-CN" sz="3200" b="1" dirty="0"/>
              <a:t>pip install </a:t>
            </a:r>
            <a:r>
              <a:rPr lang="en-US" altLang="zh-CN" sz="3200" b="1" dirty="0" err="1"/>
              <a:t>matplotlib</a:t>
            </a:r>
            <a:endParaRPr lang="zh-CN" altLang="en-US" sz="3200" b="1" dirty="0"/>
          </a:p>
        </p:txBody>
      </p:sp>
      <p:sp>
        <p:nvSpPr>
          <p:cNvPr id="16" name="文本框 15"/>
          <p:cNvSpPr txBox="1"/>
          <p:nvPr/>
        </p:nvSpPr>
        <p:spPr>
          <a:xfrm>
            <a:off x="5649686" y="916765"/>
            <a:ext cx="6618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第三方模块必须先安装，才能导入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/>
          <p:nvPr/>
        </p:nvSpPr>
        <p:spPr>
          <a:xfrm>
            <a:off x="893215" y="1722154"/>
            <a:ext cx="10094686" cy="6013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en-US" altLang="zh-CN" sz="3200" dirty="0"/>
              <a:t>import</a:t>
            </a:r>
            <a:r>
              <a:rPr lang="zh-CN" altLang="zh-CN" sz="3200" dirty="0"/>
              <a:t>语句，语法格式：</a:t>
            </a:r>
            <a:r>
              <a:rPr lang="en-US" altLang="zh-CN" sz="3200" dirty="0"/>
              <a:t>import &lt;</a:t>
            </a:r>
            <a:r>
              <a:rPr lang="zh-CN" altLang="zh-CN" sz="3200" dirty="0"/>
              <a:t>模块</a:t>
            </a:r>
            <a:r>
              <a:rPr lang="zh-CN" altLang="en-US" sz="3200" dirty="0"/>
              <a:t>名</a:t>
            </a:r>
            <a:r>
              <a:rPr lang="en-US" altLang="zh-CN" sz="3200" dirty="0"/>
              <a:t>&gt; </a:t>
            </a:r>
            <a:endParaRPr lang="en-US" altLang="zh-CN" sz="3200" dirty="0">
              <a:solidFill>
                <a:srgbClr val="00B050"/>
              </a:solidFill>
              <a:latin typeface="+mn-ea"/>
            </a:endParaRPr>
          </a:p>
          <a:p>
            <a:pPr lvl="2"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en-US" altLang="zh-CN" sz="3200" dirty="0">
              <a:latin typeface="+mn-ea"/>
            </a:endParaRPr>
          </a:p>
          <a:p>
            <a:pPr lvl="2"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en-US" altLang="zh-CN" sz="3200" dirty="0">
              <a:latin typeface="+mn-ea"/>
            </a:endParaRPr>
          </a:p>
          <a:p>
            <a:pPr lvl="2"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en-US" altLang="zh-CN" sz="3200" dirty="0">
              <a:latin typeface="+mn-ea"/>
            </a:endParaRPr>
          </a:p>
          <a:p>
            <a:pPr marL="1625600" lvl="2" indent="-457200"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zh-CN" altLang="en-US" sz="3200" dirty="0">
              <a:latin typeface="+mn-ea"/>
            </a:endParaRPr>
          </a:p>
        </p:txBody>
      </p:sp>
      <p:sp>
        <p:nvSpPr>
          <p:cNvPr id="19" name="TextBox 15"/>
          <p:cNvSpPr txBox="1"/>
          <p:nvPr/>
        </p:nvSpPr>
        <p:spPr>
          <a:xfrm>
            <a:off x="1077685" y="2522625"/>
            <a:ext cx="7788729" cy="2062103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87630" algn="l" defTabSz="987425"/>
            <a:r>
              <a:rPr lang="en-US" altLang="zh-CN" sz="3200" b="0" dirty="0">
                <a:ea typeface="楷体" panose="02010609060101010101" pitchFamily="49" charset="-122"/>
                <a:cs typeface="Arial" panose="020B0604020202020204" pitchFamily="34" charset="0"/>
              </a:rPr>
              <a:t>import math			</a:t>
            </a:r>
            <a:r>
              <a:rPr lang="en-US" altLang="zh-CN" sz="3200" b="0" i="1" dirty="0">
                <a:ea typeface="楷体" panose="02010609060101010101" pitchFamily="49" charset="-122"/>
                <a:cs typeface="Arial" panose="020B0604020202020204" pitchFamily="34" charset="0"/>
              </a:rPr>
              <a:t>#</a:t>
            </a:r>
            <a:r>
              <a:rPr lang="zh-CN" altLang="en-US" sz="3200" b="0" i="1" dirty="0">
                <a:ea typeface="楷体" panose="02010609060101010101" pitchFamily="49" charset="-122"/>
                <a:cs typeface="Arial" panose="020B0604020202020204" pitchFamily="34" charset="0"/>
              </a:rPr>
              <a:t>导入</a:t>
            </a:r>
            <a:r>
              <a:rPr lang="en-US" altLang="zh-CN" sz="3200" b="0" i="1" dirty="0">
                <a:ea typeface="楷体" panose="02010609060101010101" pitchFamily="49" charset="-122"/>
                <a:cs typeface="Arial" panose="020B0604020202020204" pitchFamily="34" charset="0"/>
              </a:rPr>
              <a:t>math</a:t>
            </a:r>
            <a:r>
              <a:rPr lang="zh-CN" altLang="en-US" sz="3200" b="0" i="1" dirty="0">
                <a:ea typeface="楷体" panose="02010609060101010101" pitchFamily="49" charset="-122"/>
                <a:cs typeface="Arial" panose="020B0604020202020204" pitchFamily="34" charset="0"/>
              </a:rPr>
              <a:t>库</a:t>
            </a:r>
            <a:endParaRPr lang="en-US" altLang="zh-CN" sz="3200" b="0" i="1" dirty="0"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87630" algn="l" defTabSz="987425"/>
            <a:r>
              <a:rPr lang="en-US" altLang="zh-CN" sz="3200" b="0" dirty="0">
                <a:ea typeface="楷体" panose="02010609060101010101" pitchFamily="49" charset="-122"/>
                <a:cs typeface="Arial" panose="020B0604020202020204" pitchFamily="34" charset="0"/>
              </a:rPr>
              <a:t>num= 3000</a:t>
            </a:r>
            <a:endParaRPr lang="en-US" altLang="zh-CN" sz="3200" b="0" dirty="0"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87630" algn="l" defTabSz="987425"/>
            <a:r>
              <a:rPr lang="en-US" altLang="zh-CN" sz="3200" b="0" dirty="0">
                <a:ea typeface="楷体" panose="02010609060101010101" pitchFamily="49" charset="-122"/>
                <a:cs typeface="Arial" panose="020B0604020202020204" pitchFamily="34" charset="0"/>
              </a:rPr>
              <a:t>result=</a:t>
            </a:r>
            <a:r>
              <a:rPr lang="en-US" altLang="zh-CN" sz="3200" b="0" dirty="0" err="1">
                <a:ea typeface="楷体" panose="02010609060101010101" pitchFamily="49" charset="-122"/>
                <a:cs typeface="Arial" panose="020B0604020202020204" pitchFamily="34" charset="0"/>
              </a:rPr>
              <a:t>math.sqrt</a:t>
            </a:r>
            <a:r>
              <a:rPr lang="en-US" altLang="zh-CN" sz="3200" b="0" dirty="0">
                <a:ea typeface="楷体" panose="02010609060101010101" pitchFamily="49" charset="-122"/>
                <a:cs typeface="Arial" panose="020B0604020202020204" pitchFamily="34" charset="0"/>
              </a:rPr>
              <a:t>(num)	</a:t>
            </a:r>
            <a:r>
              <a:rPr lang="en-US" altLang="zh-CN" sz="3200" b="0" i="1" dirty="0">
                <a:ea typeface="楷体" panose="02010609060101010101" pitchFamily="49" charset="-122"/>
                <a:cs typeface="Arial" panose="020B0604020202020204" pitchFamily="34" charset="0"/>
              </a:rPr>
              <a:t>#</a:t>
            </a:r>
            <a:r>
              <a:rPr lang="zh-CN" altLang="en-US" sz="3200" b="0" i="1" dirty="0">
                <a:ea typeface="楷体" panose="02010609060101010101" pitchFamily="49" charset="-122"/>
                <a:cs typeface="Arial" panose="020B0604020202020204" pitchFamily="34" charset="0"/>
              </a:rPr>
              <a:t>计算平方根</a:t>
            </a:r>
            <a:endParaRPr lang="en-US" altLang="zh-CN" sz="3200" b="0" i="1" dirty="0"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87630" algn="l" defTabSz="987425"/>
            <a:r>
              <a:rPr lang="en-US" altLang="zh-CN" sz="3200" b="0" dirty="0">
                <a:ea typeface="楷体" panose="02010609060101010101" pitchFamily="49" charset="-122"/>
                <a:cs typeface="Arial" panose="020B0604020202020204" pitchFamily="34" charset="0"/>
              </a:rPr>
              <a:t>print('</a:t>
            </a:r>
            <a:r>
              <a:rPr lang="zh-CN" altLang="en-US" sz="3200" b="0" dirty="0">
                <a:ea typeface="楷体" panose="02010609060101010101" pitchFamily="49" charset="-122"/>
                <a:cs typeface="Arial" panose="020B0604020202020204" pitchFamily="34" charset="0"/>
              </a:rPr>
              <a:t>结果是：</a:t>
            </a:r>
            <a:r>
              <a:rPr lang="en-US" altLang="zh-CN" sz="3200" b="0" dirty="0">
                <a:ea typeface="楷体" panose="02010609060101010101" pitchFamily="49" charset="-122"/>
                <a:cs typeface="Arial" panose="020B0604020202020204" pitchFamily="34" charset="0"/>
              </a:rPr>
              <a:t>',result)</a:t>
            </a:r>
            <a:r>
              <a:rPr lang="en-US" altLang="zh-CN" sz="3200" dirty="0"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r>
              <a:rPr lang="en-US" altLang="zh-CN" sz="3200" b="0" i="1" dirty="0">
                <a:ea typeface="楷体" panose="02010609060101010101" pitchFamily="49" charset="-122"/>
                <a:cs typeface="Arial" panose="020B0604020202020204" pitchFamily="34" charset="0"/>
              </a:rPr>
              <a:t>#</a:t>
            </a:r>
            <a:r>
              <a:rPr lang="zh-CN" altLang="en-US" sz="3200" b="0" i="1" dirty="0">
                <a:ea typeface="楷体" panose="02010609060101010101" pitchFamily="49" charset="-122"/>
                <a:cs typeface="Arial" panose="020B0604020202020204" pitchFamily="34" charset="0"/>
              </a:rPr>
              <a:t>打印</a:t>
            </a:r>
            <a:endParaRPr lang="zh-CN" altLang="en-US" sz="3200" b="0" i="1" dirty="0"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084830" y="2516045"/>
            <a:ext cx="2742238" cy="5772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2461784" y="3509059"/>
            <a:ext cx="2904873" cy="5772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893215" y="537546"/>
            <a:ext cx="8501122" cy="86147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800" b="1" dirty="0">
                <a:latin typeface="+mn-ea"/>
                <a:ea typeface="+mn-ea"/>
              </a:rPr>
              <a:t>库</a:t>
            </a:r>
            <a:r>
              <a:rPr lang="en-US" altLang="zh-CN" sz="4800" b="1" dirty="0">
                <a:latin typeface="+mn-ea"/>
                <a:ea typeface="+mn-ea"/>
              </a:rPr>
              <a:t>/</a:t>
            </a:r>
            <a:r>
              <a:rPr lang="zh-CN" altLang="zh-CN" sz="4800" b="1" dirty="0">
                <a:latin typeface="+mn-ea"/>
                <a:ea typeface="+mn-ea"/>
              </a:rPr>
              <a:t>模块</a:t>
            </a:r>
            <a:r>
              <a:rPr lang="zh-CN" altLang="en-US" sz="4800" b="1" dirty="0">
                <a:latin typeface="+mn-ea"/>
                <a:ea typeface="+mn-ea"/>
              </a:rPr>
              <a:t>的导入</a:t>
            </a:r>
            <a:endParaRPr lang="zh-CN" altLang="en-US" sz="4800" b="1" dirty="0">
              <a:latin typeface="+mn-ea"/>
              <a:ea typeface="+mn-ea"/>
            </a:endParaRPr>
          </a:p>
        </p:txBody>
      </p:sp>
      <p:sp>
        <p:nvSpPr>
          <p:cNvPr id="8" name="内容占位符 2"/>
          <p:cNvSpPr txBox="1"/>
          <p:nvPr/>
        </p:nvSpPr>
        <p:spPr>
          <a:xfrm>
            <a:off x="817015" y="4943755"/>
            <a:ext cx="10094686" cy="118392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en-US" altLang="zh-CN" sz="3200" dirty="0"/>
              <a:t> </a:t>
            </a:r>
            <a:r>
              <a:rPr lang="zh-CN" altLang="zh-CN" sz="3200" dirty="0"/>
              <a:t>也可以在一行内导入多个模块：</a:t>
            </a:r>
            <a:endParaRPr lang="en-US" altLang="zh-CN" sz="3200" dirty="0"/>
          </a:p>
          <a:p>
            <a:pPr marL="0" indent="0">
              <a:buClr>
                <a:schemeClr val="accent1"/>
              </a:buClr>
              <a:buNone/>
            </a:pPr>
            <a:r>
              <a:rPr lang="en-US" altLang="zh-CN" sz="3200" dirty="0"/>
              <a:t>    import &lt;</a:t>
            </a:r>
            <a:r>
              <a:rPr lang="zh-CN" altLang="zh-CN" sz="3200" dirty="0"/>
              <a:t>模块</a:t>
            </a:r>
            <a:r>
              <a:rPr lang="en-US" altLang="zh-CN" sz="3200" dirty="0"/>
              <a:t>1&gt; [,&lt;</a:t>
            </a:r>
            <a:r>
              <a:rPr lang="zh-CN" altLang="zh-CN" sz="3200" dirty="0"/>
              <a:t>模块</a:t>
            </a:r>
            <a:r>
              <a:rPr lang="en-US" altLang="zh-CN" sz="3200" dirty="0"/>
              <a:t>2&gt; [, …&lt;</a:t>
            </a:r>
            <a:r>
              <a:rPr lang="zh-CN" altLang="zh-CN" sz="3200" dirty="0"/>
              <a:t>模块</a:t>
            </a:r>
            <a:r>
              <a:rPr lang="en-US" altLang="zh-CN" sz="3200" i="1" dirty="0"/>
              <a:t>n</a:t>
            </a:r>
            <a:r>
              <a:rPr lang="en-US" altLang="zh-CN" sz="3200" dirty="0"/>
              <a:t>&gt;]] </a:t>
            </a:r>
            <a:endParaRPr lang="zh-CN" altLang="zh-CN" sz="3200" dirty="0"/>
          </a:p>
          <a:p>
            <a:pPr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zh-CN" altLang="zh-CN" sz="3200" dirty="0"/>
          </a:p>
          <a:p>
            <a:pPr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en-US" altLang="zh-CN" sz="3200" dirty="0">
              <a:solidFill>
                <a:srgbClr val="00B050"/>
              </a:solidFill>
              <a:latin typeface="+mn-ea"/>
            </a:endParaRPr>
          </a:p>
          <a:p>
            <a:pPr lvl="2"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en-US" altLang="zh-CN" sz="3200" dirty="0">
              <a:latin typeface="+mn-ea"/>
            </a:endParaRPr>
          </a:p>
          <a:p>
            <a:pPr lvl="2"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en-US" altLang="zh-CN" sz="3200" dirty="0">
              <a:latin typeface="+mn-ea"/>
            </a:endParaRPr>
          </a:p>
          <a:p>
            <a:pPr lvl="2"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en-US" altLang="zh-CN" sz="3200" dirty="0">
              <a:latin typeface="+mn-ea"/>
            </a:endParaRPr>
          </a:p>
          <a:p>
            <a:pPr marL="1625600" lvl="2" indent="-457200"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zh-CN" altLang="en-US" sz="3200" dirty="0">
              <a:latin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96217" y="518765"/>
            <a:ext cx="680176" cy="711395"/>
            <a:chOff x="3820548" y="-894825"/>
            <a:chExt cx="1257690" cy="1257690"/>
          </a:xfrm>
        </p:grpSpPr>
        <p:sp>
          <p:nvSpPr>
            <p:cNvPr id="10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11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sp>
        <p:nvSpPr>
          <p:cNvPr id="12" name="文本框 11"/>
          <p:cNvSpPr txBox="1"/>
          <p:nvPr/>
        </p:nvSpPr>
        <p:spPr>
          <a:xfrm>
            <a:off x="1280299" y="6037098"/>
            <a:ext cx="5773516" cy="650178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import time, math, calendar</a:t>
            </a:r>
            <a:endParaRPr lang="en-US" altLang="zh-CN" dirty="0"/>
          </a:p>
        </p:txBody>
      </p:sp>
      <p:sp>
        <p:nvSpPr>
          <p:cNvPr id="13" name="TextBox 1"/>
          <p:cNvSpPr txBox="1"/>
          <p:nvPr/>
        </p:nvSpPr>
        <p:spPr>
          <a:xfrm>
            <a:off x="8179804" y="322703"/>
            <a:ext cx="40121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导入方式不一样，模块中的库函数引用的方式就不一样</a:t>
            </a:r>
            <a:r>
              <a:rPr lang="en-US" altLang="zh-CN" sz="2400" b="1" dirty="0"/>
              <a:t>.</a:t>
            </a:r>
            <a:endParaRPr lang="zh-CN" altLang="en-US" sz="2400" b="1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12" grpId="0" animBg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/>
          <p:nvPr/>
        </p:nvSpPr>
        <p:spPr>
          <a:xfrm>
            <a:off x="1041556" y="1753935"/>
            <a:ext cx="10094686" cy="6013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zh-CN" altLang="en-US" sz="3200" dirty="0">
                <a:solidFill>
                  <a:prstClr val="black"/>
                </a:solidFill>
              </a:rPr>
              <a:t>用</a:t>
            </a:r>
            <a:r>
              <a:rPr lang="en-US" altLang="zh-CN" sz="3200" dirty="0">
                <a:solidFill>
                  <a:prstClr val="black"/>
                </a:solidFill>
              </a:rPr>
              <a:t>as</a:t>
            </a:r>
            <a:r>
              <a:rPr lang="zh-CN" altLang="en-US" sz="3200" dirty="0">
                <a:solidFill>
                  <a:prstClr val="black"/>
                </a:solidFill>
              </a:rPr>
              <a:t>来给它取别名</a:t>
            </a:r>
            <a:endParaRPr lang="en-US" altLang="zh-CN" sz="3200" dirty="0">
              <a:solidFill>
                <a:srgbClr val="00B050"/>
              </a:solidFill>
              <a:latin typeface="+mn-ea"/>
            </a:endParaRPr>
          </a:p>
          <a:p>
            <a:pPr lvl="2">
              <a:spcBef>
                <a:spcPts val="1800"/>
              </a:spcBef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en-US" altLang="zh-CN" sz="3200" dirty="0">
              <a:solidFill>
                <a:srgbClr val="00B050"/>
              </a:solidFill>
              <a:latin typeface="+mn-ea"/>
            </a:endParaRPr>
          </a:p>
          <a:p>
            <a:pPr lvl="2"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en-US" altLang="zh-CN" sz="3200" dirty="0">
              <a:latin typeface="+mn-ea"/>
            </a:endParaRPr>
          </a:p>
          <a:p>
            <a:pPr lvl="2"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en-US" altLang="zh-CN" sz="3200" dirty="0">
              <a:latin typeface="+mn-ea"/>
            </a:endParaRPr>
          </a:p>
          <a:p>
            <a:pPr lvl="2"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en-US" altLang="zh-CN" sz="3200" dirty="0">
              <a:latin typeface="+mn-ea"/>
            </a:endParaRPr>
          </a:p>
          <a:p>
            <a:pPr marL="1625600" lvl="2" indent="-457200"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zh-CN" altLang="en-US" sz="3200" dirty="0">
              <a:latin typeface="+mn-ea"/>
            </a:endParaRPr>
          </a:p>
        </p:txBody>
      </p:sp>
      <p:sp>
        <p:nvSpPr>
          <p:cNvPr id="18" name="内容占位符 2"/>
          <p:cNvSpPr txBox="1"/>
          <p:nvPr/>
        </p:nvSpPr>
        <p:spPr>
          <a:xfrm>
            <a:off x="1048675" y="1676852"/>
            <a:ext cx="8229600" cy="48245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3200" dirty="0">
              <a:solidFill>
                <a:prstClr val="black"/>
              </a:solidFill>
            </a:endParaRPr>
          </a:p>
        </p:txBody>
      </p:sp>
      <p:sp>
        <p:nvSpPr>
          <p:cNvPr id="7" name="灯片编号占位符 3"/>
          <p:cNvSpPr txBox="1"/>
          <p:nvPr/>
        </p:nvSpPr>
        <p:spPr>
          <a:xfrm>
            <a:off x="7128337" y="6371309"/>
            <a:ext cx="2574274" cy="45720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34D6783-29A3-4CD1-84FC-EB8126B5BE80}" type="slidenum">
              <a:rPr lang="en-US" altLang="zh-CN" smtClean="0"/>
            </a:fld>
            <a:endParaRPr lang="en-US" altLang="zh-CN" dirty="0"/>
          </a:p>
        </p:txBody>
      </p:sp>
      <p:sp>
        <p:nvSpPr>
          <p:cNvPr id="8" name="TextBox 9"/>
          <p:cNvSpPr txBox="1"/>
          <p:nvPr/>
        </p:nvSpPr>
        <p:spPr>
          <a:xfrm>
            <a:off x="1152064" y="2762363"/>
            <a:ext cx="9991261" cy="1477328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87630" algn="l" defTabSz="987425"/>
            <a:r>
              <a:rPr lang="en-US" altLang="zh-CN" sz="3000" b="0" dirty="0">
                <a:ea typeface="楷体" panose="02010609060101010101" pitchFamily="49" charset="-122"/>
                <a:cs typeface="Arial" panose="020B0604020202020204" pitchFamily="34" charset="0"/>
              </a:rPr>
              <a:t>import math as mt			</a:t>
            </a:r>
            <a:r>
              <a:rPr lang="en-US" altLang="zh-CN" sz="3000" b="0" i="1" dirty="0">
                <a:ea typeface="楷体" panose="02010609060101010101" pitchFamily="49" charset="-122"/>
                <a:cs typeface="Arial" panose="020B0604020202020204" pitchFamily="34" charset="0"/>
              </a:rPr>
              <a:t>#</a:t>
            </a:r>
            <a:r>
              <a:rPr lang="zh-CN" altLang="en-US" sz="3000" b="0" i="1" dirty="0">
                <a:ea typeface="楷体" panose="02010609060101010101" pitchFamily="49" charset="-122"/>
                <a:cs typeface="Arial" panose="020B0604020202020204" pitchFamily="34" charset="0"/>
              </a:rPr>
              <a:t>导入</a:t>
            </a:r>
            <a:r>
              <a:rPr lang="en-US" altLang="zh-CN" sz="3000" b="0" i="1" dirty="0">
                <a:ea typeface="楷体" panose="02010609060101010101" pitchFamily="49" charset="-122"/>
                <a:cs typeface="Arial" panose="020B0604020202020204" pitchFamily="34" charset="0"/>
              </a:rPr>
              <a:t>math</a:t>
            </a:r>
            <a:r>
              <a:rPr lang="zh-CN" altLang="en-US" sz="3000" b="0" i="1" dirty="0">
                <a:ea typeface="楷体" panose="02010609060101010101" pitchFamily="49" charset="-122"/>
                <a:cs typeface="Arial" panose="020B0604020202020204" pitchFamily="34" charset="0"/>
              </a:rPr>
              <a:t>库</a:t>
            </a:r>
            <a:endParaRPr lang="en-US" altLang="zh-CN" sz="3000" b="0" i="1" dirty="0"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87630" algn="l" defTabSz="987425"/>
            <a:r>
              <a:rPr lang="en-US" altLang="zh-CN" sz="3000" b="0" dirty="0">
                <a:ea typeface="楷体" panose="02010609060101010101" pitchFamily="49" charset="-122"/>
                <a:cs typeface="Arial" panose="020B0604020202020204" pitchFamily="34" charset="0"/>
              </a:rPr>
              <a:t>import </a:t>
            </a:r>
            <a:r>
              <a:rPr lang="en-US" altLang="zh-CN" sz="3000" b="0" dirty="0" err="1">
                <a:ea typeface="楷体" panose="02010609060101010101" pitchFamily="49" charset="-122"/>
                <a:cs typeface="Arial" panose="020B0604020202020204" pitchFamily="34" charset="0"/>
              </a:rPr>
              <a:t>matplotlib.pyplot</a:t>
            </a:r>
            <a:r>
              <a:rPr lang="en-US" altLang="zh-CN" sz="3000" b="0" dirty="0">
                <a:ea typeface="楷体" panose="02010609060101010101" pitchFamily="49" charset="-122"/>
                <a:cs typeface="Arial" panose="020B0604020202020204" pitchFamily="34" charset="0"/>
              </a:rPr>
              <a:t> as </a:t>
            </a:r>
            <a:r>
              <a:rPr lang="en-US" altLang="zh-CN" sz="3000" b="0" dirty="0" err="1">
                <a:ea typeface="楷体" panose="02010609060101010101" pitchFamily="49" charset="-122"/>
                <a:cs typeface="Arial" panose="020B0604020202020204" pitchFamily="34" charset="0"/>
              </a:rPr>
              <a:t>plt</a:t>
            </a:r>
            <a:r>
              <a:rPr lang="en-US" altLang="zh-CN" sz="3000" b="0" dirty="0">
                <a:ea typeface="楷体" panose="02010609060101010101" pitchFamily="49" charset="-122"/>
                <a:cs typeface="Arial" panose="020B0604020202020204" pitchFamily="34" charset="0"/>
              </a:rPr>
              <a:t>       </a:t>
            </a:r>
            <a:r>
              <a:rPr lang="en-US" altLang="zh-CN" sz="3000" b="0" i="1" dirty="0">
                <a:ea typeface="楷体" panose="02010609060101010101" pitchFamily="49" charset="-122"/>
                <a:cs typeface="Arial" panose="020B0604020202020204" pitchFamily="34" charset="0"/>
              </a:rPr>
              <a:t>#</a:t>
            </a:r>
            <a:r>
              <a:rPr lang="zh-CN" altLang="en-US" sz="3000" i="1" dirty="0">
                <a:ea typeface="楷体" panose="02010609060101010101" pitchFamily="49" charset="-122"/>
                <a:cs typeface="Arial" panose="020B0604020202020204" pitchFamily="34" charset="0"/>
              </a:rPr>
              <a:t>取别名</a:t>
            </a:r>
            <a:endParaRPr lang="en-US" altLang="zh-CN" sz="3000" i="1" dirty="0"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87630" algn="l" defTabSz="987425"/>
            <a:r>
              <a:rPr lang="en-US" altLang="zh-CN" sz="3000" b="0" dirty="0" err="1">
                <a:ea typeface="楷体" panose="02010609060101010101" pitchFamily="49" charset="-122"/>
                <a:cs typeface="Arial" panose="020B0604020202020204" pitchFamily="34" charset="0"/>
              </a:rPr>
              <a:t>tmax</a:t>
            </a:r>
            <a:r>
              <a:rPr lang="en-US" altLang="zh-CN" sz="3000" b="0" dirty="0">
                <a:ea typeface="楷体" panose="02010609060101010101" pitchFamily="49" charset="-122"/>
                <a:cs typeface="Arial" panose="020B0604020202020204" pitchFamily="34" charset="0"/>
              </a:rPr>
              <a:t>=</a:t>
            </a:r>
            <a:r>
              <a:rPr lang="en-US" altLang="zh-CN" sz="3000" b="0" dirty="0" err="1">
                <a:ea typeface="楷体" panose="02010609060101010101" pitchFamily="49" charset="-122"/>
                <a:cs typeface="Arial" panose="020B0604020202020204" pitchFamily="34" charset="0"/>
              </a:rPr>
              <a:t>mt.sqrt</a:t>
            </a:r>
            <a:r>
              <a:rPr lang="en-US" altLang="zh-CN" sz="3000" b="0" dirty="0">
                <a:ea typeface="楷体" panose="02010609060101010101" pitchFamily="49" charset="-122"/>
                <a:cs typeface="Arial" panose="020B0604020202020204" pitchFamily="34" charset="0"/>
              </a:rPr>
              <a:t>(200)		</a:t>
            </a:r>
            <a:endParaRPr lang="en-US" altLang="zh-CN" sz="3000" b="0" i="1" dirty="0"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290085" y="2774354"/>
            <a:ext cx="5315701" cy="10041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296217" y="518765"/>
            <a:ext cx="680176" cy="711395"/>
            <a:chOff x="3820548" y="-894825"/>
            <a:chExt cx="1257690" cy="1257690"/>
          </a:xfrm>
        </p:grpSpPr>
        <p:sp>
          <p:nvSpPr>
            <p:cNvPr id="13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14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/>
          <p:nvPr/>
        </p:nvSpPr>
        <p:spPr>
          <a:xfrm>
            <a:off x="1041556" y="578275"/>
            <a:ext cx="10094686" cy="6013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zh-CN" altLang="en-US" sz="3200" dirty="0">
                <a:solidFill>
                  <a:prstClr val="black"/>
                </a:solidFill>
              </a:rPr>
              <a:t>使用库</a:t>
            </a:r>
            <a:r>
              <a:rPr lang="en-US" altLang="zh-CN" sz="3200" dirty="0">
                <a:solidFill>
                  <a:prstClr val="black"/>
                </a:solidFill>
              </a:rPr>
              <a:t>/</a:t>
            </a:r>
            <a:r>
              <a:rPr lang="zh-CN" altLang="en-US" sz="3200" dirty="0">
                <a:solidFill>
                  <a:prstClr val="black"/>
                </a:solidFill>
              </a:rPr>
              <a:t>模块中的某些函数、某些变量、某些类</a:t>
            </a:r>
            <a:endParaRPr lang="en-US" altLang="zh-CN" sz="3200" dirty="0">
              <a:solidFill>
                <a:srgbClr val="00B050"/>
              </a:solidFill>
              <a:latin typeface="+mn-ea"/>
            </a:endParaRPr>
          </a:p>
          <a:p>
            <a:pPr lvl="2">
              <a:spcBef>
                <a:spcPts val="1800"/>
              </a:spcBef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en-US" altLang="zh-CN" sz="3200" dirty="0">
              <a:solidFill>
                <a:srgbClr val="00B050"/>
              </a:solidFill>
              <a:latin typeface="+mn-ea"/>
            </a:endParaRPr>
          </a:p>
          <a:p>
            <a:pPr lvl="2"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en-US" altLang="zh-CN" sz="3200" dirty="0">
              <a:latin typeface="+mn-ea"/>
            </a:endParaRPr>
          </a:p>
          <a:p>
            <a:pPr lvl="2"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en-US" altLang="zh-CN" sz="3200" dirty="0">
              <a:latin typeface="+mn-ea"/>
            </a:endParaRPr>
          </a:p>
          <a:p>
            <a:pPr lvl="2"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en-US" altLang="zh-CN" sz="3200" dirty="0">
              <a:latin typeface="+mn-ea"/>
            </a:endParaRPr>
          </a:p>
          <a:p>
            <a:pPr marL="1625600" lvl="2" indent="-457200"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zh-CN" altLang="en-US" sz="3200" dirty="0">
              <a:latin typeface="+mn-ea"/>
            </a:endParaRPr>
          </a:p>
        </p:txBody>
      </p:sp>
      <p:sp>
        <p:nvSpPr>
          <p:cNvPr id="12" name="内容占位符 2"/>
          <p:cNvSpPr txBox="1"/>
          <p:nvPr/>
        </p:nvSpPr>
        <p:spPr>
          <a:xfrm>
            <a:off x="1241558" y="1456606"/>
            <a:ext cx="10094686" cy="6013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accent1"/>
              </a:buClr>
              <a:buNone/>
            </a:pPr>
            <a:r>
              <a:rPr lang="zh-CN" altLang="zh-CN" sz="3200" dirty="0"/>
              <a:t>语法格式： </a:t>
            </a:r>
            <a:r>
              <a:rPr lang="en-US" altLang="zh-CN" sz="3200" dirty="0"/>
              <a:t>from </a:t>
            </a:r>
            <a:r>
              <a:rPr lang="zh-CN" altLang="en-US" sz="3200" dirty="0"/>
              <a:t>模块名 </a:t>
            </a:r>
            <a:r>
              <a:rPr lang="en-US" altLang="zh-CN" sz="3200" dirty="0"/>
              <a:t>import  </a:t>
            </a:r>
            <a:r>
              <a:rPr lang="zh-CN" altLang="en-US" sz="3200" dirty="0"/>
              <a:t>函数名</a:t>
            </a:r>
            <a:endParaRPr lang="en-US" altLang="zh-CN" sz="3200" dirty="0">
              <a:solidFill>
                <a:srgbClr val="00B050"/>
              </a:solidFill>
              <a:latin typeface="+mn-ea"/>
            </a:endParaRPr>
          </a:p>
          <a:p>
            <a:pPr marL="914400" lvl="2" indent="0">
              <a:buClr>
                <a:schemeClr val="accent1"/>
              </a:buClr>
              <a:buNone/>
            </a:pPr>
            <a:endParaRPr lang="en-US" altLang="zh-CN" sz="3200" dirty="0">
              <a:latin typeface="+mn-ea"/>
            </a:endParaRPr>
          </a:p>
          <a:p>
            <a:pPr lvl="2"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en-US" altLang="zh-CN" sz="3200" dirty="0">
              <a:latin typeface="+mn-ea"/>
            </a:endParaRPr>
          </a:p>
          <a:p>
            <a:pPr lvl="2"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en-US" altLang="zh-CN" sz="3200" dirty="0">
              <a:latin typeface="+mn-ea"/>
            </a:endParaRPr>
          </a:p>
        </p:txBody>
      </p:sp>
      <p:sp>
        <p:nvSpPr>
          <p:cNvPr id="13" name="TextBox 15"/>
          <p:cNvSpPr txBox="1"/>
          <p:nvPr/>
        </p:nvSpPr>
        <p:spPr>
          <a:xfrm>
            <a:off x="1048675" y="2278201"/>
            <a:ext cx="10624613" cy="1077218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87630" algn="l" defTabSz="987425"/>
            <a:r>
              <a:rPr lang="en-US" altLang="zh-CN" sz="3200" b="0" dirty="0">
                <a:ea typeface="楷体" panose="02010609060101010101" pitchFamily="49" charset="-122"/>
                <a:cs typeface="Arial" panose="020B0604020202020204" pitchFamily="34" charset="0"/>
              </a:rPr>
              <a:t>from math import sqrt	</a:t>
            </a:r>
            <a:r>
              <a:rPr lang="en-US" altLang="zh-CN" sz="3200" b="0" i="1" dirty="0">
                <a:ea typeface="楷体" panose="02010609060101010101" pitchFamily="49" charset="-122"/>
                <a:cs typeface="Arial" panose="020B0604020202020204" pitchFamily="34" charset="0"/>
              </a:rPr>
              <a:t>#</a:t>
            </a:r>
            <a:r>
              <a:rPr lang="zh-CN" altLang="en-US" sz="3200" b="0" i="1" dirty="0">
                <a:ea typeface="楷体" panose="02010609060101010101" pitchFamily="49" charset="-122"/>
                <a:cs typeface="Arial" panose="020B0604020202020204" pitchFamily="34" charset="0"/>
              </a:rPr>
              <a:t>导入</a:t>
            </a:r>
            <a:r>
              <a:rPr lang="en-US" altLang="zh-CN" sz="3200" b="0" i="1" dirty="0">
                <a:ea typeface="楷体" panose="02010609060101010101" pitchFamily="49" charset="-122"/>
                <a:cs typeface="Arial" panose="020B0604020202020204" pitchFamily="34" charset="0"/>
              </a:rPr>
              <a:t>math</a:t>
            </a:r>
            <a:r>
              <a:rPr lang="zh-CN" altLang="en-US" sz="3200" b="0" i="1" dirty="0">
                <a:ea typeface="楷体" panose="02010609060101010101" pitchFamily="49" charset="-122"/>
                <a:cs typeface="Arial" panose="020B0604020202020204" pitchFamily="34" charset="0"/>
              </a:rPr>
              <a:t>模块中的</a:t>
            </a:r>
            <a:r>
              <a:rPr lang="en-US" altLang="zh-CN" sz="3200" b="0" i="1" dirty="0">
                <a:ea typeface="楷体" panose="02010609060101010101" pitchFamily="49" charset="-122"/>
                <a:cs typeface="Arial" panose="020B0604020202020204" pitchFamily="34" charset="0"/>
              </a:rPr>
              <a:t>sqrt</a:t>
            </a:r>
            <a:r>
              <a:rPr lang="en-US" altLang="zh-CN" sz="3200" i="1" dirty="0">
                <a:ea typeface="楷体" panose="02010609060101010101" pitchFamily="49" charset="-122"/>
                <a:cs typeface="Arial" panose="020B0604020202020204" pitchFamily="34" charset="0"/>
              </a:rPr>
              <a:t>()</a:t>
            </a:r>
            <a:r>
              <a:rPr lang="zh-CN" altLang="en-US" sz="3200" b="0" i="1" dirty="0">
                <a:ea typeface="楷体" panose="02010609060101010101" pitchFamily="49" charset="-122"/>
                <a:cs typeface="Arial" panose="020B0604020202020204" pitchFamily="34" charset="0"/>
              </a:rPr>
              <a:t>函数</a:t>
            </a:r>
            <a:endParaRPr lang="en-US" altLang="zh-CN" sz="3200" b="0" i="1" dirty="0"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87630" algn="l" defTabSz="987425"/>
            <a:r>
              <a:rPr lang="en-US" altLang="zh-CN" sz="3200" b="0" dirty="0">
                <a:ea typeface="楷体" panose="02010609060101010101" pitchFamily="49" charset="-122"/>
                <a:cs typeface="Arial" panose="020B0604020202020204" pitchFamily="34" charset="0"/>
              </a:rPr>
              <a:t>t= sqrt(9) </a:t>
            </a:r>
            <a:r>
              <a:rPr lang="en-US" altLang="zh-CN" sz="3200" dirty="0">
                <a:ea typeface="楷体" panose="02010609060101010101" pitchFamily="49" charset="-122"/>
                <a:cs typeface="Arial" panose="020B0604020202020204" pitchFamily="34" charset="0"/>
              </a:rPr>
              <a:t>				</a:t>
            </a:r>
            <a:r>
              <a:rPr lang="en-US" altLang="zh-CN" sz="3200" b="0" i="1" dirty="0">
                <a:ea typeface="楷体" panose="02010609060101010101" pitchFamily="49" charset="-122"/>
                <a:cs typeface="Arial" panose="020B0604020202020204" pitchFamily="34" charset="0"/>
              </a:rPr>
              <a:t>#</a:t>
            </a:r>
            <a:r>
              <a:rPr lang="zh-CN" altLang="en-US" sz="3200" b="0" i="1" dirty="0">
                <a:ea typeface="楷体" panose="02010609060101010101" pitchFamily="49" charset="-122"/>
                <a:cs typeface="Arial" panose="020B0604020202020204" pitchFamily="34" charset="0"/>
              </a:rPr>
              <a:t>调用</a:t>
            </a:r>
            <a:r>
              <a:rPr lang="en-US" altLang="zh-CN" sz="3200" b="0" i="1" dirty="0">
                <a:ea typeface="楷体" panose="02010609060101010101" pitchFamily="49" charset="-122"/>
                <a:cs typeface="Arial" panose="020B0604020202020204" pitchFamily="34" charset="0"/>
              </a:rPr>
              <a:t>sqrt</a:t>
            </a:r>
            <a:r>
              <a:rPr lang="en-US" altLang="zh-CN" sz="3200" i="1" dirty="0">
                <a:ea typeface="楷体" panose="02010609060101010101" pitchFamily="49" charset="-122"/>
                <a:cs typeface="Arial" panose="020B0604020202020204" pitchFamily="34" charset="0"/>
              </a:rPr>
              <a:t>()</a:t>
            </a:r>
            <a:r>
              <a:rPr lang="zh-CN" altLang="en-US" sz="3200" b="0" i="1" dirty="0">
                <a:ea typeface="楷体" panose="02010609060101010101" pitchFamily="49" charset="-122"/>
                <a:cs typeface="Arial" panose="020B0604020202020204" pitchFamily="34" charset="0"/>
              </a:rPr>
              <a:t>函数</a:t>
            </a:r>
            <a:endParaRPr lang="zh-CN" altLang="en-US" sz="3200" b="0" i="1" dirty="0"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内容占位符 2"/>
          <p:cNvSpPr txBox="1"/>
          <p:nvPr/>
        </p:nvSpPr>
        <p:spPr>
          <a:xfrm>
            <a:off x="1241558" y="3893949"/>
            <a:ext cx="10094686" cy="6013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accent1"/>
              </a:buClr>
              <a:buNone/>
            </a:pPr>
            <a:r>
              <a:rPr lang="zh-CN" altLang="zh-CN" sz="3200" dirty="0"/>
              <a:t>语法格式： </a:t>
            </a:r>
            <a:r>
              <a:rPr lang="en-US" altLang="zh-CN" sz="3200" dirty="0"/>
              <a:t>from </a:t>
            </a:r>
            <a:r>
              <a:rPr lang="zh-CN" altLang="en-US" sz="3200" dirty="0"/>
              <a:t>模块名 </a:t>
            </a:r>
            <a:r>
              <a:rPr lang="en-US" altLang="zh-CN" sz="3200" dirty="0"/>
              <a:t>import  </a:t>
            </a:r>
            <a:r>
              <a:rPr lang="zh-CN" altLang="en-US" sz="3200" dirty="0"/>
              <a:t>*</a:t>
            </a:r>
            <a:endParaRPr lang="en-US" altLang="zh-CN" sz="3200" dirty="0">
              <a:latin typeface="+mn-ea"/>
            </a:endParaRPr>
          </a:p>
          <a:p>
            <a:pPr marL="914400" lvl="2" indent="0">
              <a:buClr>
                <a:schemeClr val="accent1"/>
              </a:buClr>
              <a:buNone/>
            </a:pPr>
            <a:endParaRPr lang="en-US" altLang="zh-CN" sz="3200" dirty="0">
              <a:latin typeface="+mn-ea"/>
            </a:endParaRPr>
          </a:p>
          <a:p>
            <a:pPr marL="914400" lvl="2" indent="0">
              <a:buClr>
                <a:schemeClr val="accent1"/>
              </a:buClr>
              <a:buNone/>
            </a:pPr>
            <a:endParaRPr lang="en-US" altLang="zh-CN" sz="3200" dirty="0">
              <a:latin typeface="+mn-ea"/>
            </a:endParaRPr>
          </a:p>
          <a:p>
            <a:pPr marL="1625600" lvl="2" indent="-457200"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zh-CN" altLang="en-US" sz="3200" dirty="0"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41556" y="4530482"/>
            <a:ext cx="10900989" cy="1077218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87630" algn="l" defTabSz="987425"/>
            <a:r>
              <a:rPr lang="en-US" altLang="zh-CN" sz="3200" b="0" dirty="0">
                <a:ea typeface="楷体" panose="02010609060101010101" pitchFamily="49" charset="-122"/>
                <a:cs typeface="Arial" panose="020B0604020202020204" pitchFamily="34" charset="0"/>
              </a:rPr>
              <a:t>from math import </a:t>
            </a:r>
            <a:r>
              <a:rPr lang="zh-CN" altLang="en-US" sz="3200" b="0" dirty="0">
                <a:ea typeface="楷体" panose="02010609060101010101" pitchFamily="49" charset="-122"/>
                <a:cs typeface="Arial" panose="020B0604020202020204" pitchFamily="34" charset="0"/>
              </a:rPr>
              <a:t>*</a:t>
            </a:r>
            <a:r>
              <a:rPr lang="en-US" altLang="zh-CN" sz="3200" b="0" dirty="0">
                <a:ea typeface="楷体" panose="02010609060101010101" pitchFamily="49" charset="-122"/>
                <a:cs typeface="Arial" panose="020B0604020202020204" pitchFamily="34" charset="0"/>
              </a:rPr>
              <a:t>		</a:t>
            </a:r>
            <a:r>
              <a:rPr lang="en-US" altLang="zh-CN" sz="3200" b="0" i="1" dirty="0">
                <a:ea typeface="楷体" panose="02010609060101010101" pitchFamily="49" charset="-122"/>
                <a:cs typeface="Arial" panose="020B0604020202020204" pitchFamily="34" charset="0"/>
              </a:rPr>
              <a:t>#</a:t>
            </a:r>
            <a:r>
              <a:rPr lang="zh-CN" altLang="en-US" sz="3200" b="0" i="1" dirty="0">
                <a:ea typeface="楷体" panose="02010609060101010101" pitchFamily="49" charset="-122"/>
                <a:cs typeface="Arial" panose="020B0604020202020204" pitchFamily="34" charset="0"/>
              </a:rPr>
              <a:t>导入</a:t>
            </a:r>
            <a:r>
              <a:rPr lang="en-US" altLang="zh-CN" sz="3200" b="0" i="1" dirty="0">
                <a:ea typeface="楷体" panose="02010609060101010101" pitchFamily="49" charset="-122"/>
                <a:cs typeface="Arial" panose="020B0604020202020204" pitchFamily="34" charset="0"/>
              </a:rPr>
              <a:t>math</a:t>
            </a:r>
            <a:r>
              <a:rPr lang="zh-CN" altLang="en-US" sz="3200" b="0" i="1" dirty="0">
                <a:ea typeface="楷体" panose="02010609060101010101" pitchFamily="49" charset="-122"/>
                <a:cs typeface="Arial" panose="020B0604020202020204" pitchFamily="34" charset="0"/>
              </a:rPr>
              <a:t>模块中的所有名称</a:t>
            </a:r>
            <a:endParaRPr lang="en-US" altLang="zh-CN" sz="3200" b="0" i="1" dirty="0"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87630" algn="l" defTabSz="987425"/>
            <a:r>
              <a:rPr lang="en-US" altLang="zh-CN" sz="3200" b="0" dirty="0">
                <a:ea typeface="楷体" panose="02010609060101010101" pitchFamily="49" charset="-122"/>
                <a:cs typeface="Arial" panose="020B0604020202020204" pitchFamily="34" charset="0"/>
              </a:rPr>
              <a:t>t= sqrt(9) </a:t>
            </a:r>
            <a:r>
              <a:rPr lang="en-US" altLang="zh-CN" sz="3200" dirty="0">
                <a:ea typeface="楷体" panose="02010609060101010101" pitchFamily="49" charset="-122"/>
                <a:cs typeface="Arial" panose="020B0604020202020204" pitchFamily="34" charset="0"/>
              </a:rPr>
              <a:t>				</a:t>
            </a:r>
            <a:r>
              <a:rPr lang="en-US" altLang="zh-CN" sz="3200" b="0" i="1" dirty="0">
                <a:ea typeface="楷体" panose="02010609060101010101" pitchFamily="49" charset="-122"/>
                <a:cs typeface="Arial" panose="020B0604020202020204" pitchFamily="34" charset="0"/>
              </a:rPr>
              <a:t>#</a:t>
            </a:r>
            <a:r>
              <a:rPr lang="zh-CN" altLang="en-US" sz="3200" b="0" i="1" dirty="0">
                <a:ea typeface="楷体" panose="02010609060101010101" pitchFamily="49" charset="-122"/>
                <a:cs typeface="Arial" panose="020B0604020202020204" pitchFamily="34" charset="0"/>
              </a:rPr>
              <a:t>调用</a:t>
            </a:r>
            <a:r>
              <a:rPr lang="en-US" altLang="zh-CN" sz="3200" b="0" i="1" dirty="0">
                <a:ea typeface="楷体" panose="02010609060101010101" pitchFamily="49" charset="-122"/>
                <a:cs typeface="Arial" panose="020B0604020202020204" pitchFamily="34" charset="0"/>
              </a:rPr>
              <a:t>sqrt</a:t>
            </a:r>
            <a:r>
              <a:rPr lang="en-US" altLang="zh-CN" sz="3200" i="1" dirty="0">
                <a:ea typeface="楷体" panose="02010609060101010101" pitchFamily="49" charset="-122"/>
                <a:cs typeface="Arial" panose="020B0604020202020204" pitchFamily="34" charset="0"/>
              </a:rPr>
              <a:t>()</a:t>
            </a:r>
            <a:r>
              <a:rPr lang="zh-CN" altLang="en-US" sz="3200" b="0" i="1" dirty="0">
                <a:ea typeface="楷体" panose="02010609060101010101" pitchFamily="49" charset="-122"/>
                <a:cs typeface="Arial" panose="020B0604020202020204" pitchFamily="34" charset="0"/>
              </a:rPr>
              <a:t>函数</a:t>
            </a:r>
            <a:endParaRPr lang="zh-CN" altLang="en-US" sz="3200" b="0" i="1" dirty="0"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内容占位符 2"/>
          <p:cNvSpPr txBox="1"/>
          <p:nvPr/>
        </p:nvSpPr>
        <p:spPr>
          <a:xfrm>
            <a:off x="3113125" y="5807318"/>
            <a:ext cx="10094686" cy="6013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accent1"/>
              </a:buClr>
              <a:buNone/>
            </a:pPr>
            <a:r>
              <a:rPr lang="zh-CN" altLang="en-US" sz="2400" dirty="0"/>
              <a:t>注意</a:t>
            </a:r>
            <a:r>
              <a:rPr lang="zh-CN" altLang="zh-CN" sz="2400" dirty="0"/>
              <a:t>： </a:t>
            </a:r>
            <a:r>
              <a:rPr lang="zh-CN" altLang="en-US" sz="2400" dirty="0"/>
              <a:t>如果导入多个库时可能会造成同名函数的覆盖，故慎用！</a:t>
            </a:r>
            <a:endParaRPr lang="en-US" altLang="zh-CN" sz="3200" dirty="0">
              <a:latin typeface="+mn-ea"/>
            </a:endParaRPr>
          </a:p>
          <a:p>
            <a:pPr marL="1625600" lvl="2" indent="-457200"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zh-CN" altLang="en-US" sz="3200" dirty="0">
              <a:latin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96217" y="518765"/>
            <a:ext cx="680176" cy="711395"/>
            <a:chOff x="3820548" y="-894825"/>
            <a:chExt cx="1257690" cy="1257690"/>
          </a:xfrm>
        </p:grpSpPr>
        <p:sp>
          <p:nvSpPr>
            <p:cNvPr id="9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10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222998" y="3354920"/>
            <a:ext cx="774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   基本语法、三大结构、函数</a:t>
            </a:r>
            <a:endParaRPr lang="en-US" altLang="zh-CN" sz="44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511800" y="1955759"/>
            <a:ext cx="1168400" cy="1168400"/>
            <a:chOff x="4838310" y="2343675"/>
            <a:chExt cx="1257690" cy="1257690"/>
          </a:xfrm>
        </p:grpSpPr>
        <p:sp>
          <p:nvSpPr>
            <p:cNvPr id="2" name="圆形 15"/>
            <p:cNvSpPr/>
            <p:nvPr/>
          </p:nvSpPr>
          <p:spPr>
            <a:xfrm>
              <a:off x="4838310" y="234367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4" name="图形 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125155" y="2630520"/>
              <a:ext cx="684000" cy="6840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1649149" y="2708275"/>
            <a:ext cx="735756" cy="1368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 lIns="90000" tIns="46800" rIns="90000" bIns="468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+mn-ea"/>
                <a:ea typeface="+mn-ea"/>
              </a:rPr>
              <a:t>程序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" name="AutoShape 5"/>
          <p:cNvSpPr/>
          <p:nvPr/>
        </p:nvSpPr>
        <p:spPr bwMode="auto">
          <a:xfrm>
            <a:off x="2514088" y="1557338"/>
            <a:ext cx="215900" cy="3600450"/>
          </a:xfrm>
          <a:prstGeom prst="leftBrace">
            <a:avLst>
              <a:gd name="adj1" fmla="val 138971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>
              <a:latin typeface="+mn-ea"/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2754127" y="4724400"/>
            <a:ext cx="1295400" cy="64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accent2"/>
                </a:solidFill>
                <a:latin typeface="+mn-ea"/>
                <a:ea typeface="+mn-ea"/>
              </a:rPr>
              <a:t>算法</a:t>
            </a:r>
            <a:endParaRPr lang="zh-CN" altLang="en-US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5" name="Text Box 42"/>
          <p:cNvSpPr txBox="1">
            <a:spLocks noChangeArrowheads="1"/>
          </p:cNvSpPr>
          <p:nvPr/>
        </p:nvSpPr>
        <p:spPr bwMode="auto">
          <a:xfrm>
            <a:off x="2766501" y="1412875"/>
            <a:ext cx="1295400" cy="64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accent2"/>
                </a:solidFill>
                <a:latin typeface="+mn-ea"/>
                <a:ea typeface="+mn-ea"/>
              </a:rPr>
              <a:t>数据</a:t>
            </a:r>
            <a:endParaRPr lang="zh-CN" altLang="en-US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6" name="Text Box 55"/>
          <p:cNvSpPr txBox="1">
            <a:spLocks noChangeArrowheads="1"/>
          </p:cNvSpPr>
          <p:nvPr/>
        </p:nvSpPr>
        <p:spPr bwMode="auto">
          <a:xfrm>
            <a:off x="4096827" y="2280444"/>
            <a:ext cx="1368425" cy="64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+mn-ea"/>
                <a:ea typeface="+mn-ea"/>
              </a:rPr>
              <a:t>常量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7" name="AutoShape 56"/>
          <p:cNvSpPr/>
          <p:nvPr/>
        </p:nvSpPr>
        <p:spPr bwMode="auto">
          <a:xfrm>
            <a:off x="5148999" y="1646228"/>
            <a:ext cx="217488" cy="1944688"/>
          </a:xfrm>
          <a:prstGeom prst="leftBrace">
            <a:avLst>
              <a:gd name="adj1" fmla="val 74513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>
              <a:latin typeface="+mn-ea"/>
            </a:endParaRPr>
          </a:p>
        </p:txBody>
      </p:sp>
      <p:sp>
        <p:nvSpPr>
          <p:cNvPr id="8" name="AutoShape 60"/>
          <p:cNvSpPr/>
          <p:nvPr/>
        </p:nvSpPr>
        <p:spPr bwMode="auto">
          <a:xfrm>
            <a:off x="3833627" y="765175"/>
            <a:ext cx="215900" cy="1943100"/>
          </a:xfrm>
          <a:prstGeom prst="leftBrace">
            <a:avLst>
              <a:gd name="adj1" fmla="val 75000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>
              <a:latin typeface="+mn-ea"/>
            </a:endParaRPr>
          </a:p>
        </p:txBody>
      </p:sp>
      <p:sp>
        <p:nvSpPr>
          <p:cNvPr id="9" name="Text Box 61"/>
          <p:cNvSpPr txBox="1">
            <a:spLocks noChangeArrowheads="1"/>
          </p:cNvSpPr>
          <p:nvPr/>
        </p:nvSpPr>
        <p:spPr bwMode="auto">
          <a:xfrm>
            <a:off x="4081440" y="462643"/>
            <a:ext cx="1366837" cy="64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+mn-ea"/>
                <a:ea typeface="+mn-ea"/>
              </a:rPr>
              <a:t>变量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10" name="AutoShape 63"/>
          <p:cNvSpPr/>
          <p:nvPr/>
        </p:nvSpPr>
        <p:spPr bwMode="auto">
          <a:xfrm>
            <a:off x="3809389" y="4437063"/>
            <a:ext cx="144463" cy="1368425"/>
          </a:xfrm>
          <a:prstGeom prst="leftBrace">
            <a:avLst>
              <a:gd name="adj1" fmla="val 78937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>
              <a:latin typeface="+mn-ea"/>
            </a:endParaRPr>
          </a:p>
        </p:txBody>
      </p:sp>
      <p:sp>
        <p:nvSpPr>
          <p:cNvPr id="11" name="Text Box 64"/>
          <p:cNvSpPr txBox="1">
            <a:spLocks noChangeArrowheads="1"/>
          </p:cNvSpPr>
          <p:nvPr/>
        </p:nvSpPr>
        <p:spPr bwMode="auto">
          <a:xfrm>
            <a:off x="4026522" y="4149725"/>
            <a:ext cx="2017713" cy="64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+mn-ea"/>
                <a:ea typeface="+mn-ea"/>
              </a:rPr>
              <a:t>基本运算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12" name="Text Box 65"/>
          <p:cNvSpPr txBox="1">
            <a:spLocks noChangeArrowheads="1"/>
          </p:cNvSpPr>
          <p:nvPr/>
        </p:nvSpPr>
        <p:spPr bwMode="auto">
          <a:xfrm>
            <a:off x="4024619" y="5445125"/>
            <a:ext cx="2305050" cy="64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+mn-ea"/>
                <a:ea typeface="+mn-ea"/>
              </a:rPr>
              <a:t>程序结构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13" name="Line 66"/>
          <p:cNvSpPr>
            <a:spLocks noChangeShapeType="1"/>
          </p:cNvSpPr>
          <p:nvPr/>
        </p:nvSpPr>
        <p:spPr bwMode="auto">
          <a:xfrm>
            <a:off x="6022009" y="4472214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>
              <a:latin typeface="+mn-ea"/>
            </a:endParaRPr>
          </a:p>
        </p:txBody>
      </p:sp>
      <p:sp>
        <p:nvSpPr>
          <p:cNvPr id="14" name="Text Box 69"/>
          <p:cNvSpPr txBox="1">
            <a:spLocks noChangeArrowheads="1"/>
          </p:cNvSpPr>
          <p:nvPr/>
        </p:nvSpPr>
        <p:spPr bwMode="auto">
          <a:xfrm>
            <a:off x="9987016" y="581472"/>
            <a:ext cx="649364" cy="23105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+mn-ea"/>
                <a:ea typeface="+mn-ea"/>
              </a:rPr>
              <a:t>数据类型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15" name="Text Box 70"/>
          <p:cNvSpPr txBox="1">
            <a:spLocks noChangeArrowheads="1"/>
          </p:cNvSpPr>
          <p:nvPr/>
        </p:nvSpPr>
        <p:spPr bwMode="auto">
          <a:xfrm>
            <a:off x="6913005" y="4151539"/>
            <a:ext cx="2592387" cy="64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+mn-ea"/>
                <a:ea typeface="+mn-ea"/>
              </a:rPr>
              <a:t>基本运算符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16" name="Line 71"/>
          <p:cNvSpPr>
            <a:spLocks noChangeShapeType="1"/>
          </p:cNvSpPr>
          <p:nvPr/>
        </p:nvSpPr>
        <p:spPr bwMode="auto">
          <a:xfrm>
            <a:off x="5976380" y="5805488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>
              <a:latin typeface="+mn-ea"/>
            </a:endParaRPr>
          </a:p>
        </p:txBody>
      </p:sp>
      <p:sp>
        <p:nvSpPr>
          <p:cNvPr id="17" name="Text Box 72"/>
          <p:cNvSpPr txBox="1">
            <a:spLocks noChangeArrowheads="1"/>
          </p:cNvSpPr>
          <p:nvPr/>
        </p:nvSpPr>
        <p:spPr bwMode="auto">
          <a:xfrm>
            <a:off x="6962643" y="5516563"/>
            <a:ext cx="3024188" cy="64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+mn-ea"/>
                <a:ea typeface="+mn-ea"/>
              </a:rPr>
              <a:t>三种程序结构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18" name="Line 92"/>
          <p:cNvSpPr>
            <a:spLocks noChangeShapeType="1"/>
          </p:cNvSpPr>
          <p:nvPr/>
        </p:nvSpPr>
        <p:spPr bwMode="auto">
          <a:xfrm flipV="1">
            <a:off x="5176326" y="765175"/>
            <a:ext cx="432906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>
              <a:latin typeface="+mn-ea"/>
            </a:endParaRPr>
          </a:p>
        </p:txBody>
      </p:sp>
      <p:sp>
        <p:nvSpPr>
          <p:cNvPr id="19" name="Text Box 96"/>
          <p:cNvSpPr txBox="1">
            <a:spLocks noChangeArrowheads="1"/>
          </p:cNvSpPr>
          <p:nvPr/>
        </p:nvSpPr>
        <p:spPr bwMode="auto">
          <a:xfrm>
            <a:off x="5414232" y="3274549"/>
            <a:ext cx="2232025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latin typeface="+mn-ea"/>
                <a:ea typeface="+mn-ea"/>
              </a:rPr>
              <a:t>转义字符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20" name="Text Box 97"/>
          <p:cNvSpPr txBox="1">
            <a:spLocks noChangeArrowheads="1"/>
          </p:cNvSpPr>
          <p:nvPr/>
        </p:nvSpPr>
        <p:spPr bwMode="auto">
          <a:xfrm>
            <a:off x="5378318" y="1286118"/>
            <a:ext cx="4204625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latin typeface="+mn-ea"/>
                <a:ea typeface="+mn-ea"/>
              </a:rPr>
              <a:t>值常量</a:t>
            </a:r>
            <a:r>
              <a:rPr lang="en-US" altLang="zh-CN" sz="2400" dirty="0">
                <a:latin typeface="+mn-ea"/>
                <a:ea typeface="+mn-ea"/>
              </a:rPr>
              <a:t>(</a:t>
            </a:r>
            <a:r>
              <a:rPr lang="zh-CN" altLang="en-US" sz="2400" dirty="0">
                <a:latin typeface="+mn-ea"/>
                <a:ea typeface="+mn-ea"/>
              </a:rPr>
              <a:t>数字，字符串，</a:t>
            </a:r>
            <a:r>
              <a:rPr lang="en-US" altLang="zh-CN" sz="2400" dirty="0">
                <a:latin typeface="+mn-ea"/>
                <a:ea typeface="+mn-ea"/>
              </a:rPr>
              <a:t>False)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21" name="Text Box 98"/>
          <p:cNvSpPr txBox="1">
            <a:spLocks noChangeArrowheads="1"/>
          </p:cNvSpPr>
          <p:nvPr/>
        </p:nvSpPr>
        <p:spPr bwMode="auto">
          <a:xfrm>
            <a:off x="5378319" y="2072039"/>
            <a:ext cx="3912120" cy="833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latin typeface="+mn-ea"/>
                <a:ea typeface="+mn-ea"/>
              </a:rPr>
              <a:t>不改变值的变量（其他语言：命名常量或者符号常量）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22" name="AutoShape 56"/>
          <p:cNvSpPr/>
          <p:nvPr/>
        </p:nvSpPr>
        <p:spPr bwMode="auto">
          <a:xfrm flipH="1">
            <a:off x="9396822" y="1646228"/>
            <a:ext cx="217488" cy="1944688"/>
          </a:xfrm>
          <a:prstGeom prst="leftBrace">
            <a:avLst>
              <a:gd name="adj1" fmla="val 74513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>
              <a:latin typeface="+mn-ea"/>
            </a:endParaRPr>
          </a:p>
        </p:txBody>
      </p:sp>
      <p:sp>
        <p:nvSpPr>
          <p:cNvPr id="23" name="AutoShape 60"/>
          <p:cNvSpPr/>
          <p:nvPr/>
        </p:nvSpPr>
        <p:spPr bwMode="auto">
          <a:xfrm flipH="1">
            <a:off x="9664733" y="692696"/>
            <a:ext cx="215900" cy="1943100"/>
          </a:xfrm>
          <a:prstGeom prst="leftBrace">
            <a:avLst>
              <a:gd name="adj1" fmla="val 75000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>
              <a:latin typeface="+mn-ea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/>
      <p:bldP spid="5" grpId="0"/>
      <p:bldP spid="6" grpId="0"/>
      <p:bldP spid="7" grpId="0" animBg="1"/>
      <p:bldP spid="8" grpId="0" animBg="1"/>
      <p:bldP spid="9" grpId="0"/>
      <p:bldP spid="10" grpId="0" animBg="1"/>
      <p:bldP spid="11" grpId="0"/>
      <p:bldP spid="12" grpId="0"/>
      <p:bldP spid="13" grpId="0" animBg="1"/>
      <p:bldP spid="14" grpId="0"/>
      <p:bldP spid="15" grpId="0"/>
      <p:bldP spid="16" grpId="0" animBg="1"/>
      <p:bldP spid="17" grpId="0"/>
      <p:bldP spid="18" grpId="0" animBg="1"/>
      <p:bldP spid="19" grpId="0"/>
      <p:bldP spid="20" grpId="0"/>
      <p:bldP spid="21" grpId="0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/>
          <p:nvPr/>
        </p:nvSpPr>
        <p:spPr>
          <a:xfrm>
            <a:off x="813002" y="1595721"/>
            <a:ext cx="10180792" cy="23097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zh-CN" b="1" dirty="0"/>
              <a:t>合法的标识符必须遵守以下</a:t>
            </a:r>
            <a:r>
              <a:rPr lang="zh-CN" altLang="zh-CN" b="1" dirty="0">
                <a:solidFill>
                  <a:srgbClr val="FF0000"/>
                </a:solidFill>
              </a:rPr>
              <a:t>规则</a:t>
            </a:r>
            <a:r>
              <a:rPr lang="zh-CN" altLang="zh-CN" dirty="0"/>
              <a:t>：</a:t>
            </a:r>
            <a:endParaRPr lang="zh-CN" altLang="zh-CN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dirty="0"/>
              <a:t>由一串字符组成，字符可以是任意</a:t>
            </a:r>
            <a:r>
              <a:rPr lang="zh-CN" altLang="zh-CN" b="1" u="sng" dirty="0">
                <a:solidFill>
                  <a:srgbClr val="FF0000"/>
                </a:solidFill>
              </a:rPr>
              <a:t>字母</a:t>
            </a:r>
            <a:r>
              <a:rPr lang="zh-CN" altLang="zh-CN" dirty="0"/>
              <a:t>、</a:t>
            </a:r>
            <a:r>
              <a:rPr lang="zh-CN" altLang="zh-CN" u="sng" dirty="0">
                <a:solidFill>
                  <a:srgbClr val="FF0000"/>
                </a:solidFill>
              </a:rPr>
              <a:t>数字</a:t>
            </a:r>
            <a:r>
              <a:rPr lang="zh-CN" altLang="zh-CN" dirty="0"/>
              <a:t>、</a:t>
            </a:r>
            <a:r>
              <a:rPr lang="zh-CN" altLang="zh-CN" b="1" u="sng" dirty="0">
                <a:solidFill>
                  <a:srgbClr val="FF0000"/>
                </a:solidFill>
              </a:rPr>
              <a:t>下画线</a:t>
            </a:r>
            <a:r>
              <a:rPr lang="zh-CN" altLang="zh-CN" dirty="0"/>
              <a:t>、</a:t>
            </a:r>
            <a:r>
              <a:rPr lang="zh-CN" altLang="zh-CN" b="1" u="sng" dirty="0">
                <a:solidFill>
                  <a:srgbClr val="6193D4"/>
                </a:solidFill>
              </a:rPr>
              <a:t>汉字</a:t>
            </a:r>
            <a:r>
              <a:rPr lang="zh-CN" altLang="zh-CN" dirty="0"/>
              <a:t>，但这串字符中的</a:t>
            </a:r>
            <a:r>
              <a:rPr lang="zh-CN" altLang="zh-CN" b="1" u="sng" dirty="0">
                <a:solidFill>
                  <a:srgbClr val="FF0000"/>
                </a:solidFill>
              </a:rPr>
              <a:t>开头字符不能是数字</a:t>
            </a:r>
            <a:r>
              <a:rPr lang="zh-CN" altLang="zh-CN" dirty="0"/>
              <a:t>；</a:t>
            </a:r>
            <a:endParaRPr lang="en-US" altLang="zh-CN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b="1" dirty="0">
                <a:solidFill>
                  <a:srgbClr val="FF0000"/>
                </a:solidFill>
              </a:rPr>
              <a:t>不能与关键字同名</a:t>
            </a:r>
            <a:r>
              <a:rPr lang="zh-CN" altLang="zh-CN" dirty="0"/>
              <a:t>。</a:t>
            </a:r>
            <a:r>
              <a:rPr lang="zh-CN" altLang="zh-CN" u="sng" dirty="0"/>
              <a:t>关键字也称为“保留字”</a:t>
            </a:r>
            <a:r>
              <a:rPr lang="zh-CN" altLang="zh-CN" dirty="0"/>
              <a:t>，是被语言保留起来具有特殊含义的词，不能再用于起名字。</a:t>
            </a:r>
            <a:endParaRPr lang="en-US" altLang="zh-CN" dirty="0"/>
          </a:p>
        </p:txBody>
      </p:sp>
      <p:sp>
        <p:nvSpPr>
          <p:cNvPr id="3" name="标题 3"/>
          <p:cNvSpPr txBox="1"/>
          <p:nvPr/>
        </p:nvSpPr>
        <p:spPr>
          <a:xfrm>
            <a:off x="1145969" y="622593"/>
            <a:ext cx="10180792" cy="675265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+mn-ea"/>
                <a:ea typeface="+mn-ea"/>
              </a:rPr>
              <a:t>标识符（名称）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13249" y="5564633"/>
            <a:ext cx="78054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例：</a:t>
            </a:r>
            <a:r>
              <a:rPr lang="en-US" altLang="zh-CN" sz="2800" dirty="0" err="1"/>
              <a:t>m.n</a:t>
            </a:r>
            <a:r>
              <a:rPr lang="en-US" altLang="zh-CN" sz="2800" dirty="0"/>
              <a:t>	math-score	     3AI	for    break </a:t>
            </a:r>
            <a:endParaRPr lang="zh-CN" altLang="en-US" sz="28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/>
          <p:nvPr/>
        </p:nvSpPr>
        <p:spPr>
          <a:xfrm>
            <a:off x="514073" y="291686"/>
            <a:ext cx="8501122" cy="86147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800" b="1" dirty="0">
                <a:latin typeface="+mn-ea"/>
                <a:ea typeface="+mn-ea"/>
              </a:rPr>
              <a:t>Python</a:t>
            </a:r>
            <a:r>
              <a:rPr lang="zh-CN" altLang="en-US" sz="4800" b="1" dirty="0">
                <a:latin typeface="+mn-ea"/>
                <a:ea typeface="+mn-ea"/>
              </a:rPr>
              <a:t>的数据类型</a:t>
            </a:r>
            <a:endParaRPr lang="zh-CN" altLang="en-US" sz="4800" b="1" dirty="0">
              <a:latin typeface="+mn-ea"/>
              <a:ea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369" y="1318577"/>
            <a:ext cx="5286569" cy="4696533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420773" y="3274475"/>
            <a:ext cx="24956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err="1">
                <a:solidFill>
                  <a:srgbClr val="4B4B4B"/>
                </a:solidFill>
                <a:latin typeface="PingFang SC"/>
              </a:rPr>
              <a:t>strS</a:t>
            </a:r>
            <a:r>
              <a:rPr lang="en-US" altLang="zh-CN" sz="2400" b="1" dirty="0">
                <a:solidFill>
                  <a:srgbClr val="4B4B4B"/>
                </a:solidFill>
                <a:latin typeface="PingFang SC"/>
              </a:rPr>
              <a:t>='this is string'</a:t>
            </a:r>
            <a:endParaRPr lang="zh-CN" altLang="en-US" sz="2400" b="1" dirty="0"/>
          </a:p>
        </p:txBody>
      </p:sp>
      <p:sp>
        <p:nvSpPr>
          <p:cNvPr id="10" name="矩形 9"/>
          <p:cNvSpPr/>
          <p:nvPr/>
        </p:nvSpPr>
        <p:spPr>
          <a:xfrm>
            <a:off x="6431012" y="2066953"/>
            <a:ext cx="19392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4B4B4B"/>
                </a:solidFill>
                <a:latin typeface="PingFang SC"/>
              </a:rPr>
              <a:t>var1=False</a:t>
            </a:r>
            <a:endParaRPr lang="zh-CN" altLang="en-US" sz="2400" b="1" dirty="0">
              <a:solidFill>
                <a:srgbClr val="4B4B4B"/>
              </a:solidFill>
              <a:latin typeface="PingFang SC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418292" y="1588843"/>
            <a:ext cx="17016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4B4B4B"/>
                </a:solidFill>
                <a:latin typeface="PingFang SC"/>
              </a:rPr>
              <a:t>num2=2.3</a:t>
            </a:r>
            <a:endParaRPr lang="zh-CN" altLang="en-US" sz="2400" b="1" dirty="0">
              <a:solidFill>
                <a:srgbClr val="4B4B4B"/>
              </a:solidFill>
              <a:latin typeface="PingFang SC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420773" y="3813005"/>
            <a:ext cx="35349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err="1">
                <a:solidFill>
                  <a:srgbClr val="4B4B4B"/>
                </a:solidFill>
                <a:latin typeface="PingFang SC"/>
              </a:rPr>
              <a:t>nums</a:t>
            </a:r>
            <a:r>
              <a:rPr lang="en-US" altLang="zh-CN" sz="2400" b="1" dirty="0">
                <a:solidFill>
                  <a:srgbClr val="4B4B4B"/>
                </a:solidFill>
                <a:latin typeface="PingFang SC"/>
              </a:rPr>
              <a:t>=[1, 3, 5, 7, 8, 13, 20]</a:t>
            </a:r>
            <a:endParaRPr lang="zh-CN" altLang="en-US" sz="2400" b="1" dirty="0">
              <a:solidFill>
                <a:srgbClr val="4B4B4B"/>
              </a:solidFill>
              <a:latin typeface="PingFang SC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441052" y="4314797"/>
            <a:ext cx="27045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4B4B4B"/>
                </a:solidFill>
                <a:latin typeface="PingFang SC"/>
              </a:rPr>
              <a:t>tup1 = (1, 2, 3, 4, 5 )</a:t>
            </a:r>
            <a:endParaRPr lang="zh-CN" altLang="en-US" sz="2400" b="1" dirty="0">
              <a:solidFill>
                <a:srgbClr val="4B4B4B"/>
              </a:solidFill>
              <a:latin typeface="PingFang SC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352976" y="5626972"/>
            <a:ext cx="49949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solidFill>
                  <a:srgbClr val="4B4B4B"/>
                </a:solidFill>
                <a:latin typeface="PingFang SC"/>
              </a:rPr>
              <a:t>dict1 = {'name': 'Zara', 'age': 7, 'class': 'First'}</a:t>
            </a:r>
            <a:endParaRPr lang="zh-CN" altLang="en-US" sz="1400" b="1" dirty="0">
              <a:solidFill>
                <a:srgbClr val="4B4B4B"/>
              </a:solidFill>
              <a:latin typeface="PingFang SC"/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5735958" y="3579804"/>
            <a:ext cx="617018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V="1">
            <a:off x="5737276" y="2343654"/>
            <a:ext cx="615700" cy="790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5715685" y="1851652"/>
            <a:ext cx="637291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5721936" y="4052049"/>
            <a:ext cx="631040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>
            <a:off x="5758074" y="4502987"/>
            <a:ext cx="594902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5734645" y="5842257"/>
            <a:ext cx="631051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6414578" y="1161380"/>
            <a:ext cx="17016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4B4B4B"/>
                </a:solidFill>
                <a:latin typeface="PingFang SC"/>
              </a:rPr>
              <a:t>num1=5</a:t>
            </a:r>
            <a:endParaRPr lang="zh-CN" altLang="en-US" sz="2400" b="1" dirty="0">
              <a:solidFill>
                <a:srgbClr val="4B4B4B"/>
              </a:solidFill>
              <a:latin typeface="PingFang SC"/>
            </a:endParaRP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5711971" y="1424189"/>
            <a:ext cx="637291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  <p:bldP spid="12" grpId="0"/>
      <p:bldP spid="13" grpId="0"/>
      <p:bldP spid="14" grpId="0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/>
          <p:nvPr/>
        </p:nvSpPr>
        <p:spPr>
          <a:xfrm>
            <a:off x="893215" y="537546"/>
            <a:ext cx="8501122" cy="86147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800" b="1" dirty="0">
                <a:latin typeface="+mn-ea"/>
                <a:ea typeface="+mn-ea"/>
              </a:rPr>
              <a:t>布尔值（逻辑值）</a:t>
            </a:r>
            <a:endParaRPr lang="zh-CN" altLang="en-US" sz="4800" b="1" dirty="0">
              <a:latin typeface="+mn-ea"/>
              <a:ea typeface="+mn-ea"/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552067" y="1501483"/>
            <a:ext cx="10771082" cy="48360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布尔值：</a:t>
            </a:r>
            <a:r>
              <a:rPr lang="en-US" altLang="zh-CN" dirty="0">
                <a:solidFill>
                  <a:srgbClr val="FF0000"/>
                </a:solidFill>
              </a:rPr>
              <a:t>True</a:t>
            </a:r>
            <a:r>
              <a:rPr lang="en-US" altLang="zh-CN" dirty="0"/>
              <a:t>(1)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0000"/>
                </a:solidFill>
              </a:rPr>
              <a:t>False</a:t>
            </a:r>
            <a:r>
              <a:rPr lang="en-US" altLang="zh-CN" dirty="0"/>
              <a:t>(0)</a:t>
            </a:r>
            <a:r>
              <a:rPr lang="zh-CN" altLang="en-US" dirty="0"/>
              <a:t>，可进行算术运算</a:t>
            </a:r>
            <a:r>
              <a:rPr lang="zh-CN" altLang="en-US" sz="2800" b="1" dirty="0"/>
              <a:t>。</a:t>
            </a:r>
            <a:endParaRPr lang="en-US" altLang="zh-CN" sz="2800" b="1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947" y="2187284"/>
            <a:ext cx="2686050" cy="19335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967577" y="2246130"/>
            <a:ext cx="446345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</a:rPr>
              <a:t>注意：</a:t>
            </a:r>
            <a:endParaRPr lang="en-US" altLang="zh-CN" sz="2800" dirty="0">
              <a:solidFill>
                <a:srgbClr val="C00000"/>
              </a:solidFill>
            </a:endParaRPr>
          </a:p>
          <a:p>
            <a:r>
              <a:rPr lang="en-US" altLang="zh-CN" sz="2800" b="1" dirty="0">
                <a:solidFill>
                  <a:srgbClr val="080808"/>
                </a:solidFill>
                <a:latin typeface="Times New Roman" panose="02020603050405020304" pitchFamily="18" charset="0"/>
              </a:rPr>
              <a:t>x=5</a:t>
            </a:r>
            <a:endParaRPr lang="en-US" altLang="zh-CN" sz="2800" b="1" dirty="0">
              <a:solidFill>
                <a:srgbClr val="080808"/>
              </a:solidFill>
              <a:latin typeface="Times New Roman" panose="02020603050405020304" pitchFamily="18" charset="0"/>
            </a:endParaRPr>
          </a:p>
          <a:p>
            <a:r>
              <a:rPr lang="en-US" altLang="zh-CN" sz="2800" b="1" dirty="0">
                <a:solidFill>
                  <a:srgbClr val="080808"/>
                </a:solidFill>
                <a:latin typeface="Times New Roman" panose="02020603050405020304" pitchFamily="18" charset="0"/>
              </a:rPr>
              <a:t>if  x:</a:t>
            </a:r>
            <a:endParaRPr lang="en-US" altLang="zh-CN" sz="2800" b="1" dirty="0">
              <a:solidFill>
                <a:srgbClr val="080808"/>
              </a:solidFill>
              <a:latin typeface="Times New Roman" panose="02020603050405020304" pitchFamily="18" charset="0"/>
            </a:endParaRPr>
          </a:p>
          <a:p>
            <a:r>
              <a:rPr lang="en-US" altLang="zh-CN" sz="2800" b="1" dirty="0">
                <a:solidFill>
                  <a:srgbClr val="080808"/>
                </a:solidFill>
                <a:latin typeface="Times New Roman" panose="02020603050405020304" pitchFamily="18" charset="0"/>
              </a:rPr>
              <a:t>    </a:t>
            </a:r>
            <a:r>
              <a:rPr lang="fr-FR" altLang="zh-CN" sz="2800" b="1" dirty="0">
                <a:solidFill>
                  <a:srgbClr val="080808"/>
                </a:solidFill>
                <a:latin typeface="Times New Roman" panose="02020603050405020304" pitchFamily="18" charset="0"/>
              </a:rPr>
              <a:t>print("x</a:t>
            </a:r>
            <a:r>
              <a:rPr lang="zh-CN" altLang="fr-FR" sz="2800" b="1" dirty="0">
                <a:solidFill>
                  <a:srgbClr val="080808"/>
                </a:solidFill>
                <a:latin typeface="Times New Roman" panose="02020603050405020304" pitchFamily="18" charset="0"/>
              </a:rPr>
              <a:t>是</a:t>
            </a:r>
            <a:r>
              <a:rPr lang="fr-FR" altLang="zh-CN" sz="2800" b="1" dirty="0">
                <a:solidFill>
                  <a:srgbClr val="080808"/>
                </a:solidFill>
                <a:latin typeface="Times New Roman" panose="02020603050405020304" pitchFamily="18" charset="0"/>
              </a:rPr>
              <a:t>%d" % x)</a:t>
            </a:r>
            <a:endParaRPr lang="en-US" altLang="zh-CN" sz="2800" b="1" dirty="0">
              <a:solidFill>
                <a:srgbClr val="080808"/>
              </a:solidFill>
              <a:latin typeface="Times New Roman" panose="02020603050405020304" pitchFamily="18" charset="0"/>
            </a:endParaRPr>
          </a:p>
          <a:p>
            <a:endParaRPr lang="en-US" altLang="zh-CN" sz="2800" b="1" dirty="0">
              <a:solidFill>
                <a:srgbClr val="080808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970" y="1150374"/>
            <a:ext cx="10054070" cy="3738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128" y="4889170"/>
            <a:ext cx="2457798" cy="1884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2"/>
          <p:cNvSpPr txBox="1"/>
          <p:nvPr/>
        </p:nvSpPr>
        <p:spPr>
          <a:xfrm>
            <a:off x="1145969" y="4889170"/>
            <a:ext cx="8701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dirty="0"/>
              <a:t>算术运算符的</a:t>
            </a:r>
            <a:r>
              <a:rPr lang="zh-CN" altLang="zh-CN" sz="2800" b="1" dirty="0"/>
              <a:t>优先级</a:t>
            </a:r>
            <a:r>
              <a:rPr lang="zh-CN" altLang="zh-CN" sz="2800" dirty="0"/>
              <a:t>，按照从低到高排列</a:t>
            </a:r>
            <a:endParaRPr lang="zh-CN" altLang="en-US" sz="2800" dirty="0"/>
          </a:p>
        </p:txBody>
      </p:sp>
      <p:sp>
        <p:nvSpPr>
          <p:cNvPr id="5" name="标题 3"/>
          <p:cNvSpPr txBox="1"/>
          <p:nvPr/>
        </p:nvSpPr>
        <p:spPr>
          <a:xfrm>
            <a:off x="1145969" y="622593"/>
            <a:ext cx="10180792" cy="675265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+mn-ea"/>
                <a:ea typeface="+mn-ea"/>
              </a:rPr>
              <a:t>算术运算符</a:t>
            </a:r>
            <a:endParaRPr lang="zh-CN" altLang="en-US" dirty="0">
              <a:latin typeface="+mn-ea"/>
              <a:ea typeface="+mn-ea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/>
          <p:nvPr/>
        </p:nvSpPr>
        <p:spPr>
          <a:xfrm>
            <a:off x="1110342" y="227133"/>
            <a:ext cx="2435905" cy="5029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zh-CN" altLang="en-US" sz="3200" dirty="0"/>
              <a:t>赋值运算</a:t>
            </a:r>
            <a:endParaRPr lang="en-US" altLang="zh-CN" sz="3200" dirty="0">
              <a:solidFill>
                <a:srgbClr val="00B050"/>
              </a:solidFill>
              <a:latin typeface="+mn-ea"/>
            </a:endParaRPr>
          </a:p>
          <a:p>
            <a:pPr lvl="2"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en-US" altLang="zh-CN" sz="3200" dirty="0">
              <a:solidFill>
                <a:srgbClr val="00B050"/>
              </a:solidFill>
              <a:latin typeface="+mn-ea"/>
            </a:endParaRPr>
          </a:p>
          <a:p>
            <a:pPr lvl="2"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en-US" altLang="zh-CN" sz="3200" dirty="0">
              <a:solidFill>
                <a:srgbClr val="00B050"/>
              </a:solidFill>
              <a:latin typeface="+mn-ea"/>
            </a:endParaRPr>
          </a:p>
          <a:p>
            <a:pPr lvl="2"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en-US" altLang="zh-CN" sz="3200" dirty="0">
              <a:solidFill>
                <a:srgbClr val="00B050"/>
              </a:solidFill>
              <a:latin typeface="+mn-ea"/>
            </a:endParaRPr>
          </a:p>
          <a:p>
            <a:pPr lvl="2"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en-US" altLang="zh-CN" sz="3200" dirty="0">
              <a:latin typeface="+mn-ea"/>
            </a:endParaRPr>
          </a:p>
          <a:p>
            <a:pPr lvl="2">
              <a:spcBef>
                <a:spcPts val="1800"/>
              </a:spcBef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en-US" altLang="zh-CN" sz="3200" dirty="0">
              <a:solidFill>
                <a:srgbClr val="00B050"/>
              </a:solidFill>
              <a:latin typeface="+mn-ea"/>
            </a:endParaRPr>
          </a:p>
          <a:p>
            <a:pPr lvl="2"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en-US" altLang="zh-CN" sz="3200" dirty="0">
              <a:latin typeface="+mn-ea"/>
            </a:endParaRPr>
          </a:p>
          <a:p>
            <a:pPr lvl="2"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en-US" altLang="zh-CN" sz="3200" dirty="0">
              <a:latin typeface="+mn-ea"/>
            </a:endParaRPr>
          </a:p>
          <a:p>
            <a:pPr lvl="2"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en-US" altLang="zh-CN" sz="3200" dirty="0">
              <a:latin typeface="+mn-ea"/>
            </a:endParaRPr>
          </a:p>
          <a:p>
            <a:pPr marL="1625600" lvl="2" indent="-457200"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zh-CN" altLang="en-US" sz="3200" dirty="0">
              <a:latin typeface="+mn-ea"/>
            </a:endParaRPr>
          </a:p>
        </p:txBody>
      </p:sp>
      <p:sp>
        <p:nvSpPr>
          <p:cNvPr id="7" name="内容占位符 2"/>
          <p:cNvSpPr txBox="1"/>
          <p:nvPr/>
        </p:nvSpPr>
        <p:spPr>
          <a:xfrm>
            <a:off x="1110343" y="1021552"/>
            <a:ext cx="8229600" cy="175345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 dirty="0"/>
              <a:t>例：</a:t>
            </a:r>
            <a:endParaRPr lang="en-US" altLang="zh-CN" dirty="0"/>
          </a:p>
          <a:p>
            <a:pPr marL="0" indent="0">
              <a:spcBef>
                <a:spcPts val="4800"/>
              </a:spcBef>
              <a:buFont typeface="Arial" panose="020B0604020202020204" pitchFamily="34" charset="0"/>
              <a:buNone/>
            </a:pPr>
            <a:endParaRPr lang="en-US" altLang="zh-CN" dirty="0"/>
          </a:p>
          <a:p>
            <a:pPr lvl="1"/>
            <a:r>
              <a:rPr lang="zh-CN" altLang="en-US" dirty="0"/>
              <a:t>例：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</p:txBody>
      </p:sp>
      <p:sp>
        <p:nvSpPr>
          <p:cNvPr id="9" name="TextBox 5"/>
          <p:cNvSpPr txBox="1"/>
          <p:nvPr/>
        </p:nvSpPr>
        <p:spPr>
          <a:xfrm>
            <a:off x="3049827" y="877536"/>
            <a:ext cx="10086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变量</a:t>
            </a:r>
            <a:endParaRPr lang="zh-CN" altLang="en-US" sz="32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TextBox 7"/>
          <p:cNvSpPr txBox="1"/>
          <p:nvPr/>
        </p:nvSpPr>
        <p:spPr>
          <a:xfrm>
            <a:off x="4250561" y="877536"/>
            <a:ext cx="14205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赋值符</a:t>
            </a:r>
            <a:endParaRPr lang="zh-CN" altLang="en-US" sz="32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2759225" y="2190228"/>
            <a:ext cx="4896543" cy="584775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0" dirty="0"/>
              <a:t>S2 = pi*(2.2/2)**2</a:t>
            </a:r>
            <a:endParaRPr lang="zh-CN" altLang="en-US" sz="3200" b="0" dirty="0"/>
          </a:p>
        </p:txBody>
      </p:sp>
      <p:cxnSp>
        <p:nvCxnSpPr>
          <p:cNvPr id="12" name="直接箭头连接符 11"/>
          <p:cNvCxnSpPr>
            <a:stCxn id="10" idx="2"/>
          </p:cNvCxnSpPr>
          <p:nvPr/>
        </p:nvCxnSpPr>
        <p:spPr>
          <a:xfrm flipH="1">
            <a:off x="4390845" y="1462311"/>
            <a:ext cx="570007" cy="901327"/>
          </a:xfrm>
          <a:prstGeom prst="straightConnector1">
            <a:avLst/>
          </a:prstGeom>
          <a:ln w="190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3571245" y="1381592"/>
            <a:ext cx="151669" cy="783375"/>
          </a:xfrm>
          <a:prstGeom prst="straightConnector1">
            <a:avLst/>
          </a:prstGeom>
          <a:ln w="190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3546248" y="2164968"/>
            <a:ext cx="3322496" cy="584776"/>
            <a:chOff x="2905688" y="3861048"/>
            <a:chExt cx="3322496" cy="584776"/>
          </a:xfrm>
        </p:grpSpPr>
        <p:sp>
          <p:nvSpPr>
            <p:cNvPr id="20" name="矩形 19"/>
            <p:cNvSpPr/>
            <p:nvPr/>
          </p:nvSpPr>
          <p:spPr>
            <a:xfrm>
              <a:off x="3923928" y="3861048"/>
              <a:ext cx="2304256" cy="584775"/>
            </a:xfrm>
            <a:prstGeom prst="rect">
              <a:avLst/>
            </a:prstGeom>
            <a:noFill/>
            <a:ln w="28575">
              <a:solidFill>
                <a:srgbClr val="CC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2905688" y="3879192"/>
              <a:ext cx="691730" cy="566632"/>
            </a:xfrm>
            <a:prstGeom prst="rect">
              <a:avLst/>
            </a:prstGeom>
            <a:noFill/>
            <a:ln w="28575">
              <a:solidFill>
                <a:srgbClr val="CC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" name="肘形连接符 21"/>
            <p:cNvCxnSpPr/>
            <p:nvPr/>
          </p:nvCxnSpPr>
          <p:spPr>
            <a:xfrm rot="16200000" flipH="1" flipV="1">
              <a:off x="4370756" y="2957868"/>
              <a:ext cx="18144" cy="1824503"/>
            </a:xfrm>
            <a:prstGeom prst="bentConnector3">
              <a:avLst>
                <a:gd name="adj1" fmla="val -1259921"/>
              </a:avLst>
            </a:prstGeom>
            <a:ln w="28575">
              <a:solidFill>
                <a:srgbClr val="CC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文本框 28"/>
          <p:cNvSpPr txBox="1"/>
          <p:nvPr/>
        </p:nvSpPr>
        <p:spPr>
          <a:xfrm>
            <a:off x="3722914" y="225107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3200" b="1" dirty="0"/>
              <a:t>变量</a:t>
            </a:r>
            <a:r>
              <a:rPr lang="en-US" altLang="zh-CN" sz="3200" b="1" dirty="0"/>
              <a:t> </a:t>
            </a:r>
            <a:r>
              <a:rPr lang="en-US" altLang="zh-CN" sz="3200" b="1" dirty="0">
                <a:solidFill>
                  <a:schemeClr val="accent1"/>
                </a:solidFill>
              </a:rPr>
              <a:t>=</a:t>
            </a:r>
            <a:r>
              <a:rPr lang="en-US" altLang="zh-CN" sz="3200" b="1" dirty="0"/>
              <a:t> </a:t>
            </a:r>
            <a:r>
              <a:rPr lang="zh-CN" altLang="zh-CN" sz="3200" b="1" dirty="0"/>
              <a:t>表达式</a:t>
            </a:r>
            <a:endParaRPr lang="zh-CN" altLang="zh-CN" sz="3200" b="1" dirty="0"/>
          </a:p>
        </p:txBody>
      </p:sp>
      <p:sp>
        <p:nvSpPr>
          <p:cNvPr id="30" name="文本框 29"/>
          <p:cNvSpPr txBox="1"/>
          <p:nvPr/>
        </p:nvSpPr>
        <p:spPr>
          <a:xfrm>
            <a:off x="385019" y="2784505"/>
            <a:ext cx="1066319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00"/>
                </a:solidFill>
              </a:rPr>
              <a:t>序列赋值</a:t>
            </a:r>
            <a:endParaRPr lang="en-US" altLang="zh-CN" sz="2400" b="1" dirty="0">
              <a:solidFill>
                <a:srgbClr val="000000"/>
              </a:solidFill>
            </a:endParaRPr>
          </a:p>
          <a:p>
            <a:pPr marL="15621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 err="1">
                <a:solidFill>
                  <a:srgbClr val="000000"/>
                </a:solidFill>
              </a:rPr>
              <a:t>a,b</a:t>
            </a:r>
            <a:r>
              <a:rPr lang="en-US" altLang="zh-CN" sz="2400" b="1" dirty="0">
                <a:solidFill>
                  <a:srgbClr val="000000"/>
                </a:solidFill>
              </a:rPr>
              <a:t>=2,8     </a:t>
            </a:r>
            <a:r>
              <a:rPr lang="zh-CN" altLang="en-US" sz="2400" b="1" dirty="0">
                <a:solidFill>
                  <a:srgbClr val="000000"/>
                </a:solidFill>
              </a:rPr>
              <a:t>或 </a:t>
            </a:r>
            <a:r>
              <a:rPr lang="en-US" altLang="zh-CN" sz="2400" b="1" dirty="0">
                <a:solidFill>
                  <a:srgbClr val="000000"/>
                </a:solidFill>
              </a:rPr>
              <a:t>no1,no2,no3,no4,no5="hello"</a:t>
            </a:r>
            <a:endParaRPr lang="en-US" altLang="zh-CN" sz="2400" b="1" dirty="0">
              <a:solidFill>
                <a:srgbClr val="000000"/>
              </a:solidFill>
            </a:endParaRPr>
          </a:p>
          <a:p>
            <a:pPr marL="9525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00"/>
                </a:solidFill>
              </a:rPr>
              <a:t>多目标赋值</a:t>
            </a:r>
            <a:endParaRPr lang="en-US" altLang="zh-CN" sz="2400" b="1" dirty="0">
              <a:solidFill>
                <a:srgbClr val="000000"/>
              </a:solidFill>
            </a:endParaRPr>
          </a:p>
          <a:p>
            <a:pPr marL="15621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rgbClr val="000000"/>
                </a:solidFill>
              </a:rPr>
              <a:t>no1=no2=no3=no4=no5="hello"</a:t>
            </a:r>
            <a:endParaRPr lang="en-US" altLang="zh-CN" sz="2400" b="1" dirty="0">
              <a:solidFill>
                <a:srgbClr val="000000"/>
              </a:solidFill>
            </a:endParaRPr>
          </a:p>
          <a:p>
            <a:pPr marL="9525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00"/>
                </a:solidFill>
              </a:rPr>
              <a:t>复合赋值。形式：</a:t>
            </a:r>
            <a:r>
              <a:rPr lang="zh-CN" altLang="en-US" sz="2400" b="1" dirty="0">
                <a:solidFill>
                  <a:schemeClr val="accent1"/>
                </a:solidFill>
              </a:rPr>
              <a:t>算术运算符＝</a:t>
            </a:r>
            <a:endParaRPr lang="en-US" altLang="zh-CN" sz="2400" b="1" dirty="0">
              <a:solidFill>
                <a:schemeClr val="accent1"/>
              </a:solidFill>
            </a:endParaRPr>
          </a:p>
          <a:p>
            <a:pPr marL="15621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rgbClr val="000000"/>
                </a:solidFill>
              </a:rPr>
              <a:t>a</a:t>
            </a:r>
            <a:r>
              <a:rPr lang="en-US" altLang="zh-CN" sz="2400" b="1" dirty="0"/>
              <a:t>+=</a:t>
            </a:r>
            <a:r>
              <a:rPr lang="en-US" altLang="zh-CN" sz="2400" b="1" dirty="0">
                <a:solidFill>
                  <a:srgbClr val="000000"/>
                </a:solidFill>
              </a:rPr>
              <a:t>3  </a:t>
            </a:r>
            <a:r>
              <a:rPr lang="zh-CN" altLang="en-US" sz="2400" b="1" dirty="0">
                <a:solidFill>
                  <a:srgbClr val="000000"/>
                </a:solidFill>
              </a:rPr>
              <a:t>等价于　</a:t>
            </a:r>
            <a:r>
              <a:rPr lang="en-US" altLang="zh-CN" sz="2400" b="1" dirty="0">
                <a:solidFill>
                  <a:srgbClr val="000000"/>
                </a:solidFill>
              </a:rPr>
              <a:t>a=a+3</a:t>
            </a:r>
            <a:endParaRPr lang="en-US" altLang="zh-CN" sz="2400" b="1" dirty="0">
              <a:solidFill>
                <a:srgbClr val="000000"/>
              </a:solidFill>
            </a:endParaRPr>
          </a:p>
          <a:p>
            <a:pPr marL="15621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00"/>
                </a:solidFill>
              </a:rPr>
              <a:t>那么</a:t>
            </a:r>
            <a:r>
              <a:rPr lang="en-US" altLang="zh-CN" sz="2400" b="1" dirty="0">
                <a:solidFill>
                  <a:srgbClr val="000000"/>
                </a:solidFill>
              </a:rPr>
              <a:t>a*</a:t>
            </a:r>
            <a:r>
              <a:rPr lang="zh-CN" altLang="en-US" sz="2400" b="1" dirty="0">
                <a:solidFill>
                  <a:srgbClr val="000000"/>
                </a:solidFill>
              </a:rPr>
              <a:t>＝</a:t>
            </a:r>
            <a:r>
              <a:rPr lang="en-US" altLang="zh-CN" sz="2400" b="1" dirty="0">
                <a:solidFill>
                  <a:srgbClr val="000000"/>
                </a:solidFill>
              </a:rPr>
              <a:t>b+1  </a:t>
            </a:r>
            <a:r>
              <a:rPr lang="zh-CN" altLang="en-US" sz="2400" b="1" dirty="0">
                <a:solidFill>
                  <a:srgbClr val="000000"/>
                </a:solidFill>
              </a:rPr>
              <a:t>等价于</a:t>
            </a:r>
            <a:r>
              <a:rPr lang="en-US" altLang="zh-CN" sz="2400" b="1" dirty="0">
                <a:solidFill>
                  <a:srgbClr val="000000"/>
                </a:solidFill>
              </a:rPr>
              <a:t>? </a:t>
            </a:r>
            <a:endParaRPr lang="en-US" altLang="zh-CN" sz="24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39868"/>
            <a:ext cx="12192000" cy="4578264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2"/>
          <p:cNvSpPr txBox="1"/>
          <p:nvPr/>
        </p:nvSpPr>
        <p:spPr>
          <a:xfrm>
            <a:off x="1089404" y="607801"/>
            <a:ext cx="12032342" cy="48245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zh-CN" altLang="en-US" sz="3600" dirty="0"/>
              <a:t>关系运算符</a:t>
            </a:r>
            <a:endParaRPr lang="zh-CN" altLang="en-US" sz="3600" dirty="0"/>
          </a:p>
        </p:txBody>
      </p:sp>
      <p:sp>
        <p:nvSpPr>
          <p:cNvPr id="33" name="内容占位符 2"/>
          <p:cNvSpPr txBox="1"/>
          <p:nvPr/>
        </p:nvSpPr>
        <p:spPr>
          <a:xfrm>
            <a:off x="1313542" y="790352"/>
            <a:ext cx="8229600" cy="48245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0" name="内容占位符 2"/>
          <p:cNvSpPr txBox="1"/>
          <p:nvPr/>
        </p:nvSpPr>
        <p:spPr>
          <a:xfrm>
            <a:off x="2211510" y="1732846"/>
            <a:ext cx="9330001" cy="48245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Clr>
                <a:schemeClr val="accent1"/>
              </a:buClr>
              <a:buFont typeface="Wingdings" panose="05000000000000000000" pitchFamily="2" charset="2"/>
              <a:buChar char="u"/>
              <a:tabLst>
                <a:tab pos="1612900" algn="l"/>
              </a:tabLst>
            </a:pPr>
            <a:r>
              <a:rPr lang="en-US" altLang="zh-CN" sz="3200" b="1" dirty="0"/>
              <a:t>&gt;</a:t>
            </a:r>
            <a:r>
              <a:rPr lang="en-US" altLang="zh-CN" sz="3200" dirty="0"/>
              <a:t>	</a:t>
            </a:r>
            <a:r>
              <a:rPr lang="zh-CN" altLang="en-US" sz="3200" dirty="0"/>
              <a:t>：</a:t>
            </a:r>
            <a:r>
              <a:rPr lang="en-US" altLang="zh-CN" sz="3200" dirty="0"/>
              <a:t>x&gt;0</a:t>
            </a:r>
            <a:endParaRPr lang="en-US" altLang="zh-CN" sz="3200" dirty="0"/>
          </a:p>
          <a:p>
            <a:pPr lvl="1">
              <a:buClr>
                <a:schemeClr val="accent1"/>
              </a:buClr>
              <a:buFont typeface="Wingdings" panose="05000000000000000000" pitchFamily="2" charset="2"/>
              <a:buChar char="u"/>
              <a:tabLst>
                <a:tab pos="1612900" algn="l"/>
              </a:tabLst>
            </a:pPr>
            <a:r>
              <a:rPr lang="en-US" altLang="zh-CN" sz="3200" b="1" dirty="0"/>
              <a:t>&lt;</a:t>
            </a:r>
            <a:r>
              <a:rPr lang="en-US" altLang="zh-CN" sz="3200" dirty="0"/>
              <a:t>	</a:t>
            </a:r>
            <a:r>
              <a:rPr lang="zh-CN" altLang="en-US" sz="3200" dirty="0"/>
              <a:t>：</a:t>
            </a:r>
            <a:r>
              <a:rPr lang="en-US" altLang="zh-CN" sz="3200" dirty="0"/>
              <a:t>x&lt;0</a:t>
            </a:r>
            <a:endParaRPr lang="en-US" altLang="zh-CN" sz="3200" dirty="0"/>
          </a:p>
          <a:p>
            <a:pPr lvl="1">
              <a:buClr>
                <a:schemeClr val="accent1"/>
              </a:buClr>
              <a:buFont typeface="Wingdings" panose="05000000000000000000" pitchFamily="2" charset="2"/>
              <a:buChar char="u"/>
              <a:tabLst>
                <a:tab pos="1612900" algn="l"/>
              </a:tabLst>
            </a:pPr>
            <a:r>
              <a:rPr lang="en-US" altLang="zh-CN" sz="3200" b="1" dirty="0"/>
              <a:t>&gt;=</a:t>
            </a:r>
            <a:r>
              <a:rPr lang="en-US" altLang="zh-CN" sz="3200" dirty="0"/>
              <a:t>	</a:t>
            </a:r>
            <a:r>
              <a:rPr lang="zh-CN" altLang="en-US" sz="3200" dirty="0"/>
              <a:t>：</a:t>
            </a:r>
            <a:r>
              <a:rPr lang="en-US" altLang="zh-CN" sz="3200" dirty="0"/>
              <a:t>x&gt;=0</a:t>
            </a:r>
            <a:endParaRPr lang="en-US" altLang="zh-CN" sz="3200" dirty="0"/>
          </a:p>
          <a:p>
            <a:pPr lvl="1">
              <a:buClr>
                <a:schemeClr val="accent1"/>
              </a:buClr>
              <a:buFont typeface="Wingdings" panose="05000000000000000000" pitchFamily="2" charset="2"/>
              <a:buChar char="u"/>
              <a:tabLst>
                <a:tab pos="1612900" algn="l"/>
              </a:tabLst>
            </a:pPr>
            <a:r>
              <a:rPr lang="en-US" altLang="zh-CN" sz="3200" b="1" dirty="0"/>
              <a:t>&lt;=</a:t>
            </a:r>
            <a:r>
              <a:rPr lang="en-US" altLang="zh-CN" sz="3200" dirty="0"/>
              <a:t>	</a:t>
            </a:r>
            <a:r>
              <a:rPr lang="zh-CN" altLang="en-US" sz="3200" dirty="0"/>
              <a:t>：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'a'&lt;= 'A'                  #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比较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ASCII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码值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lr>
                <a:schemeClr val="accent1"/>
              </a:buClr>
              <a:buFont typeface="Wingdings" panose="05000000000000000000" pitchFamily="2" charset="2"/>
              <a:buChar char="u"/>
              <a:tabLst>
                <a:tab pos="1612900" algn="l"/>
              </a:tabLst>
            </a:pPr>
            <a:r>
              <a:rPr lang="en-US" altLang="zh-CN" sz="3200" b="1" dirty="0">
                <a:solidFill>
                  <a:srgbClr val="FF0000"/>
                </a:solidFill>
              </a:rPr>
              <a:t>==</a:t>
            </a:r>
            <a:r>
              <a:rPr lang="en-US" altLang="zh-CN" sz="3200" dirty="0">
                <a:solidFill>
                  <a:srgbClr val="FF0000"/>
                </a:solidFill>
              </a:rPr>
              <a:t>	</a:t>
            </a:r>
            <a:r>
              <a:rPr lang="zh-CN" altLang="en-US" sz="3200" dirty="0"/>
              <a:t>：等于，如</a:t>
            </a:r>
            <a:r>
              <a:rPr lang="en-US" altLang="zh-CN" sz="3200" dirty="0"/>
              <a:t>x==0</a:t>
            </a:r>
            <a:endParaRPr lang="en-US" altLang="zh-CN" sz="3200" dirty="0"/>
          </a:p>
          <a:p>
            <a:pPr lvl="1">
              <a:buClr>
                <a:schemeClr val="accent1"/>
              </a:buClr>
              <a:buFont typeface="Wingdings" panose="05000000000000000000" pitchFamily="2" charset="2"/>
              <a:buChar char="u"/>
              <a:tabLst>
                <a:tab pos="1612900" algn="l"/>
              </a:tabLst>
            </a:pPr>
            <a:r>
              <a:rPr lang="en-US" altLang="zh-CN" sz="3200" b="1" dirty="0">
                <a:solidFill>
                  <a:srgbClr val="FF0000"/>
                </a:solidFill>
              </a:rPr>
              <a:t>!=</a:t>
            </a:r>
            <a:r>
              <a:rPr lang="en-US" altLang="zh-CN" sz="3200" dirty="0">
                <a:solidFill>
                  <a:srgbClr val="FF0000"/>
                </a:solidFill>
              </a:rPr>
              <a:t>	</a:t>
            </a:r>
            <a:r>
              <a:rPr lang="zh-CN" altLang="en-US" sz="3200" dirty="0"/>
              <a:t>：不等于，如</a:t>
            </a:r>
            <a:r>
              <a:rPr lang="en-US" altLang="zh-CN" sz="3200" dirty="0"/>
              <a:t>x!=0</a:t>
            </a:r>
            <a:endParaRPr lang="zh-CN" altLang="en-US" sz="3200" dirty="0"/>
          </a:p>
        </p:txBody>
      </p:sp>
      <p:sp>
        <p:nvSpPr>
          <p:cNvPr id="8" name="TextBox 1"/>
          <p:cNvSpPr txBox="1"/>
          <p:nvPr/>
        </p:nvSpPr>
        <p:spPr>
          <a:xfrm>
            <a:off x="822061" y="5295630"/>
            <a:ext cx="9889099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800" b="1" dirty="0">
                <a:solidFill>
                  <a:srgbClr val="000000"/>
                </a:solidFill>
              </a:rPr>
              <a:t>关系运算符也称为比较运算符，可以对两个数值型或字符串型数据进行大小比较，返回一个“</a:t>
            </a:r>
            <a:r>
              <a:rPr lang="en-US" altLang="zh-CN" sz="2800" b="1" dirty="0">
                <a:solidFill>
                  <a:srgbClr val="000000"/>
                </a:solidFill>
              </a:rPr>
              <a:t>True</a:t>
            </a:r>
            <a:r>
              <a:rPr lang="zh-CN" altLang="zh-CN" sz="2800" b="1" dirty="0">
                <a:solidFill>
                  <a:srgbClr val="000000"/>
                </a:solidFill>
              </a:rPr>
              <a:t>”或“</a:t>
            </a:r>
            <a:r>
              <a:rPr lang="en-US" altLang="zh-CN" sz="2800" b="1" dirty="0">
                <a:solidFill>
                  <a:srgbClr val="000000"/>
                </a:solidFill>
              </a:rPr>
              <a:t>False</a:t>
            </a:r>
            <a:r>
              <a:rPr lang="zh-CN" altLang="zh-CN" sz="2800" b="1" dirty="0">
                <a:solidFill>
                  <a:srgbClr val="000000"/>
                </a:solidFill>
              </a:rPr>
              <a:t>”的布尔值</a:t>
            </a:r>
            <a:endParaRPr lang="en-US" altLang="zh-CN" sz="28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438" y="946662"/>
            <a:ext cx="10635606" cy="41796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2"/>
          <p:cNvSpPr txBox="1"/>
          <p:nvPr/>
        </p:nvSpPr>
        <p:spPr>
          <a:xfrm>
            <a:off x="1089404" y="607801"/>
            <a:ext cx="12032342" cy="48245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zh-CN" altLang="en-US" sz="3600" dirty="0"/>
              <a:t>逻辑运算符</a:t>
            </a:r>
            <a:endParaRPr lang="zh-CN" altLang="en-US" sz="3600" dirty="0"/>
          </a:p>
        </p:txBody>
      </p:sp>
      <p:sp>
        <p:nvSpPr>
          <p:cNvPr id="6" name="内容占位符 2"/>
          <p:cNvSpPr txBox="1"/>
          <p:nvPr/>
        </p:nvSpPr>
        <p:spPr>
          <a:xfrm>
            <a:off x="791028" y="1399017"/>
            <a:ext cx="8229600" cy="48245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33" name="内容占位符 2"/>
          <p:cNvSpPr txBox="1"/>
          <p:nvPr/>
        </p:nvSpPr>
        <p:spPr>
          <a:xfrm>
            <a:off x="1313542" y="790352"/>
            <a:ext cx="8229600" cy="48245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7" name="内容占位符 2"/>
          <p:cNvSpPr txBox="1"/>
          <p:nvPr/>
        </p:nvSpPr>
        <p:spPr>
          <a:xfrm>
            <a:off x="1378856" y="1703817"/>
            <a:ext cx="8686800" cy="372852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en-US" altLang="zh-CN" sz="3200" dirty="0">
                <a:solidFill>
                  <a:srgbClr val="FF0000"/>
                </a:solidFill>
              </a:rPr>
              <a:t>and</a:t>
            </a:r>
            <a:r>
              <a:rPr lang="zh-CN" altLang="en-US" sz="3200" dirty="0"/>
              <a:t>：与（而且）</a:t>
            </a:r>
            <a:endParaRPr lang="en-US" altLang="zh-CN" sz="3200" dirty="0"/>
          </a:p>
          <a:p>
            <a:pPr marL="673100" lvl="2" indent="0">
              <a:buClr>
                <a:schemeClr val="accent1"/>
              </a:buClr>
              <a:buNone/>
            </a:pPr>
            <a:r>
              <a:rPr lang="zh-CN" altLang="en-US" sz="3200" dirty="0"/>
              <a:t>例：</a:t>
            </a:r>
            <a:r>
              <a:rPr lang="en-US" altLang="zh-CN" sz="3200" dirty="0"/>
              <a:t>“</a:t>
            </a:r>
            <a:r>
              <a:rPr lang="en-US" altLang="zh-CN" sz="3200" b="1" dirty="0"/>
              <a:t>x&gt;=-1 and x&lt;=1</a:t>
            </a:r>
            <a:r>
              <a:rPr lang="en-US" altLang="zh-CN" sz="3200" dirty="0"/>
              <a:t>“  </a:t>
            </a:r>
            <a:endParaRPr lang="en-US" altLang="zh-CN" sz="3200" dirty="0"/>
          </a:p>
          <a:p>
            <a:pPr marL="673100" lvl="2" indent="0">
              <a:buClr>
                <a:schemeClr val="accent1"/>
              </a:buClr>
              <a:buNone/>
            </a:pPr>
            <a:r>
              <a:rPr lang="zh-CN" altLang="en-US" sz="3200" dirty="0"/>
              <a:t>注：也可写成   </a:t>
            </a:r>
            <a:r>
              <a:rPr lang="en-US" altLang="zh-CN" sz="3200" dirty="0">
                <a:solidFill>
                  <a:srgbClr val="FF0000"/>
                </a:solidFill>
              </a:rPr>
              <a:t>-1&lt;=x&lt;=1 </a:t>
            </a:r>
            <a:endParaRPr lang="en-US" altLang="zh-CN" sz="3200" dirty="0"/>
          </a:p>
          <a:p>
            <a:pPr lvl="1"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en-US" altLang="zh-CN" sz="3200" dirty="0">
                <a:solidFill>
                  <a:srgbClr val="FF0000"/>
                </a:solidFill>
              </a:rPr>
              <a:t>or</a:t>
            </a:r>
            <a:r>
              <a:rPr lang="zh-CN" altLang="en-US" sz="3200" dirty="0"/>
              <a:t>：或（或者）</a:t>
            </a:r>
            <a:endParaRPr lang="en-US" altLang="zh-CN" sz="3200" dirty="0"/>
          </a:p>
          <a:p>
            <a:pPr marL="673100" lvl="2" indent="0">
              <a:buClr>
                <a:schemeClr val="accent1"/>
              </a:buClr>
              <a:buNone/>
            </a:pPr>
            <a:r>
              <a:rPr lang="zh-CN" altLang="en-US" sz="3200" dirty="0"/>
              <a:t>例：</a:t>
            </a:r>
            <a:r>
              <a:rPr lang="en-US" altLang="zh-CN" sz="3200" b="1" dirty="0"/>
              <a:t>x&gt;1 or x&lt;-1</a:t>
            </a:r>
            <a:r>
              <a:rPr lang="en-US" altLang="zh-CN" sz="3200" dirty="0"/>
              <a:t>     </a:t>
            </a:r>
            <a:endParaRPr lang="en-US" altLang="zh-CN" sz="3200" dirty="0"/>
          </a:p>
          <a:p>
            <a:pPr lvl="1"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en-US" altLang="zh-CN" sz="3200" dirty="0">
                <a:solidFill>
                  <a:srgbClr val="FF0000"/>
                </a:solidFill>
              </a:rPr>
              <a:t>not</a:t>
            </a:r>
            <a:r>
              <a:rPr lang="zh-CN" altLang="en-US" sz="3200" dirty="0"/>
              <a:t>：非（不是）</a:t>
            </a:r>
            <a:endParaRPr lang="en-US" altLang="zh-CN" sz="3200" dirty="0"/>
          </a:p>
          <a:p>
            <a:pPr marL="673100" lvl="2" indent="0">
              <a:buClr>
                <a:schemeClr val="accent1"/>
              </a:buClr>
              <a:buNone/>
            </a:pPr>
            <a:r>
              <a:rPr lang="zh-CN" altLang="en-US" sz="3200" dirty="0"/>
              <a:t>例：</a:t>
            </a:r>
            <a:r>
              <a:rPr lang="en-US" altLang="zh-CN" sz="3200" b="1" dirty="0"/>
              <a:t>not 3&gt;8</a:t>
            </a:r>
            <a:endParaRPr lang="zh-CN" altLang="en-US" sz="3200" dirty="0"/>
          </a:p>
        </p:txBody>
      </p:sp>
      <p:sp>
        <p:nvSpPr>
          <p:cNvPr id="2" name="圆角矩形 1"/>
          <p:cNvSpPr/>
          <p:nvPr/>
        </p:nvSpPr>
        <p:spPr>
          <a:xfrm>
            <a:off x="4770408" y="2674189"/>
            <a:ext cx="2286000" cy="55209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/>
          <p:nvPr/>
        </p:nvSpPr>
        <p:spPr>
          <a:xfrm>
            <a:off x="1110343" y="717780"/>
            <a:ext cx="10094686" cy="14966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en-US" altLang="zh-CN" sz="3200" dirty="0">
                <a:solidFill>
                  <a:srgbClr val="0000FF"/>
                </a:solidFill>
              </a:rPr>
              <a:t>input()</a:t>
            </a:r>
            <a:r>
              <a:rPr lang="zh-CN" altLang="en-US" sz="3200" dirty="0"/>
              <a:t>函数</a:t>
            </a:r>
            <a:endParaRPr lang="en-US" altLang="zh-CN" sz="3200" dirty="0"/>
          </a:p>
          <a:p>
            <a:pPr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zh-CN" altLang="en-US" sz="3200" dirty="0"/>
              <a:t>格式：变量名</a:t>
            </a:r>
            <a:r>
              <a:rPr lang="en-US" altLang="zh-CN" sz="3200" dirty="0"/>
              <a:t> </a:t>
            </a:r>
            <a:r>
              <a:rPr lang="en-US" altLang="zh-CN" sz="3200" b="1" dirty="0">
                <a:solidFill>
                  <a:schemeClr val="accent1"/>
                </a:solidFill>
              </a:rPr>
              <a:t>= input(</a:t>
            </a:r>
            <a:r>
              <a:rPr lang="en-US" altLang="zh-CN" sz="3200" dirty="0"/>
              <a:t>&lt;</a:t>
            </a:r>
            <a:r>
              <a:rPr lang="zh-CN" altLang="zh-CN" sz="3200" dirty="0"/>
              <a:t>提示字符串</a:t>
            </a:r>
            <a:r>
              <a:rPr lang="en-US" altLang="zh-CN" sz="3200" dirty="0"/>
              <a:t>&gt;</a:t>
            </a:r>
            <a:r>
              <a:rPr lang="en-US" altLang="zh-CN" sz="3200" b="1" dirty="0">
                <a:solidFill>
                  <a:schemeClr val="accent1"/>
                </a:solidFill>
              </a:rPr>
              <a:t>)</a:t>
            </a:r>
            <a:endParaRPr lang="en-US" altLang="zh-CN" sz="3200" b="1" dirty="0">
              <a:solidFill>
                <a:schemeClr val="accent1"/>
              </a:solidFill>
            </a:endParaRPr>
          </a:p>
          <a:p>
            <a:pPr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zh-CN" altLang="en-US" sz="3200" dirty="0"/>
              <a:t>作用：从键盘读入一个</a:t>
            </a:r>
            <a:r>
              <a:rPr lang="zh-CN" altLang="en-US" sz="3200" dirty="0">
                <a:solidFill>
                  <a:srgbClr val="FF0000"/>
                </a:solidFill>
              </a:rPr>
              <a:t>字符串</a:t>
            </a:r>
            <a:endParaRPr lang="en-US" altLang="zh-CN" sz="3200" dirty="0">
              <a:latin typeface="+mn-ea"/>
            </a:endParaRPr>
          </a:p>
          <a:p>
            <a:pPr lvl="2">
              <a:spcBef>
                <a:spcPts val="1800"/>
              </a:spcBef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en-US" altLang="zh-CN" sz="3200" dirty="0">
              <a:solidFill>
                <a:srgbClr val="00B050"/>
              </a:solidFill>
              <a:latin typeface="+mn-ea"/>
            </a:endParaRPr>
          </a:p>
          <a:p>
            <a:pPr lvl="2"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en-US" altLang="zh-CN" sz="3200" dirty="0">
              <a:latin typeface="+mn-ea"/>
            </a:endParaRPr>
          </a:p>
          <a:p>
            <a:pPr lvl="2"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en-US" altLang="zh-CN" sz="3200" dirty="0">
              <a:latin typeface="+mn-ea"/>
            </a:endParaRPr>
          </a:p>
          <a:p>
            <a:pPr lvl="2"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en-US" altLang="zh-CN" sz="3200" dirty="0">
              <a:latin typeface="+mn-ea"/>
            </a:endParaRPr>
          </a:p>
          <a:p>
            <a:pPr marL="1625600" lvl="2" indent="-457200"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zh-CN" altLang="en-US" sz="3200" dirty="0">
              <a:latin typeface="+mn-ea"/>
            </a:endParaRPr>
          </a:p>
        </p:txBody>
      </p:sp>
      <p:sp>
        <p:nvSpPr>
          <p:cNvPr id="29" name="内容占位符 2"/>
          <p:cNvSpPr txBox="1"/>
          <p:nvPr/>
        </p:nvSpPr>
        <p:spPr>
          <a:xfrm>
            <a:off x="1110343" y="1220749"/>
            <a:ext cx="8229600" cy="48245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3200" dirty="0">
              <a:solidFill>
                <a:prstClr val="black"/>
              </a:solidFill>
            </a:endParaRPr>
          </a:p>
        </p:txBody>
      </p:sp>
      <p:sp>
        <p:nvSpPr>
          <p:cNvPr id="23" name="内容占位符 2"/>
          <p:cNvSpPr txBox="1"/>
          <p:nvPr/>
        </p:nvSpPr>
        <p:spPr>
          <a:xfrm>
            <a:off x="1110343" y="2575609"/>
            <a:ext cx="8229600" cy="414928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zh-CN" dirty="0">
              <a:solidFill>
                <a:srgbClr val="FF0000"/>
              </a:solidFill>
            </a:endParaRPr>
          </a:p>
          <a:p>
            <a:pPr lvl="1"/>
            <a:endParaRPr lang="en-US" altLang="zh-CN" dirty="0"/>
          </a:p>
          <a:p>
            <a:pPr lvl="1">
              <a:spcBef>
                <a:spcPts val="1200"/>
              </a:spcBef>
            </a:pPr>
            <a:endParaRPr lang="en-US" altLang="zh-CN" dirty="0"/>
          </a:p>
          <a:p>
            <a:pPr lvl="1">
              <a:spcBef>
                <a:spcPts val="1800"/>
              </a:spcBef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24" name="TextBox 6"/>
          <p:cNvSpPr txBox="1"/>
          <p:nvPr/>
        </p:nvSpPr>
        <p:spPr>
          <a:xfrm>
            <a:off x="1110343" y="4083198"/>
            <a:ext cx="7920880" cy="1077218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87630" algn="l" defTabSz="987425"/>
            <a:r>
              <a:rPr lang="en-US" altLang="zh-CN" sz="3200" b="0" dirty="0">
                <a:ea typeface="楷体" panose="02010609060101010101" pitchFamily="49" charset="-122"/>
                <a:cs typeface="Arial" panose="020B0604020202020204" pitchFamily="34" charset="0"/>
              </a:rPr>
              <a:t>age=</a:t>
            </a:r>
            <a:r>
              <a:rPr lang="en-US" altLang="zh-CN" sz="3200" dirty="0">
                <a:solidFill>
                  <a:srgbClr val="FF0000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int</a:t>
            </a:r>
            <a:r>
              <a:rPr lang="en-US" altLang="zh-CN" sz="3200" dirty="0">
                <a:ea typeface="楷体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en-US" altLang="zh-CN" sz="3200" b="0" dirty="0">
                <a:ea typeface="楷体" panose="02010609060101010101" pitchFamily="49" charset="-122"/>
                <a:cs typeface="Arial" panose="020B0604020202020204" pitchFamily="34" charset="0"/>
              </a:rPr>
              <a:t>input(</a:t>
            </a:r>
            <a:r>
              <a:rPr lang="en-US" altLang="zh-CN" sz="3200" dirty="0">
                <a:ea typeface="楷体" panose="02010609060101010101" pitchFamily="49" charset="-122"/>
                <a:cs typeface="Arial" panose="020B0604020202020204" pitchFamily="34" charset="0"/>
              </a:rPr>
              <a:t>'</a:t>
            </a:r>
            <a:r>
              <a:rPr lang="zh-CN" altLang="en-US" sz="3200" dirty="0">
                <a:ea typeface="楷体" panose="02010609060101010101" pitchFamily="49" charset="-122"/>
                <a:cs typeface="Arial" panose="020B0604020202020204" pitchFamily="34" charset="0"/>
              </a:rPr>
              <a:t>请输入你的年龄：</a:t>
            </a:r>
            <a:r>
              <a:rPr lang="en-US" altLang="zh-CN" sz="3200" dirty="0">
                <a:ea typeface="楷体" panose="02010609060101010101" pitchFamily="49" charset="-122"/>
                <a:cs typeface="Arial" panose="020B0604020202020204" pitchFamily="34" charset="0"/>
              </a:rPr>
              <a:t>'</a:t>
            </a:r>
            <a:r>
              <a:rPr lang="en-US" altLang="zh-CN" sz="3200" b="0" dirty="0">
                <a:ea typeface="楷体" panose="02010609060101010101" pitchFamily="49" charset="-122"/>
                <a:cs typeface="Arial" panose="020B0604020202020204" pitchFamily="34" charset="0"/>
              </a:rPr>
              <a:t>)</a:t>
            </a:r>
            <a:r>
              <a:rPr lang="en-US" altLang="zh-CN" sz="3200" dirty="0">
                <a:ea typeface="楷体" panose="02010609060101010101" pitchFamily="49" charset="-122"/>
                <a:cs typeface="Arial" panose="020B0604020202020204" pitchFamily="34" charset="0"/>
              </a:rPr>
              <a:t>)</a:t>
            </a:r>
            <a:endParaRPr lang="en-US" altLang="zh-CN" sz="3200" dirty="0"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87630" algn="l" defTabSz="987425"/>
            <a:r>
              <a:rPr lang="en-US" altLang="zh-CN" sz="3200" b="0" dirty="0">
                <a:ea typeface="楷体" panose="02010609060101010101" pitchFamily="49" charset="-122"/>
                <a:cs typeface="Arial" panose="020B0604020202020204" pitchFamily="34" charset="0"/>
              </a:rPr>
              <a:t>print(</a:t>
            </a:r>
            <a:r>
              <a:rPr lang="en-US" altLang="zh-CN" sz="3200" dirty="0">
                <a:ea typeface="楷体" panose="02010609060101010101" pitchFamily="49" charset="-122"/>
                <a:cs typeface="Arial" panose="020B0604020202020204" pitchFamily="34" charset="0"/>
              </a:rPr>
              <a:t>'</a:t>
            </a:r>
            <a:r>
              <a:rPr lang="zh-CN" altLang="en-US" sz="3200" dirty="0">
                <a:ea typeface="楷体" panose="02010609060101010101" pitchFamily="49" charset="-122"/>
                <a:cs typeface="Arial" panose="020B0604020202020204" pitchFamily="34" charset="0"/>
              </a:rPr>
              <a:t>你的出生年份为：</a:t>
            </a:r>
            <a:r>
              <a:rPr lang="en-US" altLang="zh-CN" sz="3200" dirty="0">
                <a:ea typeface="楷体" panose="02010609060101010101" pitchFamily="49" charset="-122"/>
                <a:cs typeface="Arial" panose="020B0604020202020204" pitchFamily="34" charset="0"/>
              </a:rPr>
              <a:t>'</a:t>
            </a:r>
            <a:r>
              <a:rPr lang="en-US" altLang="zh-CN" sz="3200" b="0" dirty="0">
                <a:ea typeface="楷体" panose="02010609060101010101" pitchFamily="49" charset="-122"/>
                <a:cs typeface="Arial" panose="020B0604020202020204" pitchFamily="34" charset="0"/>
              </a:rPr>
              <a:t>, 2023-age)</a:t>
            </a:r>
            <a:endParaRPr lang="zh-CN" altLang="en-US" sz="3200" dirty="0"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5" name="TextBox 6"/>
          <p:cNvSpPr txBox="1"/>
          <p:nvPr/>
        </p:nvSpPr>
        <p:spPr>
          <a:xfrm>
            <a:off x="1110343" y="2514024"/>
            <a:ext cx="7920880" cy="1077218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87630" algn="l" defTabSz="987425"/>
            <a:r>
              <a:rPr lang="en-US" altLang="zh-CN" sz="3200" b="0" dirty="0">
                <a:ea typeface="楷体" panose="02010609060101010101" pitchFamily="49" charset="-122"/>
                <a:cs typeface="Arial" panose="020B0604020202020204" pitchFamily="34" charset="0"/>
              </a:rPr>
              <a:t>name=</a:t>
            </a:r>
            <a:r>
              <a:rPr lang="en-US" altLang="zh-CN" sz="3200" b="0" dirty="0">
                <a:solidFill>
                  <a:srgbClr val="FF0000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input</a:t>
            </a:r>
            <a:r>
              <a:rPr lang="en-US" altLang="zh-CN" sz="3200" b="0" dirty="0">
                <a:ea typeface="楷体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en-US" altLang="zh-CN" sz="3200" dirty="0">
                <a:ea typeface="楷体" panose="02010609060101010101" pitchFamily="49" charset="-122"/>
                <a:cs typeface="Arial" panose="020B0604020202020204" pitchFamily="34" charset="0"/>
              </a:rPr>
              <a:t>'</a:t>
            </a:r>
            <a:r>
              <a:rPr lang="zh-CN" altLang="en-US" sz="3200" dirty="0">
                <a:ea typeface="楷体" panose="02010609060101010101" pitchFamily="49" charset="-122"/>
                <a:cs typeface="Arial" panose="020B0604020202020204" pitchFamily="34" charset="0"/>
              </a:rPr>
              <a:t>请输入你的姓名：</a:t>
            </a:r>
            <a:r>
              <a:rPr lang="en-US" altLang="zh-CN" sz="3200" dirty="0">
                <a:ea typeface="楷体" panose="02010609060101010101" pitchFamily="49" charset="-122"/>
                <a:cs typeface="Arial" panose="020B0604020202020204" pitchFamily="34" charset="0"/>
              </a:rPr>
              <a:t>'</a:t>
            </a:r>
            <a:r>
              <a:rPr lang="en-US" altLang="zh-CN" sz="3200" b="0" dirty="0">
                <a:ea typeface="楷体" panose="02010609060101010101" pitchFamily="49" charset="-122"/>
                <a:cs typeface="Arial" panose="020B0604020202020204" pitchFamily="34" charset="0"/>
              </a:rPr>
              <a:t>)</a:t>
            </a:r>
            <a:endParaRPr lang="en-US" altLang="zh-CN" sz="3200" b="0" dirty="0"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87630" algn="l" defTabSz="987425"/>
            <a:r>
              <a:rPr lang="en-US" altLang="zh-CN" sz="3200" b="0" dirty="0">
                <a:ea typeface="楷体" panose="02010609060101010101" pitchFamily="49" charset="-122"/>
                <a:cs typeface="Arial" panose="020B0604020202020204" pitchFamily="34" charset="0"/>
              </a:rPr>
              <a:t>print(</a:t>
            </a:r>
            <a:r>
              <a:rPr lang="en-US" altLang="zh-CN" sz="3200" dirty="0">
                <a:ea typeface="楷体" panose="02010609060101010101" pitchFamily="49" charset="-122"/>
                <a:cs typeface="Arial" panose="020B0604020202020204" pitchFamily="34" charset="0"/>
              </a:rPr>
              <a:t>'</a:t>
            </a:r>
            <a:r>
              <a:rPr lang="zh-CN" altLang="en-US" sz="3200" dirty="0">
                <a:ea typeface="楷体" panose="02010609060101010101" pitchFamily="49" charset="-122"/>
                <a:cs typeface="Arial" panose="020B0604020202020204" pitchFamily="34" charset="0"/>
              </a:rPr>
              <a:t>你的名字叫：</a:t>
            </a:r>
            <a:r>
              <a:rPr lang="en-US" altLang="zh-CN" sz="3200" dirty="0">
                <a:ea typeface="楷体" panose="02010609060101010101" pitchFamily="49" charset="-122"/>
                <a:cs typeface="Arial" panose="020B0604020202020204" pitchFamily="34" charset="0"/>
              </a:rPr>
              <a:t>'</a:t>
            </a:r>
            <a:r>
              <a:rPr lang="en-US" altLang="zh-CN" sz="3200" b="0" dirty="0">
                <a:ea typeface="楷体" panose="02010609060101010101" pitchFamily="49" charset="-122"/>
                <a:cs typeface="Arial" panose="020B0604020202020204" pitchFamily="34" charset="0"/>
              </a:rPr>
              <a:t>, name)</a:t>
            </a:r>
            <a:endParaRPr lang="zh-CN" altLang="en-US" sz="3200" dirty="0"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内容占位符 2"/>
          <p:cNvSpPr txBox="1"/>
          <p:nvPr/>
        </p:nvSpPr>
        <p:spPr>
          <a:xfrm>
            <a:off x="2223441" y="5578049"/>
            <a:ext cx="2753673" cy="127995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accent1"/>
              </a:buClr>
              <a:buNone/>
            </a:pPr>
            <a:r>
              <a:rPr lang="en-US" altLang="zh-CN" sz="3200" b="1" dirty="0">
                <a:solidFill>
                  <a:schemeClr val="accent1"/>
                </a:solidFill>
              </a:rPr>
              <a:t>int()</a:t>
            </a:r>
            <a:r>
              <a:rPr lang="zh-CN" altLang="en-US" sz="3200" dirty="0">
                <a:latin typeface="+mn-ea"/>
              </a:rPr>
              <a:t>函数</a:t>
            </a:r>
            <a:endParaRPr lang="en-US" altLang="zh-CN" sz="3200" dirty="0">
              <a:latin typeface="+mn-ea"/>
            </a:endParaRPr>
          </a:p>
          <a:p>
            <a:pPr marL="0" indent="0">
              <a:buClr>
                <a:schemeClr val="accent1"/>
              </a:buClr>
              <a:buNone/>
            </a:pPr>
            <a:r>
              <a:rPr lang="en-US" altLang="zh-CN" sz="3200" b="1" dirty="0">
                <a:solidFill>
                  <a:schemeClr val="accent1"/>
                </a:solidFill>
              </a:rPr>
              <a:t>float()</a:t>
            </a:r>
            <a:r>
              <a:rPr lang="zh-CN" altLang="en-US" sz="3200" dirty="0">
                <a:latin typeface="+mn-ea"/>
              </a:rPr>
              <a:t>函数</a:t>
            </a:r>
            <a:endParaRPr lang="en-US" altLang="zh-CN" sz="3200" dirty="0">
              <a:latin typeface="+mn-ea"/>
            </a:endParaRPr>
          </a:p>
          <a:p>
            <a:pPr marL="914400" lvl="2" indent="0">
              <a:buClr>
                <a:schemeClr val="accent1"/>
              </a:buClr>
              <a:buNone/>
            </a:pPr>
            <a:endParaRPr lang="en-US" altLang="zh-CN" sz="3200" dirty="0">
              <a:latin typeface="+mn-ea"/>
            </a:endParaRPr>
          </a:p>
          <a:p>
            <a:pPr marL="914400" lvl="2" indent="0">
              <a:buClr>
                <a:schemeClr val="accent1"/>
              </a:buClr>
              <a:buNone/>
            </a:pPr>
            <a:endParaRPr lang="en-US" altLang="zh-CN" sz="3200" dirty="0">
              <a:latin typeface="+mn-ea"/>
            </a:endParaRPr>
          </a:p>
          <a:p>
            <a:pPr marL="1168400" lvl="2" indent="0">
              <a:buClr>
                <a:schemeClr val="accent1"/>
              </a:buClr>
              <a:buNone/>
            </a:pPr>
            <a:endParaRPr lang="zh-CN" altLang="en-US" sz="3200" dirty="0">
              <a:latin typeface="+mn-ea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/>
          <p:nvPr/>
        </p:nvSpPr>
        <p:spPr>
          <a:xfrm>
            <a:off x="1110342" y="641578"/>
            <a:ext cx="11527972" cy="48245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en-US" altLang="zh-CN" sz="3200" b="1" dirty="0">
                <a:solidFill>
                  <a:schemeClr val="accent1"/>
                </a:solidFill>
                <a:latin typeface="+mn-ea"/>
              </a:rPr>
              <a:t>print()</a:t>
            </a:r>
            <a:r>
              <a:rPr lang="zh-CN" altLang="en-US" sz="3200" dirty="0">
                <a:latin typeface="+mn-ea"/>
              </a:rPr>
              <a:t>函数</a:t>
            </a:r>
            <a:endParaRPr lang="en-US" altLang="zh-CN" sz="3200" dirty="0">
              <a:latin typeface="+mn-ea"/>
            </a:endParaRPr>
          </a:p>
          <a:p>
            <a:pPr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zh-CN" altLang="en-US" sz="3200" dirty="0">
                <a:latin typeface="+mn-ea"/>
              </a:rPr>
              <a:t>格式：</a:t>
            </a:r>
            <a:r>
              <a:rPr lang="en-US" altLang="zh-CN" dirty="0">
                <a:latin typeface="+mn-ea"/>
              </a:rPr>
              <a:t>print(&lt;</a:t>
            </a:r>
            <a:r>
              <a:rPr lang="zh-CN" altLang="zh-CN" dirty="0">
                <a:latin typeface="+mn-ea"/>
              </a:rPr>
              <a:t>输出值</a:t>
            </a:r>
            <a:r>
              <a:rPr lang="en-US" altLang="zh-CN" dirty="0">
                <a:latin typeface="+mn-ea"/>
              </a:rPr>
              <a:t>1&gt;,&lt;</a:t>
            </a:r>
            <a:r>
              <a:rPr lang="zh-CN" altLang="zh-CN" dirty="0">
                <a:latin typeface="+mn-ea"/>
              </a:rPr>
              <a:t>输出值</a:t>
            </a:r>
            <a:r>
              <a:rPr lang="en-US" altLang="zh-CN" dirty="0">
                <a:latin typeface="+mn-ea"/>
              </a:rPr>
              <a:t>2&gt;, </a:t>
            </a:r>
            <a:r>
              <a:rPr lang="zh-CN" altLang="zh-CN" dirty="0">
                <a:latin typeface="+mn-ea"/>
              </a:rPr>
              <a:t>…</a:t>
            </a:r>
            <a:r>
              <a:rPr lang="en-US" altLang="zh-CN" dirty="0">
                <a:latin typeface="+mn-ea"/>
              </a:rPr>
              <a:t> , </a:t>
            </a:r>
            <a:r>
              <a:rPr lang="en-US" altLang="zh-CN" dirty="0" err="1">
                <a:latin typeface="+mn-ea"/>
              </a:rPr>
              <a:t>sep</a:t>
            </a:r>
            <a:r>
              <a:rPr lang="en-US" altLang="zh-CN" dirty="0">
                <a:latin typeface="+mn-ea"/>
              </a:rPr>
              <a:t>=</a:t>
            </a:r>
            <a:r>
              <a:rPr lang="en-US" altLang="zh-CN" b="1" dirty="0">
                <a:solidFill>
                  <a:srgbClr val="FF0000"/>
                </a:solidFill>
                <a:latin typeface="+mn-ea"/>
              </a:rPr>
              <a:t>' '</a:t>
            </a:r>
            <a:r>
              <a:rPr lang="en-US" altLang="zh-CN" dirty="0">
                <a:latin typeface="+mn-ea"/>
              </a:rPr>
              <a:t>, end=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'\n'</a:t>
            </a:r>
            <a:r>
              <a:rPr lang="en-US" altLang="zh-CN" dirty="0">
                <a:latin typeface="+mn-ea"/>
              </a:rPr>
              <a:t>)</a:t>
            </a:r>
            <a:endParaRPr lang="en-US" altLang="zh-CN" dirty="0">
              <a:latin typeface="+mn-ea"/>
            </a:endParaRPr>
          </a:p>
          <a:p>
            <a:pPr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zh-CN" altLang="en-US" sz="3200" dirty="0"/>
              <a:t>作用：</a:t>
            </a:r>
            <a:r>
              <a:rPr lang="zh-CN" altLang="en-US" sz="3200" dirty="0">
                <a:solidFill>
                  <a:srgbClr val="0000FF"/>
                </a:solidFill>
                <a:latin typeface="+mn-ea"/>
              </a:rPr>
              <a:t>打印输出</a:t>
            </a:r>
            <a:r>
              <a:rPr lang="zh-CN" altLang="en-US" sz="3200" dirty="0">
                <a:latin typeface="+mn-ea"/>
              </a:rPr>
              <a:t>括号中的内容</a:t>
            </a:r>
            <a:endParaRPr lang="en-US" altLang="zh-CN" sz="3200" dirty="0">
              <a:solidFill>
                <a:srgbClr val="00B050"/>
              </a:solidFill>
              <a:latin typeface="+mn-ea"/>
            </a:endParaRPr>
          </a:p>
          <a:p>
            <a:pPr lvl="2"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en-US" altLang="zh-CN" sz="3200" dirty="0">
              <a:latin typeface="+mn-ea"/>
            </a:endParaRPr>
          </a:p>
          <a:p>
            <a:pPr lvl="2"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en-US" altLang="zh-CN" sz="3200" dirty="0">
              <a:latin typeface="+mn-ea"/>
            </a:endParaRPr>
          </a:p>
          <a:p>
            <a:pPr lvl="2"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en-US" altLang="zh-CN" sz="3200" dirty="0">
              <a:latin typeface="+mn-ea"/>
            </a:endParaRPr>
          </a:p>
          <a:p>
            <a:pPr marL="1625600" lvl="2" indent="-457200"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zh-CN" altLang="en-US" sz="3200" dirty="0">
              <a:latin typeface="+mn-ea"/>
            </a:endParaRPr>
          </a:p>
        </p:txBody>
      </p:sp>
      <p:sp>
        <p:nvSpPr>
          <p:cNvPr id="3" name="TextBox 4"/>
          <p:cNvSpPr txBox="1"/>
          <p:nvPr/>
        </p:nvSpPr>
        <p:spPr>
          <a:xfrm>
            <a:off x="1997474" y="3133291"/>
            <a:ext cx="4882165" cy="584775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print('Hello World!')</a:t>
            </a:r>
            <a:endParaRPr lang="zh-CN" altLang="en-US" sz="3200" dirty="0"/>
          </a:p>
        </p:txBody>
      </p:sp>
      <p:sp>
        <p:nvSpPr>
          <p:cNvPr id="4" name="TextBox 5"/>
          <p:cNvSpPr txBox="1"/>
          <p:nvPr/>
        </p:nvSpPr>
        <p:spPr>
          <a:xfrm>
            <a:off x="1997472" y="2345397"/>
            <a:ext cx="49039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字符串用单</a:t>
            </a: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双引号括起来</a:t>
            </a:r>
            <a:endParaRPr lang="zh-CN" altLang="en-US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H="1">
            <a:off x="3063216" y="2766882"/>
            <a:ext cx="1051526" cy="38515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>
            <a:off x="4114742" y="2766882"/>
            <a:ext cx="1324738" cy="38515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4"/>
          <p:cNvSpPr txBox="1"/>
          <p:nvPr/>
        </p:nvSpPr>
        <p:spPr>
          <a:xfrm>
            <a:off x="7030754" y="3137014"/>
            <a:ext cx="4882165" cy="584775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print("</a:t>
            </a:r>
            <a:r>
              <a:rPr lang="en-US" altLang="zh-CN" sz="3200" dirty="0" err="1"/>
              <a:t>Hello","World</a:t>
            </a:r>
            <a:r>
              <a:rPr lang="en-US" altLang="zh-CN" sz="3200" dirty="0"/>
              <a:t>")</a:t>
            </a:r>
            <a:endParaRPr lang="zh-CN" altLang="en-US" sz="3200" dirty="0"/>
          </a:p>
        </p:txBody>
      </p:sp>
      <p:sp>
        <p:nvSpPr>
          <p:cNvPr id="10" name="TextBox 49"/>
          <p:cNvSpPr txBox="1"/>
          <p:nvPr/>
        </p:nvSpPr>
        <p:spPr>
          <a:xfrm>
            <a:off x="1997472" y="3921183"/>
            <a:ext cx="5256585" cy="584775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print("</a:t>
            </a:r>
            <a:r>
              <a:rPr lang="en-US" altLang="zh-CN" sz="3200" dirty="0" err="1"/>
              <a:t>abc</a:t>
            </a:r>
            <a:r>
              <a:rPr lang="en-US" altLang="zh-CN" sz="3200" dirty="0"/>
              <a:t>"*3)</a:t>
            </a:r>
            <a:endParaRPr lang="zh-CN" altLang="en-US" sz="3200" b="0" dirty="0"/>
          </a:p>
        </p:txBody>
      </p:sp>
      <p:sp>
        <p:nvSpPr>
          <p:cNvPr id="11" name="TextBox 49"/>
          <p:cNvSpPr txBox="1"/>
          <p:nvPr/>
        </p:nvSpPr>
        <p:spPr>
          <a:xfrm>
            <a:off x="1997472" y="4756924"/>
            <a:ext cx="5256585" cy="1569660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name="</a:t>
            </a:r>
            <a:r>
              <a:rPr lang="zh-CN" altLang="en-US" sz="3200" dirty="0"/>
              <a:t>张三</a:t>
            </a:r>
            <a:r>
              <a:rPr lang="en-US" altLang="zh-CN" sz="3200" dirty="0"/>
              <a:t>"</a:t>
            </a:r>
            <a:endParaRPr lang="en-US" altLang="zh-CN" sz="3200" dirty="0"/>
          </a:p>
          <a:p>
            <a:r>
              <a:rPr lang="en-US" altLang="zh-CN" sz="3200" dirty="0"/>
              <a:t>age=20</a:t>
            </a:r>
            <a:endParaRPr lang="en-US" altLang="zh-CN" sz="3200" dirty="0"/>
          </a:p>
          <a:p>
            <a:r>
              <a:rPr lang="en-US" altLang="zh-CN" sz="3200" dirty="0"/>
              <a:t>print("Hello",</a:t>
            </a:r>
            <a:r>
              <a:rPr lang="en-US" altLang="zh-CN" sz="3200" dirty="0" err="1"/>
              <a:t>name,age</a:t>
            </a:r>
            <a:r>
              <a:rPr lang="en-US" altLang="zh-CN" sz="3200" dirty="0"/>
              <a:t>)</a:t>
            </a:r>
            <a:endParaRPr lang="zh-CN" altLang="en-US" sz="3200" b="0" dirty="0"/>
          </a:p>
        </p:txBody>
      </p:sp>
      <p:sp>
        <p:nvSpPr>
          <p:cNvPr id="12" name="TextBox 49"/>
          <p:cNvSpPr txBox="1"/>
          <p:nvPr/>
        </p:nvSpPr>
        <p:spPr>
          <a:xfrm>
            <a:off x="7317894" y="4742558"/>
            <a:ext cx="4595026" cy="1569660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print("</a:t>
            </a:r>
            <a:r>
              <a:rPr lang="en-US" altLang="zh-CN" sz="3200" dirty="0" err="1"/>
              <a:t>Hello",end</a:t>
            </a:r>
            <a:r>
              <a:rPr lang="en-US" altLang="zh-CN" sz="3200" dirty="0"/>
              <a:t>='')</a:t>
            </a:r>
            <a:endParaRPr lang="en-US" altLang="zh-CN" sz="3200" dirty="0"/>
          </a:p>
          <a:p>
            <a:r>
              <a:rPr lang="en-US" altLang="zh-CN" sz="3200" dirty="0"/>
              <a:t>print("Hello")</a:t>
            </a:r>
            <a:endParaRPr lang="en-US" altLang="zh-CN" sz="3200" dirty="0"/>
          </a:p>
          <a:p>
            <a:r>
              <a:rPr lang="en-US" altLang="zh-CN" sz="3200" dirty="0"/>
              <a:t>print("</a:t>
            </a:r>
            <a:r>
              <a:rPr lang="en-US" altLang="zh-CN" sz="3200" dirty="0" err="1"/>
              <a:t>Hello",end</a:t>
            </a:r>
            <a:r>
              <a:rPr lang="en-US" altLang="zh-CN" sz="3200" dirty="0"/>
              <a:t>='')</a:t>
            </a:r>
            <a:endParaRPr lang="zh-CN" altLang="en-US" sz="3200" b="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/>
          <p:nvPr/>
        </p:nvSpPr>
        <p:spPr>
          <a:xfrm>
            <a:off x="1110342" y="641578"/>
            <a:ext cx="11527972" cy="48245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zh-CN" altLang="en-US" sz="3200" dirty="0">
                <a:latin typeface="+mn-ea"/>
              </a:rPr>
              <a:t>字符串的格式化</a:t>
            </a:r>
            <a:endParaRPr lang="en-US" altLang="zh-CN" sz="3200" dirty="0">
              <a:latin typeface="+mn-ea"/>
            </a:endParaRPr>
          </a:p>
          <a:p>
            <a:pPr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zh-CN" altLang="en-US" sz="3200" dirty="0">
                <a:latin typeface="+mn-ea"/>
              </a:rPr>
              <a:t>用</a:t>
            </a:r>
            <a:r>
              <a:rPr lang="en-US" altLang="zh-CN" sz="3200" dirty="0">
                <a:latin typeface="+mn-ea"/>
              </a:rPr>
              <a:t>%</a:t>
            </a:r>
            <a:r>
              <a:rPr lang="zh-CN" altLang="en-US" sz="3200" dirty="0">
                <a:latin typeface="+mn-ea"/>
              </a:rPr>
              <a:t>格式字符的一般形式是：</a:t>
            </a:r>
            <a:r>
              <a:rPr lang="en-US" altLang="zh-CN" sz="3200" dirty="0" err="1">
                <a:solidFill>
                  <a:srgbClr val="0000FF"/>
                </a:solidFill>
                <a:latin typeface="+mn-ea"/>
              </a:rPr>
              <a:t>format_string</a:t>
            </a:r>
            <a:r>
              <a:rPr lang="en-US" altLang="zh-CN" sz="3200" dirty="0">
                <a:solidFill>
                  <a:srgbClr val="0000FF"/>
                </a:solidFill>
                <a:latin typeface="+mn-ea"/>
              </a:rPr>
              <a:t> % obj</a:t>
            </a:r>
            <a:endParaRPr lang="en-US" altLang="zh-CN" sz="3200" dirty="0">
              <a:solidFill>
                <a:srgbClr val="0000FF"/>
              </a:solidFill>
              <a:latin typeface="+mn-ea"/>
            </a:endParaRPr>
          </a:p>
          <a:p>
            <a:pPr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zh-CN" altLang="en-US" sz="3200" dirty="0">
                <a:latin typeface="+mn-ea"/>
              </a:rPr>
              <a:t>作用：把对象</a:t>
            </a:r>
            <a:r>
              <a:rPr lang="en-US" altLang="zh-CN" sz="3200" dirty="0">
                <a:latin typeface="+mn-ea"/>
              </a:rPr>
              <a:t>obj</a:t>
            </a:r>
            <a:r>
              <a:rPr lang="zh-CN" altLang="en-US" sz="3200" dirty="0">
                <a:latin typeface="+mn-ea"/>
              </a:rPr>
              <a:t>按格式要求转换为字符串</a:t>
            </a:r>
            <a:r>
              <a:rPr lang="en-US" altLang="zh-CN" sz="3200" dirty="0">
                <a:latin typeface="+mn-ea"/>
              </a:rPr>
              <a:t>:</a:t>
            </a:r>
            <a:endParaRPr lang="en-US" altLang="zh-CN" sz="3200" dirty="0">
              <a:latin typeface="+mn-ea"/>
            </a:endParaRPr>
          </a:p>
          <a:p>
            <a:pPr lvl="2"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en-US" altLang="zh-CN" sz="3200" dirty="0">
              <a:latin typeface="+mn-ea"/>
            </a:endParaRPr>
          </a:p>
          <a:p>
            <a:pPr lvl="2"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en-US" altLang="zh-CN" sz="3200" dirty="0">
              <a:latin typeface="+mn-ea"/>
            </a:endParaRPr>
          </a:p>
          <a:p>
            <a:pPr lvl="2"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en-US" altLang="zh-CN" sz="3200" dirty="0">
              <a:latin typeface="+mn-ea"/>
            </a:endParaRPr>
          </a:p>
          <a:p>
            <a:pPr marL="1625600" lvl="2" indent="-457200"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zh-CN" altLang="en-US" sz="3200" dirty="0">
              <a:latin typeface="+mn-ea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1674760" y="3267124"/>
            <a:ext cx="7933442" cy="584775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Clr>
                <a:schemeClr val="accent1"/>
              </a:buClr>
              <a:buNone/>
            </a:pPr>
            <a:r>
              <a:rPr lang="en-US" altLang="zh-CN" sz="3200" dirty="0">
                <a:latin typeface="+mn-ea"/>
              </a:rPr>
              <a:t>print ("</a:t>
            </a:r>
            <a:r>
              <a:rPr lang="en-US" altLang="zh-CN" sz="3200" dirty="0">
                <a:solidFill>
                  <a:schemeClr val="accent1"/>
                </a:solidFill>
                <a:latin typeface="+mn-ea"/>
              </a:rPr>
              <a:t>%s</a:t>
            </a:r>
            <a:r>
              <a:rPr lang="zh-CN" altLang="en-US" sz="3200" dirty="0">
                <a:latin typeface="+mn-ea"/>
              </a:rPr>
              <a:t>的年龄是</a:t>
            </a:r>
            <a:r>
              <a:rPr lang="en-US" altLang="zh-CN" sz="3200" dirty="0">
                <a:solidFill>
                  <a:schemeClr val="accent1"/>
                </a:solidFill>
                <a:latin typeface="+mn-ea"/>
              </a:rPr>
              <a:t>%d</a:t>
            </a:r>
            <a:r>
              <a:rPr lang="en-US" altLang="zh-CN" sz="3200" dirty="0">
                <a:latin typeface="+mn-ea"/>
              </a:rPr>
              <a:t>" % ("</a:t>
            </a:r>
            <a:r>
              <a:rPr lang="zh-CN" altLang="en-US" sz="3200" dirty="0">
                <a:latin typeface="+mn-ea"/>
              </a:rPr>
              <a:t>张三</a:t>
            </a:r>
            <a:r>
              <a:rPr lang="en-US" altLang="zh-CN" sz="3200" dirty="0">
                <a:latin typeface="+mn-ea"/>
              </a:rPr>
              <a:t>",20))</a:t>
            </a:r>
            <a:endParaRPr lang="en-US" altLang="zh-CN" sz="3200" dirty="0">
              <a:solidFill>
                <a:srgbClr val="00B050"/>
              </a:solidFill>
              <a:latin typeface="+mn-ea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1674760" y="2493288"/>
            <a:ext cx="6729014" cy="584775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Clr>
                <a:schemeClr val="accent1"/>
              </a:buClr>
              <a:buNone/>
            </a:pPr>
            <a:r>
              <a:rPr lang="en-US" altLang="zh-CN" sz="3200" dirty="0">
                <a:latin typeface="+mn-ea"/>
              </a:rPr>
              <a:t>print ("</a:t>
            </a:r>
            <a:r>
              <a:rPr lang="zh-CN" altLang="en-US" sz="3200" dirty="0">
                <a:latin typeface="+mn-ea"/>
              </a:rPr>
              <a:t>我的名字是</a:t>
            </a:r>
            <a:r>
              <a:rPr lang="en-US" altLang="zh-CN" sz="3200" dirty="0">
                <a:solidFill>
                  <a:schemeClr val="accent1"/>
                </a:solidFill>
                <a:latin typeface="+mn-ea"/>
              </a:rPr>
              <a:t>%s</a:t>
            </a:r>
            <a:r>
              <a:rPr lang="en-US" altLang="zh-CN" sz="3200" dirty="0">
                <a:latin typeface="+mn-ea"/>
              </a:rPr>
              <a:t>" % "</a:t>
            </a:r>
            <a:r>
              <a:rPr lang="zh-CN" altLang="en-US" sz="3200" dirty="0">
                <a:latin typeface="+mn-ea"/>
              </a:rPr>
              <a:t>张三</a:t>
            </a:r>
            <a:r>
              <a:rPr lang="en-US" altLang="zh-CN" sz="3200" dirty="0">
                <a:latin typeface="+mn-ea"/>
              </a:rPr>
              <a:t>")</a:t>
            </a:r>
            <a:endParaRPr lang="en-US" altLang="zh-CN" sz="3200" dirty="0">
              <a:latin typeface="+mn-ea"/>
            </a:endParaRPr>
          </a:p>
        </p:txBody>
      </p:sp>
      <p:sp>
        <p:nvSpPr>
          <p:cNvPr id="10" name="TextBox 49"/>
          <p:cNvSpPr txBox="1"/>
          <p:nvPr/>
        </p:nvSpPr>
        <p:spPr>
          <a:xfrm>
            <a:off x="1674760" y="4044014"/>
            <a:ext cx="6870526" cy="1077218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buClr>
                <a:schemeClr val="accent1"/>
              </a:buClr>
            </a:pPr>
            <a:r>
              <a:rPr lang="en-US" altLang="zh-CN" sz="3200" dirty="0"/>
              <a:t>name="</a:t>
            </a:r>
            <a:r>
              <a:rPr lang="zh-CN" altLang="en-US" sz="3200" dirty="0"/>
              <a:t>张三</a:t>
            </a:r>
            <a:r>
              <a:rPr lang="en-US" altLang="zh-CN" sz="3200" dirty="0"/>
              <a:t>"</a:t>
            </a:r>
            <a:endParaRPr lang="en-US" altLang="zh-CN" sz="3200" dirty="0">
              <a:latin typeface="+mn-ea"/>
            </a:endParaRPr>
          </a:p>
          <a:p>
            <a:pPr>
              <a:buClr>
                <a:schemeClr val="accent1"/>
              </a:buClr>
            </a:pPr>
            <a:r>
              <a:rPr lang="en-US" altLang="zh-CN" sz="3200" dirty="0">
                <a:latin typeface="+mn-ea"/>
              </a:rPr>
              <a:t>print ("</a:t>
            </a:r>
            <a:r>
              <a:rPr lang="zh-CN" altLang="en-US" sz="3200" dirty="0">
                <a:latin typeface="+mn-ea"/>
              </a:rPr>
              <a:t>我的名字是</a:t>
            </a:r>
            <a:r>
              <a:rPr lang="en-US" altLang="zh-CN" sz="3200" dirty="0">
                <a:solidFill>
                  <a:schemeClr val="accent1"/>
                </a:solidFill>
                <a:latin typeface="+mn-ea"/>
              </a:rPr>
              <a:t>%s</a:t>
            </a:r>
            <a:r>
              <a:rPr lang="en-US" altLang="zh-CN" sz="3200" dirty="0">
                <a:latin typeface="+mn-ea"/>
              </a:rPr>
              <a:t>" % </a:t>
            </a:r>
            <a:r>
              <a:rPr lang="en-US" altLang="zh-CN" sz="3200" dirty="0"/>
              <a:t>name</a:t>
            </a:r>
            <a:r>
              <a:rPr lang="en-US" altLang="zh-CN" sz="3200" dirty="0">
                <a:latin typeface="+mn-ea"/>
              </a:rPr>
              <a:t>)</a:t>
            </a:r>
            <a:endParaRPr lang="en-US" altLang="zh-CN" sz="3200" dirty="0">
              <a:latin typeface="+mn-ea"/>
            </a:endParaRPr>
          </a:p>
        </p:txBody>
      </p:sp>
      <p:sp>
        <p:nvSpPr>
          <p:cNvPr id="11" name="TextBox 49"/>
          <p:cNvSpPr txBox="1"/>
          <p:nvPr/>
        </p:nvSpPr>
        <p:spPr>
          <a:xfrm>
            <a:off x="1674760" y="5240978"/>
            <a:ext cx="8496512" cy="1569660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name="</a:t>
            </a:r>
            <a:r>
              <a:rPr lang="zh-CN" altLang="en-US" sz="3200" dirty="0"/>
              <a:t>张三</a:t>
            </a:r>
            <a:r>
              <a:rPr lang="en-US" altLang="zh-CN" sz="3200" dirty="0"/>
              <a:t>"</a:t>
            </a:r>
            <a:endParaRPr lang="en-US" altLang="zh-CN" sz="3200" dirty="0"/>
          </a:p>
          <a:p>
            <a:r>
              <a:rPr lang="en-US" altLang="zh-CN" sz="3200" dirty="0"/>
              <a:t>score=86.345</a:t>
            </a:r>
            <a:endParaRPr lang="en-US" altLang="zh-CN" sz="3200" dirty="0"/>
          </a:p>
          <a:p>
            <a:pPr>
              <a:buClr>
                <a:schemeClr val="accent1"/>
              </a:buClr>
            </a:pPr>
            <a:r>
              <a:rPr lang="en-US" altLang="zh-CN" sz="3200" dirty="0">
                <a:latin typeface="+mn-ea"/>
              </a:rPr>
              <a:t>print ("</a:t>
            </a:r>
            <a:r>
              <a:rPr lang="en-US" altLang="zh-CN" sz="3200" b="1" dirty="0">
                <a:solidFill>
                  <a:schemeClr val="accent1"/>
                </a:solidFill>
                <a:latin typeface="+mn-ea"/>
              </a:rPr>
              <a:t>%s</a:t>
            </a:r>
            <a:r>
              <a:rPr lang="zh-CN" altLang="en-US" sz="3200" dirty="0">
                <a:latin typeface="+mn-ea"/>
              </a:rPr>
              <a:t>的成绩是</a:t>
            </a:r>
            <a:r>
              <a:rPr lang="en-US" altLang="zh-CN" sz="3200" b="1" dirty="0">
                <a:solidFill>
                  <a:schemeClr val="accent1"/>
                </a:solidFill>
                <a:latin typeface="+mn-ea"/>
              </a:rPr>
              <a:t>%.1f</a:t>
            </a:r>
            <a:r>
              <a:rPr lang="en-US" altLang="zh-CN" sz="3200" dirty="0">
                <a:latin typeface="+mn-ea"/>
              </a:rPr>
              <a:t>" % (name,</a:t>
            </a:r>
            <a:r>
              <a:rPr lang="en-US" altLang="zh-CN" sz="3200" dirty="0"/>
              <a:t> </a:t>
            </a:r>
            <a:r>
              <a:rPr lang="en-US" altLang="zh-CN" sz="3200" dirty="0">
                <a:latin typeface="+mn-ea"/>
              </a:rPr>
              <a:t>score))</a:t>
            </a:r>
            <a:endParaRPr lang="en-US" altLang="zh-CN" sz="3200" dirty="0">
              <a:solidFill>
                <a:srgbClr val="00B050"/>
              </a:solidFill>
              <a:latin typeface="+mn-ea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56" y="1490102"/>
            <a:ext cx="11982087" cy="5077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1"/>
          <p:cNvSpPr txBox="1"/>
          <p:nvPr/>
        </p:nvSpPr>
        <p:spPr>
          <a:xfrm>
            <a:off x="3775778" y="966882"/>
            <a:ext cx="36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常见格式字符见表</a:t>
            </a:r>
            <a:endParaRPr lang="zh-CN" altLang="en-US" sz="2800" b="1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/>
          <p:nvPr/>
        </p:nvSpPr>
        <p:spPr>
          <a:xfrm>
            <a:off x="3775778" y="966882"/>
            <a:ext cx="36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格式化辅助指令</a:t>
            </a:r>
            <a:endParaRPr lang="zh-CN" altLang="en-US" sz="2800" b="1" dirty="0"/>
          </a:p>
        </p:txBody>
      </p:sp>
      <p:sp>
        <p:nvSpPr>
          <p:cNvPr id="5" name="标题 1"/>
          <p:cNvSpPr txBox="1"/>
          <p:nvPr/>
        </p:nvSpPr>
        <p:spPr>
          <a:xfrm>
            <a:off x="3775778" y="2162842"/>
            <a:ext cx="2106234" cy="41062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21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6" t="45111" r="17490" b="8413"/>
          <a:stretch>
            <a:fillRect/>
          </a:stretch>
        </p:blipFill>
        <p:spPr bwMode="auto">
          <a:xfrm>
            <a:off x="0" y="1490102"/>
            <a:ext cx="12017829" cy="4336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2"/>
          <p:cNvSpPr txBox="1"/>
          <p:nvPr/>
        </p:nvSpPr>
        <p:spPr>
          <a:xfrm>
            <a:off x="466508" y="1882981"/>
            <a:ext cx="11867322" cy="28565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zh-CN" altLang="en-US" sz="3600" dirty="0">
                <a:latin typeface="+mn-ea"/>
              </a:rPr>
              <a:t> 顺序结构：自上而下依次执行各条语句；</a:t>
            </a:r>
            <a:endParaRPr lang="en-US" altLang="zh-CN" sz="3600" dirty="0">
              <a:latin typeface="+mn-ea"/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zh-CN" altLang="en-US" sz="3600" dirty="0">
                <a:latin typeface="+mn-ea"/>
              </a:rPr>
              <a:t> 选择</a:t>
            </a:r>
            <a:r>
              <a:rPr lang="en-US" altLang="zh-CN" sz="3600" dirty="0">
                <a:latin typeface="+mn-ea"/>
              </a:rPr>
              <a:t>/</a:t>
            </a:r>
            <a:r>
              <a:rPr lang="zh-CN" altLang="en-US" sz="3600" dirty="0">
                <a:latin typeface="+mn-ea"/>
              </a:rPr>
              <a:t>分支结构：</a:t>
            </a:r>
            <a:r>
              <a:rPr lang="zh-CN" altLang="en-US" sz="3600" dirty="0"/>
              <a:t>分支结构指程序根据不同的条件执行不同的分支语句；</a:t>
            </a:r>
            <a:r>
              <a:rPr lang="en-US" altLang="zh-CN" sz="3600" dirty="0">
                <a:latin typeface="+mn-ea"/>
              </a:rPr>
              <a:t>if</a:t>
            </a:r>
            <a:r>
              <a:rPr lang="zh-CN" altLang="en-US" sz="3600" dirty="0">
                <a:latin typeface="+mn-ea"/>
              </a:rPr>
              <a:t>语句，</a:t>
            </a:r>
            <a:r>
              <a:rPr lang="en-US" altLang="zh-CN" sz="3600" dirty="0">
                <a:latin typeface="+mn-ea"/>
              </a:rPr>
              <a:t>if-else</a:t>
            </a:r>
            <a:r>
              <a:rPr lang="zh-CN" altLang="en-US" sz="3600" dirty="0">
                <a:latin typeface="+mn-ea"/>
              </a:rPr>
              <a:t>语句，</a:t>
            </a:r>
            <a:r>
              <a:rPr lang="en-US" altLang="zh-CN" sz="3600" dirty="0">
                <a:latin typeface="+mn-ea"/>
              </a:rPr>
              <a:t>if-</a:t>
            </a:r>
            <a:r>
              <a:rPr lang="en-US" altLang="zh-CN" sz="3600" dirty="0" err="1">
                <a:latin typeface="+mn-ea"/>
              </a:rPr>
              <a:t>elif</a:t>
            </a:r>
            <a:r>
              <a:rPr lang="en-US" altLang="zh-CN" sz="3600" dirty="0">
                <a:latin typeface="+mn-ea"/>
              </a:rPr>
              <a:t>-else</a:t>
            </a:r>
            <a:r>
              <a:rPr lang="zh-CN" altLang="en-US" sz="3600" dirty="0">
                <a:latin typeface="+mn-ea"/>
              </a:rPr>
              <a:t>语句</a:t>
            </a:r>
            <a:endParaRPr lang="en-US" altLang="zh-CN" sz="3600" dirty="0">
              <a:latin typeface="+mn-ea"/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zh-CN" altLang="en-US" sz="3600" dirty="0">
                <a:latin typeface="+mn-ea"/>
              </a:rPr>
              <a:t> 循环结构：</a:t>
            </a:r>
            <a:r>
              <a:rPr lang="zh-CN" altLang="en-US" sz="3600" dirty="0"/>
              <a:t>循环结构指程序根据特定的条件重复执行语句；</a:t>
            </a:r>
            <a:r>
              <a:rPr lang="en-US" altLang="zh-CN" sz="3600" dirty="0">
                <a:latin typeface="+mn-ea"/>
              </a:rPr>
              <a:t>while</a:t>
            </a:r>
            <a:r>
              <a:rPr lang="zh-CN" altLang="en-US" sz="3600" dirty="0">
                <a:latin typeface="+mn-ea"/>
              </a:rPr>
              <a:t>循环，</a:t>
            </a:r>
            <a:r>
              <a:rPr lang="en-US" altLang="zh-CN" sz="3600" dirty="0">
                <a:latin typeface="+mn-ea"/>
              </a:rPr>
              <a:t>for</a:t>
            </a:r>
            <a:r>
              <a:rPr lang="zh-CN" altLang="en-US" sz="3600" dirty="0">
                <a:latin typeface="+mn-ea"/>
              </a:rPr>
              <a:t>循环</a:t>
            </a:r>
            <a:endParaRPr lang="zh-CN" altLang="en-US" sz="3600" dirty="0">
              <a:latin typeface="+mn-ea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110343" y="533345"/>
            <a:ext cx="9648537" cy="54008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500" b="1" dirty="0">
                <a:latin typeface="+mn-ea"/>
                <a:ea typeface="+mn-ea"/>
              </a:rPr>
              <a:t>程序设计的三种结构</a:t>
            </a:r>
            <a:endParaRPr lang="zh-CN" altLang="en-US" sz="4500" b="1" dirty="0"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70525" y="520343"/>
            <a:ext cx="4162293" cy="7017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</a:pPr>
            <a:r>
              <a:rPr lang="en-US" altLang="zh-CN" sz="4400" b="1" dirty="0">
                <a:latin typeface="+mn-ea"/>
                <a:cs typeface="+mj-cs"/>
              </a:rPr>
              <a:t>if-else</a:t>
            </a:r>
            <a:r>
              <a:rPr lang="zh-CN" altLang="en-US" sz="4400" b="1" dirty="0">
                <a:latin typeface="+mn-ea"/>
                <a:cs typeface="+mj-cs"/>
              </a:rPr>
              <a:t>分支结构</a:t>
            </a:r>
            <a:endParaRPr lang="en-US" altLang="zh-CN" sz="4400" b="1" dirty="0">
              <a:latin typeface="+mn-ea"/>
              <a:cs typeface="+mj-cs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96217" y="518765"/>
            <a:ext cx="680176" cy="711395"/>
            <a:chOff x="3820548" y="-894825"/>
            <a:chExt cx="1257690" cy="1257690"/>
          </a:xfrm>
        </p:grpSpPr>
        <p:sp>
          <p:nvSpPr>
            <p:cNvPr id="6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7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560438" y="1505775"/>
            <a:ext cx="3247734" cy="4247317"/>
          </a:xfrm>
          <a:prstGeom prst="rect">
            <a:avLst/>
          </a:prstGeom>
          <a:solidFill>
            <a:srgbClr val="6193D4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87630" defTabSz="987425">
              <a:defRPr sz="3000" b="0">
                <a:solidFill>
                  <a:schemeClr val="bg1"/>
                </a:solidFill>
                <a:ea typeface="楷体" panose="02010609060101010101" pitchFamily="49" charset="-122"/>
                <a:cs typeface="Arial" panose="020B0604020202020204" pitchFamily="34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  <a:ea typeface="+mn-ea"/>
              </a:rPr>
              <a:t>if   </a:t>
            </a:r>
            <a:r>
              <a:rPr lang="zh-CN" altLang="en-US" dirty="0">
                <a:latin typeface="+mn-ea"/>
                <a:ea typeface="+mn-ea"/>
              </a:rPr>
              <a:t>条件表达式</a:t>
            </a:r>
            <a:r>
              <a:rPr lang="en-US" altLang="zh-CN" dirty="0">
                <a:latin typeface="+mn-ea"/>
                <a:ea typeface="+mn-ea"/>
              </a:rPr>
              <a:t>1:</a:t>
            </a:r>
            <a:endParaRPr lang="zh-CN" altLang="en-US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  <a:ea typeface="+mn-ea"/>
              </a:rPr>
              <a:t>      语句组一</a:t>
            </a:r>
            <a:endParaRPr lang="zh-CN" altLang="en-US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+mn-ea"/>
                <a:ea typeface="+mn-ea"/>
              </a:rPr>
              <a:t>elif</a:t>
            </a:r>
            <a:r>
              <a:rPr lang="en-US" altLang="zh-CN" dirty="0">
                <a:latin typeface="+mn-ea"/>
                <a:ea typeface="+mn-ea"/>
              </a:rPr>
              <a:t> </a:t>
            </a:r>
            <a:r>
              <a:rPr lang="zh-CN" altLang="en-US" dirty="0">
                <a:latin typeface="+mn-ea"/>
                <a:ea typeface="+mn-ea"/>
              </a:rPr>
              <a:t>条件表达式</a:t>
            </a:r>
            <a:r>
              <a:rPr lang="en-US" altLang="zh-CN" dirty="0">
                <a:latin typeface="+mn-ea"/>
                <a:ea typeface="+mn-ea"/>
              </a:rPr>
              <a:t>2: </a:t>
            </a:r>
            <a:endParaRPr lang="en-US" altLang="zh-CN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  <a:ea typeface="+mn-ea"/>
              </a:rPr>
              <a:t>      语句组二</a:t>
            </a:r>
            <a:endParaRPr lang="zh-CN" altLang="en-US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  <a:ea typeface="+mn-ea"/>
              </a:rPr>
              <a:t>else:</a:t>
            </a:r>
            <a:endParaRPr lang="en-US" altLang="zh-CN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  <a:ea typeface="+mn-ea"/>
              </a:rPr>
              <a:t>      语句组三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3964364" y="1505775"/>
            <a:ext cx="7498082" cy="4131900"/>
          </a:xfrm>
          <a:prstGeom prst="rect">
            <a:avLst/>
          </a:prstGeom>
          <a:solidFill>
            <a:srgbClr val="6193D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87630" defTabSz="987425">
              <a:lnSpc>
                <a:spcPct val="125000"/>
              </a:lnSpc>
            </a:pPr>
            <a:r>
              <a:rPr lang="zh-CN" altLang="en-US" sz="3000" dirty="0">
                <a:solidFill>
                  <a:srgbClr val="C00000"/>
                </a:solidFill>
                <a:latin typeface="+mn-ea"/>
                <a:cs typeface="Arial" panose="020B0604020202020204" pitchFamily="34" charset="0"/>
              </a:rPr>
              <a:t>例：  </a:t>
            </a:r>
            <a:r>
              <a:rPr lang="en-US" altLang="zh-CN" sz="30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score=float(input("</a:t>
            </a:r>
            <a:r>
              <a:rPr lang="zh-CN" altLang="en-US" sz="30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请输入成绩：</a:t>
            </a:r>
            <a:r>
              <a:rPr lang="en-US" altLang="zh-CN" sz="30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"))</a:t>
            </a:r>
            <a:endParaRPr lang="en-US" altLang="zh-CN" sz="30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marL="87630" defTabSz="987425">
              <a:lnSpc>
                <a:spcPct val="125000"/>
              </a:lnSpc>
            </a:pPr>
            <a:r>
              <a:rPr lang="en-US" altLang="zh-CN" sz="30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         if </a:t>
            </a:r>
            <a:r>
              <a:rPr lang="en-US" altLang="zh-CN" sz="3000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score&gt;=85:</a:t>
            </a:r>
            <a:endParaRPr lang="en-US" altLang="zh-CN" sz="3000" dirty="0">
              <a:solidFill>
                <a:srgbClr val="FF0000"/>
              </a:solidFill>
              <a:latin typeface="+mn-ea"/>
              <a:cs typeface="Arial" panose="020B0604020202020204" pitchFamily="34" charset="0"/>
            </a:endParaRPr>
          </a:p>
          <a:p>
            <a:pPr marL="87630" defTabSz="987425">
              <a:lnSpc>
                <a:spcPct val="125000"/>
              </a:lnSpc>
            </a:pPr>
            <a:r>
              <a:rPr lang="en-US" altLang="zh-CN" sz="30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             print("%.1f</a:t>
            </a:r>
            <a:r>
              <a:rPr lang="zh-CN" altLang="en-US" sz="30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分，成绩优</a:t>
            </a:r>
            <a:r>
              <a:rPr lang="en-US" altLang="zh-CN" sz="30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" % score)</a:t>
            </a:r>
            <a:endParaRPr lang="en-US" altLang="zh-CN" sz="30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marL="87630" defTabSz="987425">
              <a:lnSpc>
                <a:spcPct val="125000"/>
              </a:lnSpc>
            </a:pPr>
            <a:r>
              <a:rPr lang="en-US" altLang="zh-CN" sz="30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         </a:t>
            </a:r>
            <a:r>
              <a:rPr lang="en-US" altLang="zh-CN" sz="3000" dirty="0" err="1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elif</a:t>
            </a:r>
            <a:r>
              <a:rPr lang="en-US" altLang="zh-CN" sz="30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score&gt;=60:</a:t>
            </a:r>
            <a:endParaRPr lang="en-US" altLang="zh-CN" sz="3000" dirty="0">
              <a:solidFill>
                <a:srgbClr val="FF0000"/>
              </a:solidFill>
              <a:latin typeface="+mn-ea"/>
              <a:cs typeface="Arial" panose="020B0604020202020204" pitchFamily="34" charset="0"/>
            </a:endParaRPr>
          </a:p>
          <a:p>
            <a:pPr marL="87630" defTabSz="987425">
              <a:lnSpc>
                <a:spcPct val="125000"/>
              </a:lnSpc>
            </a:pPr>
            <a:r>
              <a:rPr lang="en-US" altLang="zh-CN" sz="30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             print("%.1f</a:t>
            </a:r>
            <a:r>
              <a:rPr lang="zh-CN" altLang="en-US" sz="30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分，已及格</a:t>
            </a:r>
            <a:r>
              <a:rPr lang="en-US" altLang="zh-CN" sz="30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" % score)</a:t>
            </a:r>
            <a:endParaRPr lang="en-US" altLang="zh-CN" sz="30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marL="87630" defTabSz="987425">
              <a:lnSpc>
                <a:spcPct val="125000"/>
              </a:lnSpc>
            </a:pPr>
            <a:r>
              <a:rPr lang="en-US" altLang="zh-CN" sz="30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         else</a:t>
            </a:r>
            <a:r>
              <a:rPr lang="en-US" altLang="zh-CN" sz="3000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:</a:t>
            </a:r>
            <a:endParaRPr lang="en-US" altLang="zh-CN" sz="3000" dirty="0">
              <a:solidFill>
                <a:srgbClr val="FF0000"/>
              </a:solidFill>
              <a:latin typeface="+mn-ea"/>
              <a:cs typeface="Arial" panose="020B0604020202020204" pitchFamily="34" charset="0"/>
            </a:endParaRPr>
          </a:p>
          <a:p>
            <a:pPr marL="87630" defTabSz="987425">
              <a:lnSpc>
                <a:spcPct val="125000"/>
              </a:lnSpc>
            </a:pPr>
            <a:r>
              <a:rPr lang="en-US" altLang="zh-CN" sz="30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             print("%.1f</a:t>
            </a:r>
            <a:r>
              <a:rPr lang="zh-CN" altLang="en-US" sz="30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分，不及格</a:t>
            </a:r>
            <a:r>
              <a:rPr lang="en-US" altLang="zh-CN" sz="30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" % score)</a:t>
            </a:r>
            <a:endParaRPr lang="en-US" altLang="zh-CN" sz="30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" y="5780782"/>
            <a:ext cx="12192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zh-CN" altLang="en-US" sz="3200" b="1" dirty="0">
                <a:solidFill>
                  <a:srgbClr val="FF0000"/>
                </a:solidFill>
              </a:rPr>
              <a:t>条件</a:t>
            </a:r>
            <a:r>
              <a:rPr lang="zh-CN" altLang="zh-CN" sz="3200" b="1" dirty="0">
                <a:solidFill>
                  <a:srgbClr val="FF0000"/>
                </a:solidFill>
              </a:rPr>
              <a:t>表达式</a:t>
            </a:r>
            <a:r>
              <a:rPr lang="zh-CN" altLang="zh-CN" sz="3200" b="1" dirty="0"/>
              <a:t>可以是</a:t>
            </a:r>
            <a:r>
              <a:rPr lang="zh-CN" altLang="zh-CN" sz="3200" b="1" dirty="0">
                <a:solidFill>
                  <a:srgbClr val="FF0000"/>
                </a:solidFill>
              </a:rPr>
              <a:t>任意类型</a:t>
            </a:r>
            <a:r>
              <a:rPr lang="zh-CN" altLang="zh-CN" sz="3200" dirty="0"/>
              <a:t>，如</a:t>
            </a:r>
            <a:r>
              <a:rPr lang="en-US" altLang="zh-CN" sz="3200" dirty="0"/>
              <a:t>5&gt;3</a:t>
            </a:r>
            <a:r>
              <a:rPr lang="zh-CN" altLang="zh-CN" sz="3200" dirty="0"/>
              <a:t>，</a:t>
            </a:r>
            <a:r>
              <a:rPr lang="en-US" altLang="zh-CN" sz="3200" dirty="0"/>
              <a:t>x==y</a:t>
            </a:r>
            <a:r>
              <a:rPr lang="zh-CN" altLang="zh-CN" sz="3200" dirty="0"/>
              <a:t>，</a:t>
            </a:r>
            <a:r>
              <a:rPr lang="en-US" altLang="zh-CN" sz="3200" dirty="0"/>
              <a:t>x and y&gt;z</a:t>
            </a:r>
            <a:r>
              <a:rPr lang="zh-CN" altLang="zh-CN" sz="3200" dirty="0"/>
              <a:t>，</a:t>
            </a:r>
            <a:r>
              <a:rPr lang="en-US" altLang="zh-CN" sz="3200" dirty="0"/>
              <a:t>3</a:t>
            </a:r>
            <a:r>
              <a:rPr lang="zh-CN" altLang="zh-CN" sz="3200" dirty="0"/>
              <a:t>，</a:t>
            </a:r>
            <a:r>
              <a:rPr lang="en-US" altLang="zh-CN" sz="3200" dirty="0"/>
              <a:t>0</a:t>
            </a:r>
            <a:r>
              <a:rPr lang="zh-CN" altLang="zh-CN" sz="3200" dirty="0"/>
              <a:t>等。其中，</a:t>
            </a:r>
            <a:r>
              <a:rPr lang="zh-CN" altLang="en-US" sz="3200" dirty="0"/>
              <a:t>非</a:t>
            </a:r>
            <a:r>
              <a:rPr lang="en-US" altLang="zh-CN" sz="3200" dirty="0"/>
              <a:t>0</a:t>
            </a:r>
            <a:r>
              <a:rPr lang="zh-CN" altLang="en-US" sz="3200" dirty="0"/>
              <a:t>（如：</a:t>
            </a:r>
            <a:r>
              <a:rPr lang="en-US" altLang="zh-CN" sz="3200" dirty="0"/>
              <a:t> 3 </a:t>
            </a:r>
            <a:r>
              <a:rPr lang="zh-CN" altLang="en-US" sz="3200" dirty="0"/>
              <a:t>）</a:t>
            </a:r>
            <a:r>
              <a:rPr lang="zh-CN" altLang="zh-CN" sz="3200" dirty="0"/>
              <a:t>表示恒真（即</a:t>
            </a:r>
            <a:r>
              <a:rPr lang="en-US" altLang="zh-CN" sz="3200" dirty="0"/>
              <a:t>True</a:t>
            </a:r>
            <a:r>
              <a:rPr lang="zh-CN" altLang="zh-CN" sz="3200" dirty="0"/>
              <a:t>），而</a:t>
            </a:r>
            <a:r>
              <a:rPr lang="en-US" altLang="zh-CN" sz="3200" dirty="0"/>
              <a:t>0</a:t>
            </a:r>
            <a:r>
              <a:rPr lang="zh-CN" altLang="zh-CN" sz="3200" dirty="0"/>
              <a:t>表示恒假（即</a:t>
            </a:r>
            <a:r>
              <a:rPr lang="en-US" altLang="zh-CN" sz="3200" dirty="0"/>
              <a:t>False</a:t>
            </a:r>
            <a:r>
              <a:rPr lang="zh-CN" altLang="zh-CN" sz="3200" dirty="0"/>
              <a:t>）</a:t>
            </a:r>
            <a:endParaRPr lang="zh-CN" altLang="zh-CN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build="p"/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2"/>
          <p:cNvSpPr txBox="1"/>
          <p:nvPr/>
        </p:nvSpPr>
        <p:spPr>
          <a:xfrm>
            <a:off x="1089404" y="607801"/>
            <a:ext cx="10906666" cy="48245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zh-CN" altLang="en-US" sz="3600" dirty="0"/>
              <a:t>例：数值成绩等级转换</a:t>
            </a:r>
            <a:r>
              <a:rPr lang="zh-CN" altLang="en-US" dirty="0"/>
              <a:t>。</a:t>
            </a:r>
            <a:endParaRPr lang="zh-CN" altLang="en-US" dirty="0"/>
          </a:p>
          <a:p>
            <a:pPr>
              <a:buClr>
                <a:schemeClr val="accent1"/>
              </a:buClr>
              <a:buFont typeface="Wingdings" panose="05000000000000000000" pitchFamily="2" charset="2"/>
              <a:buChar char="u"/>
            </a:pPr>
            <a:endParaRPr lang="zh-CN" altLang="en-US" sz="3600" dirty="0"/>
          </a:p>
        </p:txBody>
      </p:sp>
      <p:sp>
        <p:nvSpPr>
          <p:cNvPr id="8" name="内容占位符 2"/>
          <p:cNvSpPr txBox="1"/>
          <p:nvPr/>
        </p:nvSpPr>
        <p:spPr>
          <a:xfrm>
            <a:off x="791028" y="1107576"/>
            <a:ext cx="10589343" cy="48245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000"/>
              </a:spcBef>
              <a:buNone/>
            </a:pPr>
            <a:endParaRPr lang="zh-CN" altLang="en-US" sz="2800" dirty="0"/>
          </a:p>
        </p:txBody>
      </p:sp>
      <p:sp>
        <p:nvSpPr>
          <p:cNvPr id="9" name="TextBox 5"/>
          <p:cNvSpPr txBox="1"/>
          <p:nvPr/>
        </p:nvSpPr>
        <p:spPr>
          <a:xfrm>
            <a:off x="6085699" y="1425663"/>
            <a:ext cx="5449169" cy="4701865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x=float(input("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请输入成绩：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"))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 x&gt;=85: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print("%f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分，成绩优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% x)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x&gt;=70: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print(" %f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分，成绩良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% x)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x&gt;=60: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print("%f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分，已及格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% x)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else: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print("%f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分，不及格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% x)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74549" y="1659225"/>
            <a:ext cx="6781800" cy="28029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kumimoji="0" lang="zh-CN" altLang="en-US" sz="3200" dirty="0"/>
              <a:t>　　　 优         </a:t>
            </a:r>
            <a:r>
              <a:rPr kumimoji="0" lang="en-US" altLang="zh-CN" sz="3200" dirty="0"/>
              <a:t>(85=&lt;x&lt;100)</a:t>
            </a:r>
            <a:endParaRPr kumimoji="0" lang="en-US" altLang="zh-CN" sz="3200" dirty="0"/>
          </a:p>
          <a:p>
            <a:pPr eaLnBrk="1" hangingPunct="1">
              <a:spcBef>
                <a:spcPct val="5000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kumimoji="0" lang="zh-CN" altLang="en-US" sz="3200" dirty="0"/>
              <a:t>等级</a:t>
            </a:r>
            <a:r>
              <a:rPr kumimoji="0" lang="en-US" altLang="zh-CN" sz="3200" dirty="0"/>
              <a:t>=  </a:t>
            </a:r>
            <a:r>
              <a:rPr kumimoji="0" lang="zh-CN" altLang="en-US" sz="3200" dirty="0"/>
              <a:t>良         </a:t>
            </a:r>
            <a:r>
              <a:rPr kumimoji="0" lang="en-US" altLang="zh-CN" sz="3200" dirty="0"/>
              <a:t>(70=&lt;x&lt;85)</a:t>
            </a:r>
            <a:endParaRPr kumimoji="0" lang="en-US" altLang="zh-CN" sz="3200" dirty="0"/>
          </a:p>
          <a:p>
            <a:pPr eaLnBrk="1" hangingPunct="1">
              <a:spcBef>
                <a:spcPct val="5000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en-US" sz="3200" dirty="0"/>
              <a:t>            及格      </a:t>
            </a:r>
            <a:r>
              <a:rPr kumimoji="0" lang="en-US" altLang="zh-CN" sz="3200" dirty="0"/>
              <a:t>(60=&lt;x&lt;70)</a:t>
            </a:r>
            <a:endParaRPr kumimoji="0" lang="en-US" altLang="zh-CN" sz="3200" dirty="0"/>
          </a:p>
          <a:p>
            <a:pPr>
              <a:spcBef>
                <a:spcPct val="50000"/>
              </a:spcBef>
              <a:buClr>
                <a:schemeClr val="accent1"/>
              </a:buClr>
            </a:pPr>
            <a:r>
              <a:rPr kumimoji="0" lang="zh-CN" altLang="en-US" sz="3200" dirty="0"/>
              <a:t>            不及格   </a:t>
            </a:r>
            <a:r>
              <a:rPr kumimoji="0" lang="en-US" altLang="zh-CN" sz="3200" dirty="0"/>
              <a:t>(x&lt;60)</a:t>
            </a:r>
            <a:endParaRPr kumimoji="0" lang="en-US" altLang="zh-CN" sz="3200" dirty="0"/>
          </a:p>
        </p:txBody>
      </p:sp>
      <p:sp>
        <p:nvSpPr>
          <p:cNvPr id="11" name="AutoShape 5"/>
          <p:cNvSpPr/>
          <p:nvPr/>
        </p:nvSpPr>
        <p:spPr bwMode="auto">
          <a:xfrm>
            <a:off x="1534885" y="1811800"/>
            <a:ext cx="69173" cy="2478314"/>
          </a:xfrm>
          <a:prstGeom prst="leftBrace">
            <a:avLst>
              <a:gd name="adj1" fmla="val 53689"/>
              <a:gd name="adj2" fmla="val 50000"/>
            </a:avLst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8"/>
          <p:cNvSpPr txBox="1"/>
          <p:nvPr/>
        </p:nvSpPr>
        <p:spPr>
          <a:xfrm>
            <a:off x="2715013" y="5520317"/>
            <a:ext cx="5869160" cy="5847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zh-CN" altLang="en-US" sz="32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86042" y="481752"/>
            <a:ext cx="4293163" cy="757130"/>
          </a:xfrm>
          <a:prstGeom prst="rect">
            <a:avLst/>
          </a:prstGeom>
        </p:spPr>
        <p:txBody>
          <a:bodyPr/>
          <a:lstStyle/>
          <a:p>
            <a:pPr defTabSz="914400">
              <a:lnSpc>
                <a:spcPct val="90000"/>
              </a:lnSpc>
              <a:spcBef>
                <a:spcPct val="0"/>
              </a:spcBef>
            </a:pPr>
            <a:r>
              <a:rPr lang="en-US" altLang="zh-CN" sz="4800" b="1" dirty="0">
                <a:latin typeface="+mn-ea"/>
                <a:cs typeface="+mj-cs"/>
              </a:rPr>
              <a:t>while</a:t>
            </a:r>
            <a:r>
              <a:rPr lang="zh-CN" altLang="en-US" sz="4800" b="1" dirty="0">
                <a:latin typeface="+mn-ea"/>
                <a:cs typeface="+mj-cs"/>
              </a:rPr>
              <a:t>循环</a:t>
            </a:r>
            <a:endParaRPr lang="en-US" altLang="zh-CN" sz="4800" b="1" dirty="0">
              <a:latin typeface="+mn-ea"/>
              <a:cs typeface="+mj-cs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296217" y="518765"/>
            <a:ext cx="680176" cy="711395"/>
            <a:chOff x="3820548" y="-894825"/>
            <a:chExt cx="1257690" cy="1257690"/>
          </a:xfrm>
        </p:grpSpPr>
        <p:sp>
          <p:nvSpPr>
            <p:cNvPr id="14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15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2155878" y="3271368"/>
            <a:ext cx="7880244" cy="3473195"/>
          </a:xfrm>
          <a:prstGeom prst="rect">
            <a:avLst/>
          </a:prstGeom>
          <a:solidFill>
            <a:srgbClr val="6193D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87630" defTabSz="987425">
              <a:lnSpc>
                <a:spcPct val="150000"/>
              </a:lnSpc>
            </a:pPr>
            <a:r>
              <a:rPr lang="zh-CN" altLang="en-US" sz="3000" dirty="0">
                <a:solidFill>
                  <a:srgbClr val="C00000"/>
                </a:solidFill>
                <a:latin typeface="+mn-ea"/>
                <a:cs typeface="Arial" panose="020B0604020202020204" pitchFamily="34" charset="0"/>
              </a:rPr>
              <a:t>例：</a:t>
            </a:r>
            <a:endParaRPr lang="en-US" altLang="zh-CN" sz="3000" dirty="0">
              <a:solidFill>
                <a:srgbClr val="C00000"/>
              </a:solidFill>
              <a:latin typeface="+mn-ea"/>
              <a:cs typeface="Arial" panose="020B0604020202020204" pitchFamily="34" charset="0"/>
            </a:endParaRPr>
          </a:p>
          <a:p>
            <a:pPr marL="87630" defTabSz="987425">
              <a:lnSpc>
                <a:spcPct val="150000"/>
              </a:lnSpc>
            </a:pPr>
            <a:r>
              <a:rPr lang="en-US" altLang="zh-CN" sz="30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time=8</a:t>
            </a:r>
            <a:endParaRPr lang="en-US" altLang="zh-CN" sz="30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marL="87630" defTabSz="987425">
              <a:lnSpc>
                <a:spcPct val="150000"/>
              </a:lnSpc>
            </a:pPr>
            <a:r>
              <a:rPr lang="en-US" altLang="zh-CN" sz="30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while time&lt;12:</a:t>
            </a:r>
            <a:endParaRPr lang="en-US" altLang="zh-CN" sz="30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marL="87630" defTabSz="987425">
              <a:lnSpc>
                <a:spcPct val="150000"/>
              </a:lnSpc>
            </a:pPr>
            <a:r>
              <a:rPr lang="en-US" altLang="zh-CN" sz="30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    print("Doing </a:t>
            </a:r>
            <a:r>
              <a:rPr lang="en-US" altLang="zh-CN" sz="3000" dirty="0" err="1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homework",end</a:t>
            </a:r>
            <a:r>
              <a:rPr lang="en-US" altLang="zh-CN" sz="300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=',')</a:t>
            </a:r>
            <a:endParaRPr lang="en-US" altLang="zh-CN" sz="30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marL="87630" defTabSz="987425">
              <a:lnSpc>
                <a:spcPct val="150000"/>
              </a:lnSpc>
            </a:pPr>
            <a:r>
              <a:rPr lang="en-US" altLang="zh-CN" sz="3000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    time=time+1</a:t>
            </a:r>
            <a:endParaRPr lang="en-US" altLang="zh-CN" sz="3000" dirty="0">
              <a:solidFill>
                <a:srgbClr val="FF0000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 bwMode="auto">
          <a:xfrm>
            <a:off x="4218530" y="1733273"/>
            <a:ext cx="4038600" cy="1477328"/>
          </a:xfrm>
          <a:prstGeom prst="rect">
            <a:avLst/>
          </a:prstGeom>
          <a:solidFill>
            <a:srgbClr val="6193D4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87630" defTabSz="987425">
              <a:lnSpc>
                <a:spcPct val="150000"/>
              </a:lnSpc>
              <a:defRPr sz="3000" b="0">
                <a:solidFill>
                  <a:schemeClr val="bg1"/>
                </a:solidFill>
                <a:latin typeface="+mn-ea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    while </a:t>
            </a:r>
            <a:r>
              <a:rPr lang="zh-CN" altLang="en-US" dirty="0"/>
              <a:t>条件表达式： </a:t>
            </a:r>
            <a:endParaRPr lang="en-US" altLang="zh-CN" dirty="0"/>
          </a:p>
          <a:p>
            <a:r>
              <a:rPr lang="en-US" altLang="zh-CN" dirty="0"/>
              <a:t>           </a:t>
            </a:r>
            <a:r>
              <a:rPr lang="zh-CN" altLang="en-US" dirty="0"/>
              <a:t>语句组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 build="p"/>
      <p:bldP spid="17" grpId="0" animBg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"/>
          <p:cNvSpPr txBox="1"/>
          <p:nvPr/>
        </p:nvSpPr>
        <p:spPr>
          <a:xfrm>
            <a:off x="893214" y="537546"/>
            <a:ext cx="4873405" cy="86147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800" b="1" dirty="0">
                <a:latin typeface="+mn-ea"/>
                <a:ea typeface="+mn-ea"/>
              </a:rPr>
              <a:t>for</a:t>
            </a:r>
            <a:r>
              <a:rPr lang="zh-CN" altLang="en-US" sz="4800" b="1" dirty="0">
                <a:latin typeface="+mn-ea"/>
                <a:ea typeface="+mn-ea"/>
              </a:rPr>
              <a:t>循环</a:t>
            </a:r>
            <a:endParaRPr lang="zh-CN" altLang="en-US" sz="4800" b="1" dirty="0">
              <a:latin typeface="+mn-ea"/>
              <a:ea typeface="+mn-ea"/>
            </a:endParaRPr>
          </a:p>
        </p:txBody>
      </p:sp>
      <p:sp>
        <p:nvSpPr>
          <p:cNvPr id="10" name="内容占位符 2"/>
          <p:cNvSpPr txBox="1"/>
          <p:nvPr/>
        </p:nvSpPr>
        <p:spPr>
          <a:xfrm>
            <a:off x="676326" y="1319031"/>
            <a:ext cx="10980642" cy="15094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50000"/>
              </a:lnSpc>
            </a:pPr>
            <a:r>
              <a:rPr lang="zh-CN" altLang="en-US" sz="2800" dirty="0">
                <a:latin typeface="+mn-ea"/>
              </a:rPr>
              <a:t>将</a:t>
            </a:r>
            <a:r>
              <a:rPr lang="en-US" altLang="zh-CN" sz="2800" b="1" dirty="0">
                <a:solidFill>
                  <a:srgbClr val="C00000"/>
                </a:solidFill>
                <a:latin typeface="+mn-ea"/>
              </a:rPr>
              <a:t>L</a:t>
            </a:r>
            <a:r>
              <a:rPr lang="zh-CN" altLang="en-US" sz="2800" dirty="0">
                <a:latin typeface="+mn-ea"/>
              </a:rPr>
              <a:t>中的元素依次取出赋给</a:t>
            </a:r>
            <a:r>
              <a:rPr lang="en-US" altLang="zh-CN" sz="2800" b="1" dirty="0">
                <a:solidFill>
                  <a:srgbClr val="C00000"/>
                </a:solidFill>
                <a:latin typeface="+mn-ea"/>
              </a:rPr>
              <a:t>x</a:t>
            </a:r>
            <a:r>
              <a:rPr lang="zh-CN" altLang="en-US" sz="2800" dirty="0">
                <a:latin typeface="+mn-ea"/>
              </a:rPr>
              <a:t>，每取一个元素，执行一次循环体</a:t>
            </a:r>
            <a:endParaRPr lang="en-US" altLang="zh-CN" sz="2800" dirty="0">
              <a:latin typeface="+mn-ea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676326" y="2270131"/>
            <a:ext cx="8501122" cy="86147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dirty="0"/>
          </a:p>
        </p:txBody>
      </p:sp>
      <p:sp>
        <p:nvSpPr>
          <p:cNvPr id="14" name="内容占位符 2"/>
          <p:cNvSpPr txBox="1"/>
          <p:nvPr/>
        </p:nvSpPr>
        <p:spPr>
          <a:xfrm>
            <a:off x="1651819" y="2828460"/>
            <a:ext cx="8229600" cy="48245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  <a:p>
            <a:pPr lvl="1"/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</p:txBody>
      </p:sp>
      <p:sp>
        <p:nvSpPr>
          <p:cNvPr id="15" name="TextBox 5"/>
          <p:cNvSpPr txBox="1"/>
          <p:nvPr/>
        </p:nvSpPr>
        <p:spPr>
          <a:xfrm>
            <a:off x="3033067" y="2700866"/>
            <a:ext cx="3852936" cy="3317383"/>
          </a:xfrm>
          <a:prstGeom prst="rect">
            <a:avLst/>
          </a:prstGeom>
          <a:solidFill>
            <a:srgbClr val="6193D4"/>
          </a:solidFill>
          <a:ln>
            <a:noFill/>
            <a:prstDash val="lgDash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ts val="3500"/>
              </a:lnSpc>
              <a:defRPr sz="3600" b="0">
                <a:solidFill>
                  <a:schemeClr val="bg1"/>
                </a:solidFill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dirty="0"/>
              <a:t>for x in L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/>
              <a:t>    语句</a:t>
            </a:r>
            <a:r>
              <a:rPr lang="en-US" altLang="zh-CN" dirty="0"/>
              <a:t>1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……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    语句</a:t>
            </a:r>
            <a:r>
              <a:rPr lang="en-US" altLang="zh-CN" dirty="0"/>
              <a:t>n</a:t>
            </a:r>
            <a:endParaRPr lang="en-US" altLang="zh-CN" dirty="0"/>
          </a:p>
        </p:txBody>
      </p:sp>
      <p:grpSp>
        <p:nvGrpSpPr>
          <p:cNvPr id="16" name="组合 15"/>
          <p:cNvGrpSpPr/>
          <p:nvPr/>
        </p:nvGrpSpPr>
        <p:grpSpPr>
          <a:xfrm>
            <a:off x="4926887" y="3815137"/>
            <a:ext cx="1834882" cy="2108336"/>
            <a:chOff x="4733764" y="3806331"/>
            <a:chExt cx="1834882" cy="1384629"/>
          </a:xfrm>
        </p:grpSpPr>
        <p:sp>
          <p:nvSpPr>
            <p:cNvPr id="17" name="右大括号 16"/>
            <p:cNvSpPr/>
            <p:nvPr/>
          </p:nvSpPr>
          <p:spPr>
            <a:xfrm>
              <a:off x="4733764" y="3806331"/>
              <a:ext cx="414300" cy="1384629"/>
            </a:xfrm>
            <a:prstGeom prst="rightBrac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TextBox 15"/>
            <p:cNvSpPr txBox="1"/>
            <p:nvPr/>
          </p:nvSpPr>
          <p:spPr>
            <a:xfrm>
              <a:off x="5148064" y="4206257"/>
              <a:ext cx="142058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b="0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循环体</a:t>
              </a:r>
              <a:endParaRPr lang="zh-CN" altLang="en-US" sz="3200" b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296217" y="518765"/>
            <a:ext cx="680176" cy="711395"/>
            <a:chOff x="3820548" y="-894825"/>
            <a:chExt cx="1257690" cy="1257690"/>
          </a:xfrm>
        </p:grpSpPr>
        <p:sp>
          <p:nvSpPr>
            <p:cNvPr id="12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20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981200" y="430214"/>
            <a:ext cx="8229600" cy="1139825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48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>
              <a:buClr>
                <a:schemeClr val="accent1"/>
              </a:buClr>
            </a:pPr>
            <a:r>
              <a:rPr lang="en-US" altLang="zh-CN" sz="4800" dirty="0">
                <a:latin typeface="+mn-ea"/>
              </a:rPr>
              <a:t>for</a:t>
            </a:r>
            <a:r>
              <a:rPr lang="zh-CN" altLang="en-US" sz="4800" dirty="0">
                <a:latin typeface="+mn-ea"/>
              </a:rPr>
              <a:t>循环</a:t>
            </a:r>
            <a:endParaRPr lang="en-US" altLang="zh-CN" sz="4800" dirty="0">
              <a:latin typeface="+mn-ea"/>
            </a:endParaRPr>
          </a:p>
        </p:txBody>
      </p:sp>
      <p:sp>
        <p:nvSpPr>
          <p:cNvPr id="28" name="TextBox 4"/>
          <p:cNvSpPr txBox="1"/>
          <p:nvPr/>
        </p:nvSpPr>
        <p:spPr>
          <a:xfrm>
            <a:off x="3095878" y="1598002"/>
            <a:ext cx="5651900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kumimoji="0" lang="en-US" altLang="zh-CN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36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循环变量 </a:t>
            </a:r>
            <a:r>
              <a:rPr kumimoji="0" lang="en-US" altLang="zh-CN" sz="3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kumimoji="0" lang="en-US" altLang="zh-CN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对象</a:t>
            </a:r>
            <a:r>
              <a:rPr kumimoji="0" lang="en-US" altLang="zh-CN" sz="3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kumimoji="0" lang="en-US" altLang="zh-CN" sz="3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kumimoji="0" lang="zh-CN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语句块</a:t>
            </a:r>
            <a:r>
              <a:rPr kumimoji="0" lang="en-US" altLang="zh-CN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else:</a:t>
            </a:r>
            <a:r>
              <a:rPr kumimoji="0" lang="en-US" altLang="zh-CN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#</a:t>
            </a:r>
            <a:r>
              <a:rPr kumimoji="0" lang="zh-CN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可选</a:t>
            </a:r>
            <a:endParaRPr kumimoji="0" lang="zh-CN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语句块</a:t>
            </a:r>
            <a:r>
              <a:rPr kumimoji="0" lang="en-US" altLang="zh-CN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en-US" altLang="zh-CN" sz="3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TextBox 5"/>
          <p:cNvSpPr txBox="1"/>
          <p:nvPr/>
        </p:nvSpPr>
        <p:spPr>
          <a:xfrm>
            <a:off x="1470276" y="4073380"/>
            <a:ext cx="5035751" cy="26776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例：</a:t>
            </a:r>
            <a:endParaRPr lang="en-US" altLang="zh-CN" sz="2800" dirty="0"/>
          </a:p>
          <a:p>
            <a:r>
              <a:rPr lang="en-US" altLang="zh-CN" sz="2800" dirty="0"/>
              <a:t>k=0</a:t>
            </a:r>
            <a:endParaRPr lang="en-US" altLang="zh-CN" sz="2800" dirty="0"/>
          </a:p>
          <a:p>
            <a:r>
              <a:rPr lang="en-US" altLang="zh-CN" sz="2800" dirty="0"/>
              <a:t>for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 in range(100,201): </a:t>
            </a:r>
            <a:endParaRPr lang="en-US" altLang="zh-CN" sz="2800" dirty="0"/>
          </a:p>
          <a:p>
            <a:r>
              <a:rPr lang="en-US" altLang="zh-CN" sz="2800" dirty="0"/>
              <a:t>    if i%7==0:</a:t>
            </a:r>
            <a:endParaRPr lang="en-US" altLang="zh-CN" sz="2800" dirty="0"/>
          </a:p>
          <a:p>
            <a:r>
              <a:rPr lang="en-US" altLang="zh-CN" sz="2800" dirty="0"/>
              <a:t>        k+=1</a:t>
            </a:r>
            <a:endParaRPr lang="en-US" altLang="zh-CN" sz="2800" dirty="0"/>
          </a:p>
          <a:p>
            <a:r>
              <a:rPr lang="en-US" altLang="zh-CN" sz="2800" dirty="0"/>
              <a:t>print(k)</a:t>
            </a:r>
            <a:endParaRPr lang="zh-CN" altLang="zh-CN" sz="2800" dirty="0"/>
          </a:p>
        </p:txBody>
      </p:sp>
      <p:sp>
        <p:nvSpPr>
          <p:cNvPr id="2" name="矩形 1"/>
          <p:cNvSpPr/>
          <p:nvPr/>
        </p:nvSpPr>
        <p:spPr>
          <a:xfrm>
            <a:off x="8858280" y="1470941"/>
            <a:ext cx="2990027" cy="12812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rgbClr val="FF0000"/>
                </a:solidFill>
              </a:rPr>
              <a:t>字符串、列表、元组、字典、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800" dirty="0">
                <a:solidFill>
                  <a:srgbClr val="FF0000"/>
                </a:solidFill>
              </a:rPr>
              <a:t>迭代器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V="1">
            <a:off x="7219506" y="1751974"/>
            <a:ext cx="1638773" cy="14254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 txBox="1"/>
          <p:nvPr/>
        </p:nvSpPr>
        <p:spPr>
          <a:xfrm>
            <a:off x="1208790" y="418421"/>
            <a:ext cx="10207735" cy="48245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4800" dirty="0"/>
              <a:t>range()</a:t>
            </a:r>
            <a:r>
              <a:rPr lang="zh-CN" altLang="en-US" sz="4800" dirty="0"/>
              <a:t>函数</a:t>
            </a:r>
            <a:endParaRPr lang="en-US" altLang="zh-CN" sz="4800" dirty="0"/>
          </a:p>
        </p:txBody>
      </p:sp>
      <p:sp>
        <p:nvSpPr>
          <p:cNvPr id="26" name="内容占位符 2"/>
          <p:cNvSpPr txBox="1"/>
          <p:nvPr/>
        </p:nvSpPr>
        <p:spPr>
          <a:xfrm>
            <a:off x="659150" y="1132069"/>
            <a:ext cx="8229600" cy="437004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zh-CN" altLang="en-US" sz="3600" dirty="0">
                <a:solidFill>
                  <a:srgbClr val="7030A0"/>
                </a:solidFill>
              </a:rPr>
              <a:t>功能</a:t>
            </a:r>
            <a:r>
              <a:rPr lang="zh-CN" altLang="en-US" sz="3600" dirty="0"/>
              <a:t>：用于生成</a:t>
            </a:r>
            <a:r>
              <a:rPr lang="zh-CN" altLang="en-US" sz="3600" dirty="0">
                <a:solidFill>
                  <a:srgbClr val="FF0000"/>
                </a:solidFill>
              </a:rPr>
              <a:t>整数</a:t>
            </a:r>
            <a:r>
              <a:rPr lang="zh-CN" altLang="en-US" sz="3600" dirty="0"/>
              <a:t>等差数列</a:t>
            </a:r>
            <a:endParaRPr lang="en-US" altLang="zh-CN" sz="3600" dirty="0"/>
          </a:p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zh-CN" altLang="en-US" sz="3600" dirty="0">
                <a:solidFill>
                  <a:srgbClr val="7030A0"/>
                </a:solidFill>
              </a:rPr>
              <a:t>格式</a:t>
            </a:r>
            <a:r>
              <a:rPr lang="zh-CN" altLang="en-US" sz="3600" dirty="0"/>
              <a:t>：</a:t>
            </a:r>
            <a:r>
              <a:rPr lang="en-US" altLang="zh-CN" sz="3600" b="1" dirty="0"/>
              <a:t> </a:t>
            </a:r>
            <a:r>
              <a:rPr lang="en-US" altLang="zh-CN" sz="3600" dirty="0"/>
              <a:t>range(start, end, step)</a:t>
            </a:r>
            <a:endParaRPr lang="en-US" altLang="zh-CN" sz="3600" dirty="0"/>
          </a:p>
        </p:txBody>
      </p:sp>
      <p:sp>
        <p:nvSpPr>
          <p:cNvPr id="28" name="矩形 27"/>
          <p:cNvSpPr/>
          <p:nvPr/>
        </p:nvSpPr>
        <p:spPr>
          <a:xfrm>
            <a:off x="1208790" y="3707696"/>
            <a:ext cx="757354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0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例：</a:t>
            </a:r>
            <a:endParaRPr lang="en-US" altLang="zh-CN" sz="3200" b="0" kern="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3200" kern="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3200" kern="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3200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程序运行结果为：</a:t>
            </a:r>
            <a:r>
              <a:rPr lang="en-US" altLang="zh-CN" sz="3200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4 6 8</a:t>
            </a:r>
            <a:endParaRPr lang="zh-CN" altLang="en-US" sz="3200" kern="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0" name="TextBox 16"/>
          <p:cNvSpPr txBox="1"/>
          <p:nvPr/>
        </p:nvSpPr>
        <p:spPr>
          <a:xfrm>
            <a:off x="2228773" y="3858486"/>
            <a:ext cx="7945373" cy="954107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for </a:t>
            </a:r>
            <a:r>
              <a:rPr lang="en-US" altLang="zh-CN" sz="2800" kern="0" dirty="0" err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iNum</a:t>
            </a:r>
            <a:r>
              <a:rPr lang="en-US" altLang="zh-CN" sz="2800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in range(4,10,2):</a:t>
            </a:r>
            <a:endParaRPr lang="en-US" altLang="zh-CN" sz="2800" kern="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800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print(</a:t>
            </a:r>
            <a:r>
              <a:rPr lang="en-US" altLang="zh-CN" sz="2800" kern="0" dirty="0" err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iNum,end</a:t>
            </a:r>
            <a:r>
              <a:rPr lang="en-US" altLang="zh-CN" sz="2800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=" ") 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# 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注意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end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的用法</a:t>
            </a:r>
            <a:endParaRPr lang="en-US" altLang="zh-CN" sz="2800" kern="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1208790" y="3428122"/>
            <a:ext cx="9144000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16"/>
          <p:cNvSpPr txBox="1"/>
          <p:nvPr/>
        </p:nvSpPr>
        <p:spPr>
          <a:xfrm>
            <a:off x="8003104" y="2043127"/>
            <a:ext cx="3413421" cy="13849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range(1,100,2)</a:t>
            </a:r>
            <a:endParaRPr lang="en-US" altLang="zh-CN" sz="2800" kern="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800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range(100,1,-2)</a:t>
            </a:r>
            <a:endParaRPr lang="en-US" altLang="zh-CN" sz="2800" kern="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800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range(100)</a:t>
            </a:r>
            <a:endParaRPr lang="en-US" altLang="zh-CN" sz="2800" kern="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0" grpId="0" animBg="1"/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循环控制语句</a:t>
            </a:r>
            <a:endParaRPr lang="zh-CN" alt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514600" y="1456766"/>
            <a:ext cx="7010400" cy="1295400"/>
          </a:xfrm>
          <a:prstGeom prst="rect">
            <a:avLst/>
          </a:prstGeom>
          <a:ln w="19050">
            <a:solidFill>
              <a:schemeClr val="accent1"/>
            </a:solidFill>
            <a:miter lim="800000"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accent1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CN" b="1" dirty="0">
                <a:latin typeface="Times New Roman" panose="02020603050405020304" pitchFamily="18" charset="0"/>
              </a:rPr>
              <a:t> break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b="1" dirty="0">
                <a:latin typeface="Times New Roman" panose="02020603050405020304" pitchFamily="18" charset="0"/>
              </a:rPr>
              <a:t>    </a:t>
            </a:r>
            <a:r>
              <a:rPr lang="zh-CN" altLang="en-US" dirty="0"/>
              <a:t>中断循环的执行，跳出循环体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514600" y="2872816"/>
            <a:ext cx="7010400" cy="1403350"/>
          </a:xfrm>
          <a:prstGeom prst="rect">
            <a:avLst/>
          </a:prstGeom>
          <a:noFill/>
          <a:ln w="19050" algn="ctr">
            <a:solidFill>
              <a:schemeClr val="accent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69925" indent="-325755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022350" indent="-351155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39850" indent="-31623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681480" indent="-339725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138680" indent="-3397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595880" indent="-3397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053080" indent="-3397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510280" indent="-3397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b="1" dirty="0">
                <a:latin typeface="Times New Roman" panose="02020603050405020304" pitchFamily="18" charset="0"/>
              </a:rPr>
              <a:t>continue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 dirty="0">
                <a:latin typeface="+mn-lt"/>
                <a:ea typeface="+mn-ea"/>
              </a:rPr>
              <a:t>中断本次循环，进入下一次循环判断</a:t>
            </a:r>
            <a:endParaRPr lang="zh-CN" altLang="en-US" dirty="0">
              <a:latin typeface="+mn-lt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304364" y="4179660"/>
            <a:ext cx="7584141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/>
              <a:t>例：</a:t>
            </a:r>
            <a:endParaRPr lang="en-US" altLang="zh-CN" sz="3600" dirty="0"/>
          </a:p>
          <a:p>
            <a:r>
              <a:rPr lang="en-US" altLang="zh-CN" sz="2400" dirty="0"/>
              <a:t>sentence=input("</a:t>
            </a:r>
            <a:r>
              <a:rPr lang="zh-CN" altLang="zh-CN" sz="2400" dirty="0"/>
              <a:t>请输入一段文字：</a:t>
            </a:r>
            <a:r>
              <a:rPr lang="en-US" altLang="zh-CN" sz="2400" dirty="0"/>
              <a:t>")</a:t>
            </a:r>
            <a:endParaRPr lang="zh-CN" altLang="zh-CN" sz="2400" dirty="0"/>
          </a:p>
          <a:p>
            <a:r>
              <a:rPr lang="en-US" altLang="zh-CN" sz="2400" dirty="0"/>
              <a:t>for word in sentence:            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这是个秘密秘密秘密！</a:t>
            </a:r>
            <a:endParaRPr lang="zh-CN" altLang="zh-CN" sz="2400" dirty="0"/>
          </a:p>
          <a:p>
            <a:r>
              <a:rPr lang="en-US" altLang="zh-CN" sz="2400" dirty="0"/>
              <a:t>    if word=="</a:t>
            </a:r>
            <a:r>
              <a:rPr lang="zh-CN" altLang="zh-CN" sz="2400" dirty="0"/>
              <a:t>密</a:t>
            </a:r>
            <a:r>
              <a:rPr lang="en-US" altLang="zh-CN" sz="2400" dirty="0"/>
              <a:t>":</a:t>
            </a:r>
            <a:endParaRPr lang="zh-CN" altLang="zh-CN" sz="2400" dirty="0"/>
          </a:p>
          <a:p>
            <a:r>
              <a:rPr lang="en-US" altLang="zh-CN" sz="2400" dirty="0"/>
              <a:t>        </a:t>
            </a:r>
            <a:r>
              <a:rPr lang="en-US" altLang="zh-CN" sz="2400" dirty="0">
                <a:solidFill>
                  <a:srgbClr val="FF0000"/>
                </a:solidFill>
              </a:rPr>
              <a:t>break</a:t>
            </a:r>
            <a:r>
              <a:rPr lang="en-US" altLang="zh-CN" sz="2400" dirty="0"/>
              <a:t>/</a:t>
            </a:r>
            <a:r>
              <a:rPr lang="en-US" altLang="zh-CN" sz="2400" dirty="0">
                <a:solidFill>
                  <a:srgbClr val="0070C0"/>
                </a:solidFill>
              </a:rPr>
              <a:t>c</a:t>
            </a:r>
            <a:r>
              <a:rPr lang="en-US" altLang="zh-C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ontinu</a:t>
            </a:r>
            <a:r>
              <a:rPr lang="en-US" altLang="zh-CN" sz="2400" dirty="0">
                <a:solidFill>
                  <a:srgbClr val="0070C0"/>
                </a:solidFill>
              </a:rPr>
              <a:t>e</a:t>
            </a:r>
            <a:endParaRPr lang="zh-CN" altLang="zh-CN" sz="2400" dirty="0">
              <a:solidFill>
                <a:srgbClr val="0070C0"/>
              </a:solidFill>
            </a:endParaRPr>
          </a:p>
          <a:p>
            <a:r>
              <a:rPr lang="en-US" altLang="zh-CN" sz="2400" dirty="0"/>
              <a:t>    print(</a:t>
            </a:r>
            <a:r>
              <a:rPr lang="en-US" altLang="zh-CN" sz="2400" dirty="0" err="1"/>
              <a:t>word,end</a:t>
            </a:r>
            <a:r>
              <a:rPr lang="en-US" altLang="zh-CN" sz="2400" dirty="0"/>
              <a:t>="")           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这是个秘</a:t>
            </a:r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秘秘！</a:t>
            </a:r>
            <a:endParaRPr lang="zh-CN" altLang="zh-CN" sz="24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build="p"/>
      <p:bldP spid="8" grpId="0" animBg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124201" y="304800"/>
            <a:ext cx="5456237" cy="1143000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zh-CN" altLang="en-US" sz="4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思考题</a:t>
            </a:r>
            <a:endParaRPr lang="zh-CN" altLang="en-US" sz="48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640900" y="1347952"/>
            <a:ext cx="8744607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5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如何使用循环输出如下所示的菱形图形？</a:t>
            </a:r>
            <a:endParaRPr lang="zh-CN" altLang="en-US" sz="32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9186" y="2438400"/>
            <a:ext cx="4495800" cy="26670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124201" y="304800"/>
            <a:ext cx="5456237" cy="1143000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zh-CN" altLang="en-US" sz="4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思考题答案</a:t>
            </a:r>
            <a:endParaRPr lang="zh-CN" altLang="en-US" sz="48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Rectangle 5"/>
          <p:cNvSpPr txBox="1">
            <a:spLocks noChangeArrowheads="1"/>
          </p:cNvSpPr>
          <p:nvPr/>
        </p:nvSpPr>
        <p:spPr>
          <a:xfrm>
            <a:off x="1872342" y="1416220"/>
            <a:ext cx="6865257" cy="167840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3200" dirty="0" err="1"/>
              <a:t>fh</a:t>
            </a:r>
            <a:r>
              <a:rPr lang="en-US" altLang="zh-CN" sz="3200" dirty="0"/>
              <a:t>=input("</a:t>
            </a:r>
            <a:r>
              <a:rPr lang="zh-CN" altLang="en-US" sz="3200" dirty="0"/>
              <a:t>请输入一个字符：</a:t>
            </a:r>
            <a:r>
              <a:rPr lang="en-US" altLang="zh-CN" sz="3200" dirty="0"/>
              <a:t>")</a:t>
            </a:r>
            <a:endParaRPr lang="en-US" altLang="zh-CN" sz="3200" dirty="0"/>
          </a:p>
          <a:p>
            <a:pPr marL="0" indent="0">
              <a:buNone/>
            </a:pPr>
            <a:r>
              <a:rPr lang="en-US" altLang="zh-CN" sz="3200" dirty="0"/>
              <a:t>blank=' '</a:t>
            </a:r>
            <a:endParaRPr lang="en-US" altLang="zh-CN" sz="3200" dirty="0"/>
          </a:p>
          <a:p>
            <a:pPr marL="0" indent="0">
              <a:buNone/>
            </a:pPr>
            <a:r>
              <a:rPr lang="en-US" altLang="zh-CN" sz="3200" dirty="0"/>
              <a:t>n = </a:t>
            </a:r>
            <a:r>
              <a:rPr lang="en-US" altLang="zh-CN" sz="3200" dirty="0" err="1"/>
              <a:t>int</a:t>
            </a:r>
            <a:r>
              <a:rPr lang="en-US" altLang="zh-CN" sz="3200" dirty="0"/>
              <a:t>(input("</a:t>
            </a:r>
            <a:r>
              <a:rPr lang="zh-CN" altLang="en-US" sz="3200" dirty="0"/>
              <a:t>请输入上三角行数：</a:t>
            </a:r>
            <a:r>
              <a:rPr lang="en-US" altLang="zh-CN" sz="3200" dirty="0"/>
              <a:t>"))</a:t>
            </a: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 txBox="1">
            <a:spLocks noChangeArrowheads="1"/>
          </p:cNvSpPr>
          <p:nvPr/>
        </p:nvSpPr>
        <p:spPr>
          <a:xfrm>
            <a:off x="1872341" y="3290587"/>
            <a:ext cx="6865257" cy="167840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zh-CN" dirty="0"/>
              <a:t>for </a:t>
            </a:r>
            <a:r>
              <a:rPr lang="en-US" altLang="zh-CN" dirty="0" err="1"/>
              <a:t>i</a:t>
            </a:r>
            <a:r>
              <a:rPr lang="en-US" altLang="zh-CN" dirty="0"/>
              <a:t> in range(n):</a:t>
            </a:r>
            <a:endParaRPr lang="en-US" altLang="zh-CN" dirty="0"/>
          </a:p>
          <a:p>
            <a:r>
              <a:rPr lang="en-US" altLang="zh-CN" dirty="0"/>
              <a:t>    print(blank*(n-i-1),end='')</a:t>
            </a:r>
            <a:endParaRPr lang="en-US" altLang="zh-CN" dirty="0"/>
          </a:p>
          <a:p>
            <a:r>
              <a:rPr lang="en-US" altLang="zh-CN" dirty="0"/>
              <a:t>    print(</a:t>
            </a:r>
            <a:r>
              <a:rPr lang="en-US" altLang="zh-CN" dirty="0" err="1"/>
              <a:t>fh</a:t>
            </a:r>
            <a:r>
              <a:rPr lang="en-US" altLang="zh-CN" dirty="0"/>
              <a:t>*(2*i+1))</a:t>
            </a:r>
            <a:endParaRPr lang="en-US" altLang="zh-CN" dirty="0"/>
          </a:p>
        </p:txBody>
      </p:sp>
      <p:sp>
        <p:nvSpPr>
          <p:cNvPr id="7" name="文本框 6"/>
          <p:cNvSpPr txBox="1"/>
          <p:nvPr/>
        </p:nvSpPr>
        <p:spPr>
          <a:xfrm>
            <a:off x="1872342" y="5028036"/>
            <a:ext cx="6865257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3200" dirty="0"/>
              <a:t>for </a:t>
            </a:r>
            <a:r>
              <a:rPr lang="en-US" altLang="zh-CN" sz="3200" dirty="0" err="1"/>
              <a:t>i</a:t>
            </a:r>
            <a:r>
              <a:rPr lang="en-US" altLang="zh-CN" sz="3200" dirty="0"/>
              <a:t> in range(n-1):</a:t>
            </a:r>
            <a:endParaRPr lang="en-US" altLang="zh-CN" sz="3200" dirty="0"/>
          </a:p>
          <a:p>
            <a:r>
              <a:rPr lang="en-US" altLang="zh-CN" sz="3200" dirty="0"/>
              <a:t>    print(blank*(i+1),end='')</a:t>
            </a:r>
            <a:endParaRPr lang="en-US" altLang="zh-CN" sz="3200" dirty="0"/>
          </a:p>
          <a:p>
            <a:r>
              <a:rPr lang="en-US" altLang="zh-CN" sz="3200" dirty="0"/>
              <a:t>    print(</a:t>
            </a:r>
            <a:r>
              <a:rPr lang="en-US" altLang="zh-CN" sz="3200" dirty="0" err="1"/>
              <a:t>fh</a:t>
            </a:r>
            <a:r>
              <a:rPr lang="en-US" altLang="zh-CN" sz="3200" dirty="0"/>
              <a:t>*(2*(n-i-1)-1))</a:t>
            </a:r>
            <a:endParaRPr lang="zh-CN" altLang="en-US" sz="32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build="p"/>
      <p:bldP spid="6" grpId="0" animBg="1" build="p"/>
      <p:bldP spid="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416291" y="672051"/>
            <a:ext cx="864096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8</a:t>
            </a:r>
            <a:r>
              <a:rPr lang="zh-CN" altLang="en-US" sz="2400" dirty="0"/>
              <a:t>、试输出如下图形，要求输入行数：</a:t>
            </a:r>
            <a:endParaRPr lang="en-US" altLang="zh-CN" sz="2400" dirty="0"/>
          </a:p>
          <a:p>
            <a:endParaRPr lang="zh-CN" altLang="en-US" sz="2400" dirty="0"/>
          </a:p>
          <a:p>
            <a:r>
              <a:rPr lang="zh-CN" altLang="en-US" sz="2400" dirty="0"/>
              <a:t> </a:t>
            </a:r>
            <a:endParaRPr lang="en-US" altLang="zh-CN" sz="2400" dirty="0"/>
          </a:p>
          <a:p>
            <a:endParaRPr lang="en-US" altLang="zh-CN" sz="2400" dirty="0"/>
          </a:p>
          <a:p>
            <a:endParaRPr lang="zh-CN" altLang="en-US" sz="2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8205" y="1405479"/>
            <a:ext cx="3167000" cy="4883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5442115" y="1235875"/>
            <a:ext cx="674988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line=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(input("</a:t>
            </a:r>
            <a:r>
              <a:rPr lang="zh-CN" altLang="en-US" sz="2800" dirty="0"/>
              <a:t>请输入行数</a:t>
            </a:r>
            <a:r>
              <a:rPr lang="en-US" altLang="zh-CN" sz="2800" dirty="0"/>
              <a:t>:"))</a:t>
            </a:r>
            <a:endParaRPr lang="en-US" altLang="zh-CN" sz="2800" dirty="0"/>
          </a:p>
          <a:p>
            <a:r>
              <a:rPr lang="en-US" altLang="zh-CN" sz="2800" dirty="0"/>
              <a:t>while line%2==0:</a:t>
            </a:r>
            <a:endParaRPr lang="en-US" altLang="zh-CN" sz="2800" dirty="0"/>
          </a:p>
          <a:p>
            <a:r>
              <a:rPr lang="en-US" altLang="zh-CN" sz="2800" dirty="0"/>
              <a:t>    line=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(input("</a:t>
            </a:r>
            <a:r>
              <a:rPr lang="zh-CN" altLang="en-US" sz="2800" dirty="0"/>
              <a:t>请输入奇数</a:t>
            </a:r>
            <a:r>
              <a:rPr lang="en-US" altLang="zh-CN" sz="2800" dirty="0"/>
              <a:t>:"))    </a:t>
            </a:r>
            <a:endParaRPr lang="en-US" altLang="zh-CN" sz="2800" dirty="0"/>
          </a:p>
        </p:txBody>
      </p:sp>
      <p:sp>
        <p:nvSpPr>
          <p:cNvPr id="6" name="文本框 5"/>
          <p:cNvSpPr txBox="1"/>
          <p:nvPr/>
        </p:nvSpPr>
        <p:spPr>
          <a:xfrm>
            <a:off x="5442116" y="2585623"/>
            <a:ext cx="674988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n=(line+1)//2</a:t>
            </a:r>
            <a:endParaRPr lang="en-US" altLang="zh-CN" sz="2800" dirty="0"/>
          </a:p>
          <a:p>
            <a:r>
              <a:rPr lang="en-US" altLang="zh-CN" sz="2800" dirty="0"/>
              <a:t>blank=' '</a:t>
            </a:r>
            <a:endParaRPr lang="en-US" altLang="zh-CN" sz="2800" dirty="0"/>
          </a:p>
        </p:txBody>
      </p:sp>
      <p:sp>
        <p:nvSpPr>
          <p:cNvPr id="7" name="文本框 6"/>
          <p:cNvSpPr txBox="1"/>
          <p:nvPr/>
        </p:nvSpPr>
        <p:spPr>
          <a:xfrm>
            <a:off x="5442117" y="3557326"/>
            <a:ext cx="674988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for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 in range(n):</a:t>
            </a:r>
            <a:endParaRPr lang="en-US" altLang="zh-CN" sz="2800" dirty="0"/>
          </a:p>
          <a:p>
            <a:r>
              <a:rPr lang="en-US" altLang="zh-CN" sz="2800" dirty="0"/>
              <a:t>    print(blank*(n-i-1),end='')</a:t>
            </a:r>
            <a:endParaRPr lang="en-US" altLang="zh-CN" sz="2800" dirty="0"/>
          </a:p>
          <a:p>
            <a:r>
              <a:rPr lang="en-US" altLang="zh-CN" sz="2800" dirty="0"/>
              <a:t>    print(</a:t>
            </a:r>
            <a:r>
              <a:rPr lang="en-US" altLang="zh-CN" sz="2800" dirty="0" err="1"/>
              <a:t>chr</a:t>
            </a:r>
            <a:r>
              <a:rPr lang="en-US" altLang="zh-CN" sz="2800" dirty="0"/>
              <a:t>(65+i)*(2*i+1))</a:t>
            </a:r>
            <a:endParaRPr lang="en-US" altLang="zh-CN" sz="2800" dirty="0"/>
          </a:p>
        </p:txBody>
      </p:sp>
      <p:sp>
        <p:nvSpPr>
          <p:cNvPr id="8" name="文本框 6"/>
          <p:cNvSpPr txBox="1"/>
          <p:nvPr/>
        </p:nvSpPr>
        <p:spPr>
          <a:xfrm>
            <a:off x="5442115" y="5116367"/>
            <a:ext cx="674988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for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 in range(n-1):</a:t>
            </a:r>
            <a:endParaRPr lang="en-US" altLang="zh-CN" sz="2800" dirty="0"/>
          </a:p>
          <a:p>
            <a:r>
              <a:rPr lang="en-US" altLang="zh-CN" sz="2800" dirty="0"/>
              <a:t>    print(blank*(i+1),end='')</a:t>
            </a:r>
            <a:endParaRPr lang="en-US" altLang="zh-CN" sz="2800" dirty="0"/>
          </a:p>
          <a:p>
            <a:r>
              <a:rPr lang="en-US" altLang="zh-CN" sz="2800" dirty="0"/>
              <a:t>    print(</a:t>
            </a:r>
            <a:r>
              <a:rPr lang="en-US" altLang="zh-CN" sz="2800" dirty="0" err="1"/>
              <a:t>chr</a:t>
            </a:r>
            <a:r>
              <a:rPr lang="en-US" altLang="zh-CN" sz="2800" dirty="0"/>
              <a:t>(65+n-i-2)*(2*(n-i-1)-1))</a:t>
            </a:r>
            <a:endParaRPr lang="en-US" altLang="zh-CN" sz="28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灯片编号占位符 5"/>
          <p:cNvSpPr txBox="1">
            <a:spLocks noGrp="1" noChangeArrowheads="1"/>
          </p:cNvSpPr>
          <p:nvPr/>
        </p:nvSpPr>
        <p:spPr bwMode="auto">
          <a:xfrm>
            <a:off x="8256588" y="623728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Wingdings" panose="05000000000000000000" pitchFamily="2" charset="2"/>
              <a:buChar char="l"/>
              <a:defRPr sz="4000" b="1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3F41464C-EF43-4880-BA7F-514EE665FDC1}" type="slidenum">
              <a:rPr lang="en-US" altLang="zh-CN" sz="12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fld>
            <a:endParaRPr lang="en-US" altLang="zh-CN" sz="12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1262983" y="1768177"/>
            <a:ext cx="9987673" cy="2505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3200" dirty="0"/>
              <a:t>函数是一段具有特定功能的、</a:t>
            </a:r>
            <a:r>
              <a:rPr lang="zh-CN" altLang="en-US" sz="3200" dirty="0">
                <a:solidFill>
                  <a:srgbClr val="C00000"/>
                </a:solidFill>
              </a:rPr>
              <a:t>可重用</a:t>
            </a:r>
            <a:r>
              <a:rPr lang="zh-CN" altLang="en-US" sz="3200" dirty="0"/>
              <a:t>的语句组</a:t>
            </a:r>
            <a:endParaRPr lang="en-US" altLang="zh-CN" sz="3200" dirty="0"/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3200" dirty="0"/>
              <a:t>使用函数目的：降低编程难度和代码重用</a:t>
            </a:r>
            <a:endParaRPr lang="en-US" altLang="zh-CN" sz="3200" dirty="0"/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3200" dirty="0"/>
              <a:t>函数分为：内置函数和</a:t>
            </a:r>
            <a:r>
              <a:rPr lang="zh-CN" altLang="en-US" sz="3200" dirty="0">
                <a:solidFill>
                  <a:srgbClr val="C00000"/>
                </a:solidFill>
              </a:rPr>
              <a:t>用户自定义函数</a:t>
            </a:r>
            <a:endParaRPr lang="en-US" altLang="zh-CN" sz="3200" dirty="0">
              <a:solidFill>
                <a:srgbClr val="C0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61731" y="437910"/>
            <a:ext cx="50362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函数</a:t>
            </a:r>
            <a:endParaRPr lang="zh-CN" altLang="en-US" sz="48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96217" y="518765"/>
            <a:ext cx="680176" cy="711395"/>
            <a:chOff x="3820548" y="-894825"/>
            <a:chExt cx="1257690" cy="1257690"/>
          </a:xfrm>
        </p:grpSpPr>
        <p:sp>
          <p:nvSpPr>
            <p:cNvPr id="8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9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26040" y="1556331"/>
            <a:ext cx="7617656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en-US" altLang="zh-CN" sz="3200" b="1" dirty="0" err="1"/>
              <a:t>def</a:t>
            </a:r>
            <a:r>
              <a:rPr lang="en-US" altLang="zh-CN" sz="3200" b="1" dirty="0"/>
              <a:t> &lt;</a:t>
            </a:r>
            <a:r>
              <a:rPr lang="zh-CN" altLang="en-US" sz="3200" b="1" dirty="0"/>
              <a:t>函数名</a:t>
            </a:r>
            <a:r>
              <a:rPr lang="en-US" altLang="zh-CN" sz="3200" b="1" dirty="0"/>
              <a:t>&gt;  </a:t>
            </a:r>
            <a:r>
              <a:rPr lang="en-US" altLang="zh-CN" sz="3200" b="1" dirty="0">
                <a:solidFill>
                  <a:srgbClr val="FF0000"/>
                </a:solidFill>
              </a:rPr>
              <a:t>(</a:t>
            </a:r>
            <a:r>
              <a:rPr lang="en-US" altLang="zh-CN" sz="3200" b="1" dirty="0"/>
              <a:t>&lt;</a:t>
            </a:r>
            <a:r>
              <a:rPr lang="en-US" altLang="zh-CN" sz="3200" b="1" dirty="0">
                <a:solidFill>
                  <a:schemeClr val="accent1"/>
                </a:solidFill>
              </a:rPr>
              <a:t>[</a:t>
            </a:r>
            <a:r>
              <a:rPr lang="zh-CN" altLang="en-US" sz="3200" b="1" dirty="0"/>
              <a:t>形参列表</a:t>
            </a:r>
            <a:r>
              <a:rPr lang="en-US" altLang="zh-CN" sz="3200" b="1" dirty="0">
                <a:solidFill>
                  <a:schemeClr val="accent1"/>
                </a:solidFill>
              </a:rPr>
              <a:t>]</a:t>
            </a:r>
            <a:r>
              <a:rPr lang="en-US" altLang="zh-CN" sz="3200" b="1" dirty="0"/>
              <a:t>&gt;</a:t>
            </a:r>
            <a:r>
              <a:rPr lang="en-US" altLang="zh-CN" sz="3200" b="1" dirty="0">
                <a:solidFill>
                  <a:srgbClr val="FF0000"/>
                </a:solidFill>
              </a:rPr>
              <a:t>):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en-US" altLang="zh-CN" sz="3200" b="1" dirty="0"/>
              <a:t>    &lt;</a:t>
            </a:r>
            <a:r>
              <a:rPr lang="zh-CN" altLang="en-US" sz="3200" b="1" dirty="0"/>
              <a:t>执行语句</a:t>
            </a:r>
            <a:r>
              <a:rPr lang="en-US" altLang="zh-CN" sz="3200" b="1" dirty="0"/>
              <a:t>&gt;</a:t>
            </a:r>
            <a:endParaRPr lang="en-US" altLang="zh-CN" sz="3200" b="1" dirty="0"/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en-US" altLang="zh-CN" sz="3200" b="1" dirty="0"/>
              <a:t>    </a:t>
            </a:r>
            <a:r>
              <a:rPr lang="en-US" altLang="zh-CN" sz="3200" b="1" dirty="0">
                <a:solidFill>
                  <a:schemeClr val="accent1"/>
                </a:solidFill>
              </a:rPr>
              <a:t>[</a:t>
            </a:r>
            <a:r>
              <a:rPr lang="en-US" altLang="zh-CN" sz="3200" b="1" dirty="0">
                <a:solidFill>
                  <a:srgbClr val="FF0000"/>
                </a:solidFill>
              </a:rPr>
              <a:t>return</a:t>
            </a:r>
            <a:r>
              <a:rPr lang="en-US" altLang="zh-CN" sz="3200" b="1" dirty="0"/>
              <a:t> &lt;</a:t>
            </a:r>
            <a:r>
              <a:rPr lang="zh-CN" altLang="en-US" sz="3200" b="1" dirty="0"/>
              <a:t>返回值</a:t>
            </a:r>
            <a:r>
              <a:rPr lang="en-US" altLang="zh-CN" sz="3200" b="1" dirty="0"/>
              <a:t>&gt;</a:t>
            </a:r>
            <a:r>
              <a:rPr lang="en-US" altLang="zh-CN" sz="3200" b="1" dirty="0">
                <a:solidFill>
                  <a:schemeClr val="accent1"/>
                </a:solidFill>
              </a:rPr>
              <a:t>]</a:t>
            </a:r>
            <a:endParaRPr lang="en-US" altLang="zh-CN" sz="3200" b="1" dirty="0">
              <a:solidFill>
                <a:schemeClr val="accent1"/>
              </a:solidFill>
            </a:endParaRPr>
          </a:p>
          <a:p>
            <a:endParaRPr lang="en-US" altLang="zh-CN" sz="3200" dirty="0"/>
          </a:p>
          <a:p>
            <a:pPr>
              <a:lnSpc>
                <a:spcPct val="125000"/>
              </a:lnSpc>
            </a:pPr>
            <a:endParaRPr lang="en-US" altLang="zh-CN" sz="3200" dirty="0"/>
          </a:p>
        </p:txBody>
      </p:sp>
      <p:sp>
        <p:nvSpPr>
          <p:cNvPr id="21" name="矩形 20"/>
          <p:cNvSpPr/>
          <p:nvPr/>
        </p:nvSpPr>
        <p:spPr>
          <a:xfrm>
            <a:off x="1061731" y="437909"/>
            <a:ext cx="50362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函数定义</a:t>
            </a:r>
            <a:endParaRPr lang="zh-CN" altLang="en-US" sz="48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296217" y="518765"/>
            <a:ext cx="680176" cy="711395"/>
            <a:chOff x="3820548" y="-894825"/>
            <a:chExt cx="1257690" cy="1257690"/>
          </a:xfrm>
        </p:grpSpPr>
        <p:sp>
          <p:nvSpPr>
            <p:cNvPr id="23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24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sp>
        <p:nvSpPr>
          <p:cNvPr id="12" name="矩形 11"/>
          <p:cNvSpPr/>
          <p:nvPr/>
        </p:nvSpPr>
        <p:spPr>
          <a:xfrm>
            <a:off x="7003873" y="2436286"/>
            <a:ext cx="347138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3200" dirty="0"/>
              <a:t>例如：</a:t>
            </a:r>
            <a:endParaRPr lang="zh-CN" altLang="en-US" sz="3200" dirty="0"/>
          </a:p>
          <a:p>
            <a:pPr>
              <a:lnSpc>
                <a:spcPct val="125000"/>
              </a:lnSpc>
            </a:pPr>
            <a:r>
              <a:rPr lang="en-US" altLang="zh-CN" sz="3200" b="1" dirty="0" err="1">
                <a:solidFill>
                  <a:srgbClr val="FF0000"/>
                </a:solidFill>
              </a:rPr>
              <a:t>def</a:t>
            </a:r>
            <a:r>
              <a:rPr lang="en-US" altLang="zh-CN" sz="3200" dirty="0"/>
              <a:t> </a:t>
            </a:r>
            <a:r>
              <a:rPr lang="en-US" altLang="zh-CN" sz="3200" b="1" dirty="0" err="1">
                <a:solidFill>
                  <a:srgbClr val="FF0000"/>
                </a:solidFill>
              </a:rPr>
              <a:t>myfunc</a:t>
            </a:r>
            <a:r>
              <a:rPr lang="en-US" altLang="zh-CN" sz="3200" dirty="0"/>
              <a:t>(</a:t>
            </a:r>
            <a:r>
              <a:rPr lang="en-US" altLang="zh-CN" sz="3200" b="1" dirty="0" err="1">
                <a:solidFill>
                  <a:srgbClr val="C00000"/>
                </a:solidFill>
              </a:rPr>
              <a:t>x,y</a:t>
            </a:r>
            <a:r>
              <a:rPr lang="en-US" altLang="zh-CN" sz="3200" dirty="0"/>
              <a:t>)</a:t>
            </a:r>
            <a:r>
              <a:rPr lang="en-US" altLang="zh-CN" sz="3200" dirty="0">
                <a:solidFill>
                  <a:srgbClr val="FF0000"/>
                </a:solidFill>
              </a:rPr>
              <a:t>: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sz="3200" dirty="0"/>
              <a:t>    z=</a:t>
            </a:r>
            <a:r>
              <a:rPr lang="en-US" altLang="zh-CN" sz="3200" dirty="0" err="1"/>
              <a:t>x+y</a:t>
            </a:r>
            <a:endParaRPr lang="en-US" altLang="zh-CN" sz="3200" dirty="0"/>
          </a:p>
          <a:p>
            <a:pPr>
              <a:lnSpc>
                <a:spcPct val="125000"/>
              </a:lnSpc>
            </a:pPr>
            <a:r>
              <a:rPr lang="en-US" altLang="zh-CN" sz="3200" dirty="0"/>
              <a:t>    </a:t>
            </a:r>
            <a:r>
              <a:rPr lang="en-US" altLang="zh-CN" sz="3200" b="1" dirty="0">
                <a:solidFill>
                  <a:srgbClr val="C00000"/>
                </a:solidFill>
              </a:rPr>
              <a:t>return</a:t>
            </a:r>
            <a:r>
              <a:rPr lang="en-US" altLang="zh-CN" sz="3200" dirty="0"/>
              <a:t> z</a:t>
            </a:r>
            <a:endParaRPr lang="en-US" altLang="zh-CN" sz="3200" dirty="0"/>
          </a:p>
          <a:p>
            <a:pPr>
              <a:lnSpc>
                <a:spcPct val="125000"/>
              </a:lnSpc>
            </a:pPr>
            <a:endParaRPr lang="en-US" altLang="zh-CN" sz="3200" b="1" dirty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sz="3200" b="1" dirty="0" err="1">
                <a:solidFill>
                  <a:srgbClr val="C00000"/>
                </a:solidFill>
              </a:rPr>
              <a:t>myfunc</a:t>
            </a:r>
            <a:r>
              <a:rPr lang="en-US" altLang="zh-CN" sz="3200" b="1" dirty="0">
                <a:solidFill>
                  <a:srgbClr val="C00000"/>
                </a:solidFill>
              </a:rPr>
              <a:t>(2,3)</a:t>
            </a:r>
            <a:endParaRPr lang="en-US" altLang="zh-CN" sz="32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12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92445" y="1811508"/>
            <a:ext cx="8785443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/>
              <a:t>&lt;</a:t>
            </a:r>
            <a:r>
              <a:rPr lang="zh-CN" altLang="en-US" sz="3200" b="1" dirty="0"/>
              <a:t>函数名</a:t>
            </a:r>
            <a:r>
              <a:rPr lang="en-US" altLang="zh-CN" sz="3200" b="1" dirty="0"/>
              <a:t>&gt;  ([</a:t>
            </a:r>
            <a:r>
              <a:rPr lang="zh-CN" altLang="en-US" sz="3200" b="1" dirty="0"/>
              <a:t>实参列表</a:t>
            </a:r>
            <a:r>
              <a:rPr lang="en-US" altLang="zh-CN" sz="3200" b="1" dirty="0"/>
              <a:t>])</a:t>
            </a:r>
            <a:endParaRPr lang="en-US" altLang="zh-CN" sz="3200" b="1" dirty="0"/>
          </a:p>
          <a:p>
            <a:endParaRPr lang="en-US" altLang="zh-CN" sz="3200" b="1" dirty="0"/>
          </a:p>
          <a:p>
            <a:r>
              <a:rPr lang="zh-CN" altLang="en-US" sz="3200" dirty="0"/>
              <a:t>在</a:t>
            </a:r>
            <a:r>
              <a:rPr lang="zh-CN" altLang="zh-CN" sz="3200" dirty="0"/>
              <a:t>语句中直接使用函数名，并在函数名之后的圆括号中</a:t>
            </a:r>
            <a:r>
              <a:rPr lang="zh-CN" altLang="en-US" sz="3200" dirty="0"/>
              <a:t>写</a:t>
            </a:r>
            <a:r>
              <a:rPr lang="zh-CN" altLang="zh-CN" sz="3200" dirty="0"/>
              <a:t>传入</a:t>
            </a:r>
            <a:r>
              <a:rPr lang="zh-CN" altLang="en-US" sz="3200" dirty="0"/>
              <a:t>实际</a:t>
            </a:r>
            <a:r>
              <a:rPr lang="zh-CN" altLang="zh-CN" sz="3200" dirty="0"/>
              <a:t>参数，多个参数之间以半角逗号隔开</a:t>
            </a:r>
            <a:r>
              <a:rPr lang="zh-CN" altLang="en-US" sz="3200" dirty="0"/>
              <a:t>。</a:t>
            </a:r>
            <a:r>
              <a:rPr lang="zh-CN" altLang="en-US" sz="3200" b="1" dirty="0"/>
              <a:t>例如：</a:t>
            </a:r>
            <a:r>
              <a:rPr lang="en-US" altLang="zh-CN" sz="3200" b="1" dirty="0" err="1"/>
              <a:t>myfunc</a:t>
            </a:r>
            <a:r>
              <a:rPr lang="en-US" altLang="zh-CN" sz="3200" b="1" dirty="0"/>
              <a:t>(2,3)</a:t>
            </a:r>
            <a:endParaRPr lang="zh-CN" altLang="zh-CN" sz="3200" b="1" dirty="0"/>
          </a:p>
          <a:p>
            <a:endParaRPr lang="en-US" altLang="zh-CN" sz="3200" dirty="0"/>
          </a:p>
          <a:p>
            <a:r>
              <a:rPr lang="zh-CN" altLang="zh-CN" sz="3200" dirty="0"/>
              <a:t>注意：调用时，即使不需要传入实际参数，也要带空括号。</a:t>
            </a:r>
            <a:endParaRPr lang="en-US" altLang="zh-CN" sz="3200" b="1" dirty="0"/>
          </a:p>
        </p:txBody>
      </p:sp>
      <p:sp>
        <p:nvSpPr>
          <p:cNvPr id="21" name="矩形 20"/>
          <p:cNvSpPr/>
          <p:nvPr/>
        </p:nvSpPr>
        <p:spPr>
          <a:xfrm>
            <a:off x="1061731" y="437909"/>
            <a:ext cx="50362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函数的调用</a:t>
            </a:r>
            <a:endParaRPr lang="zh-CN" altLang="en-US" sz="48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296217" y="518765"/>
            <a:ext cx="680176" cy="711395"/>
            <a:chOff x="3820548" y="-894825"/>
            <a:chExt cx="1257690" cy="1257690"/>
          </a:xfrm>
        </p:grpSpPr>
        <p:sp>
          <p:nvSpPr>
            <p:cNvPr id="23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24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灯片编号占位符 5"/>
          <p:cNvSpPr txBox="1">
            <a:spLocks noGrp="1" noChangeArrowheads="1"/>
          </p:cNvSpPr>
          <p:nvPr/>
        </p:nvSpPr>
        <p:spPr bwMode="auto">
          <a:xfrm>
            <a:off x="8256588" y="623728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Wingdings" panose="05000000000000000000" pitchFamily="2" charset="2"/>
              <a:buChar char="l"/>
              <a:defRPr sz="4000" b="1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3F41464C-EF43-4880-BA7F-514EE665FDC1}" type="slidenum">
              <a:rPr lang="en-US" altLang="zh-CN" sz="12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fld>
            <a:endParaRPr lang="en-US" altLang="zh-CN" sz="12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1212574" y="1509760"/>
            <a:ext cx="10674624" cy="3243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3200" b="1" dirty="0"/>
              <a:t>位置</a:t>
            </a:r>
            <a:r>
              <a:rPr lang="zh-CN" altLang="en-US" sz="3200" b="1" dirty="0" smtClean="0"/>
              <a:t>传递</a:t>
            </a:r>
            <a:r>
              <a:rPr lang="zh-CN" altLang="en-US" sz="3200" dirty="0" smtClean="0"/>
              <a:t>  参数</a:t>
            </a:r>
            <a:r>
              <a:rPr lang="zh-CN" altLang="en-US" sz="3200" dirty="0"/>
              <a:t>按照定义的位置及顺序进行</a:t>
            </a:r>
            <a:r>
              <a:rPr lang="zh-CN" altLang="en-US" sz="3200" dirty="0" smtClean="0"/>
              <a:t>传递</a:t>
            </a:r>
            <a:endParaRPr lang="en-US" altLang="zh-CN" sz="3200" dirty="0" smtClean="0"/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3200" b="1" dirty="0"/>
              <a:t>关键字</a:t>
            </a:r>
            <a:r>
              <a:rPr lang="zh-CN" altLang="en-US" sz="3200" b="1" dirty="0" smtClean="0"/>
              <a:t>传递</a:t>
            </a:r>
            <a:r>
              <a:rPr lang="zh-CN" altLang="en-US" sz="3200" dirty="0" smtClean="0"/>
              <a:t>  通过</a:t>
            </a:r>
            <a:r>
              <a:rPr lang="zh-CN" altLang="en-US" sz="3200" dirty="0"/>
              <a:t>传递的参数的名称进行</a:t>
            </a:r>
            <a:r>
              <a:rPr lang="zh-CN" altLang="en-US" sz="3200" dirty="0" smtClean="0"/>
              <a:t>识别</a:t>
            </a:r>
            <a:endParaRPr lang="en-US" altLang="zh-CN" sz="3200" dirty="0" smtClean="0"/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3200" b="1" dirty="0"/>
              <a:t>默认值参数</a:t>
            </a:r>
            <a:r>
              <a:rPr lang="zh-CN" altLang="en-US" sz="3200" b="1" dirty="0" smtClean="0"/>
              <a:t>传递  </a:t>
            </a:r>
            <a:r>
              <a:rPr lang="zh-CN" altLang="en-US" sz="3200" dirty="0" smtClean="0"/>
              <a:t>给</a:t>
            </a:r>
            <a:r>
              <a:rPr lang="zh-CN" altLang="en-US" sz="3200" dirty="0"/>
              <a:t>某些参数设置一个默认值，如果不传则读取默认</a:t>
            </a:r>
            <a:r>
              <a:rPr lang="zh-CN" altLang="en-US" sz="3200" dirty="0" smtClean="0"/>
              <a:t>值</a:t>
            </a:r>
            <a:endParaRPr lang="en-US" altLang="zh-CN" sz="3200" dirty="0" smtClean="0"/>
          </a:p>
        </p:txBody>
      </p:sp>
      <p:sp>
        <p:nvSpPr>
          <p:cNvPr id="6" name="矩形 5"/>
          <p:cNvSpPr/>
          <p:nvPr/>
        </p:nvSpPr>
        <p:spPr>
          <a:xfrm>
            <a:off x="1061731" y="437910"/>
            <a:ext cx="50362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8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参数的传递</a:t>
            </a:r>
            <a:endParaRPr lang="zh-CN" altLang="en-US" sz="48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96217" y="518765"/>
            <a:ext cx="680176" cy="711395"/>
            <a:chOff x="3820548" y="-894825"/>
            <a:chExt cx="1257690" cy="1257690"/>
          </a:xfrm>
        </p:grpSpPr>
        <p:sp>
          <p:nvSpPr>
            <p:cNvPr id="8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9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灯片编号占位符 5"/>
          <p:cNvSpPr txBox="1">
            <a:spLocks noGrp="1" noChangeArrowheads="1"/>
          </p:cNvSpPr>
          <p:nvPr/>
        </p:nvSpPr>
        <p:spPr bwMode="auto">
          <a:xfrm>
            <a:off x="8256588" y="623728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Wingdings" panose="05000000000000000000" pitchFamily="2" charset="2"/>
              <a:buChar char="l"/>
              <a:defRPr sz="4000" b="1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3F41464C-EF43-4880-BA7F-514EE665FDC1}" type="slidenum">
              <a:rPr lang="en-US" altLang="zh-CN" sz="12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fld>
            <a:endParaRPr lang="en-US" altLang="zh-CN" sz="12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1262983" y="1268689"/>
            <a:ext cx="10690318" cy="2215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3200" b="1" dirty="0" smtClean="0"/>
              <a:t>位置传递</a:t>
            </a:r>
            <a:br>
              <a:rPr lang="en-US" altLang="zh-CN" sz="3200" b="1" dirty="0" smtClean="0"/>
            </a:br>
            <a:r>
              <a:rPr lang="zh-CN" altLang="en-US" sz="3200" dirty="0" smtClean="0"/>
              <a:t>      实参</a:t>
            </a:r>
            <a:r>
              <a:rPr lang="zh-CN" altLang="en-US" sz="3200" dirty="0"/>
              <a:t>个数</a:t>
            </a:r>
            <a:r>
              <a:rPr lang="en-US" altLang="zh-CN" sz="3200" dirty="0"/>
              <a:t>=</a:t>
            </a:r>
            <a:r>
              <a:rPr lang="zh-CN" altLang="en-US" sz="3200" dirty="0"/>
              <a:t>形参</a:t>
            </a:r>
            <a:r>
              <a:rPr lang="zh-CN" altLang="en-US" sz="3200" dirty="0" smtClean="0"/>
              <a:t>个数，否则报错。</a:t>
            </a:r>
            <a:endParaRPr lang="en-US" altLang="zh-CN" sz="3200" dirty="0" smtClean="0"/>
          </a:p>
          <a:p>
            <a:pPr>
              <a:spcBef>
                <a:spcPts val="1200"/>
              </a:spcBef>
            </a:pPr>
            <a:r>
              <a:rPr lang="zh-CN" altLang="zh-CN" sz="3200" dirty="0"/>
              <a:t> </a:t>
            </a:r>
            <a:r>
              <a:rPr lang="en-US" altLang="zh-CN" sz="3200" dirty="0" smtClean="0"/>
              <a:t>							</a:t>
            </a:r>
            <a:endParaRPr lang="zh-CN" altLang="zh-CN" sz="3200" dirty="0"/>
          </a:p>
        </p:txBody>
      </p:sp>
      <p:sp>
        <p:nvSpPr>
          <p:cNvPr id="6" name="矩形 5"/>
          <p:cNvSpPr/>
          <p:nvPr/>
        </p:nvSpPr>
        <p:spPr>
          <a:xfrm>
            <a:off x="1061731" y="437910"/>
            <a:ext cx="50362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8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参数的传递</a:t>
            </a:r>
            <a:endParaRPr lang="zh-CN" altLang="en-US" sz="48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96217" y="518765"/>
            <a:ext cx="680176" cy="711395"/>
            <a:chOff x="3820548" y="-894825"/>
            <a:chExt cx="1257690" cy="1257690"/>
          </a:xfrm>
        </p:grpSpPr>
        <p:sp>
          <p:nvSpPr>
            <p:cNvPr id="8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9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1242" y="3027851"/>
            <a:ext cx="3930080" cy="2329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636305" y="5767584"/>
            <a:ext cx="1094621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</a:rPr>
              <a:t>TypeError</a:t>
            </a:r>
            <a:r>
              <a:rPr lang="en-US" altLang="zh-CN" sz="3200" dirty="0">
                <a:solidFill>
                  <a:srgbClr val="FF0000"/>
                </a:solidFill>
              </a:rPr>
              <a:t>: fun1() missing 1 required positional argument: 'c'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灯片编号占位符 5"/>
          <p:cNvSpPr txBox="1">
            <a:spLocks noGrp="1" noChangeArrowheads="1"/>
          </p:cNvSpPr>
          <p:nvPr/>
        </p:nvSpPr>
        <p:spPr bwMode="auto">
          <a:xfrm>
            <a:off x="8256588" y="623728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Wingdings" panose="05000000000000000000" pitchFamily="2" charset="2"/>
              <a:buChar char="l"/>
              <a:defRPr sz="4000" b="1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3F41464C-EF43-4880-BA7F-514EE665FDC1}" type="slidenum">
              <a:rPr lang="en-US" altLang="zh-CN" sz="12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fld>
            <a:endParaRPr lang="en-US" altLang="zh-CN" sz="12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1262983" y="1268689"/>
            <a:ext cx="10690318" cy="4536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3200" b="1" dirty="0" smtClean="0"/>
              <a:t>关键字传递</a:t>
            </a:r>
            <a:endParaRPr lang="en-US" altLang="zh-CN" sz="3200" b="1" dirty="0" smtClean="0"/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</a:pPr>
            <a:r>
              <a:rPr lang="en-US" altLang="zh-CN" sz="3200" dirty="0" smtClean="0"/>
              <a:t>        </a:t>
            </a:r>
            <a:r>
              <a:rPr lang="zh-CN" altLang="zh-CN" sz="3200" dirty="0" smtClean="0"/>
              <a:t>调用函数时，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明确指定把某个实参值传递给某个形参，</a:t>
            </a:r>
            <a:r>
              <a:rPr lang="zh-CN" altLang="zh-CN" sz="3200" dirty="0" smtClean="0"/>
              <a:t>位置</a:t>
            </a:r>
            <a:r>
              <a:rPr lang="zh-CN" altLang="en-US" sz="3200" dirty="0" smtClean="0"/>
              <a:t>无关。</a:t>
            </a:r>
            <a:endParaRPr lang="en-US" altLang="zh-CN" sz="3200" dirty="0" smtClean="0"/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</a:pPr>
            <a:r>
              <a:rPr lang="en-US" altLang="zh-CN" sz="3200" dirty="0" smtClean="0"/>
              <a:t>【</a:t>
            </a:r>
            <a:r>
              <a:rPr lang="zh-CN" altLang="en-US" sz="3200" dirty="0" smtClean="0"/>
              <a:t>例</a:t>
            </a:r>
            <a:r>
              <a:rPr lang="en-US" altLang="zh-CN" sz="3200" dirty="0" smtClean="0"/>
              <a:t>3】</a:t>
            </a:r>
            <a:r>
              <a:rPr lang="zh-CN" altLang="en-US" sz="3200" dirty="0" smtClean="0"/>
              <a:t>参数的关键字传递</a:t>
            </a:r>
            <a:r>
              <a:rPr lang="zh-CN" altLang="en-US" sz="3200" dirty="0"/>
              <a:t>。比较两个数的大小，输出大者</a:t>
            </a:r>
            <a:r>
              <a:rPr lang="zh-CN" altLang="en-US" sz="3200" dirty="0" smtClean="0"/>
              <a:t>。</a:t>
            </a:r>
            <a:endParaRPr lang="en-US" altLang="zh-CN" sz="3200" dirty="0" smtClean="0"/>
          </a:p>
          <a:p>
            <a:pPr>
              <a:spcBef>
                <a:spcPts val="1200"/>
              </a:spcBef>
            </a:pPr>
            <a:r>
              <a:rPr lang="zh-CN" altLang="zh-CN" sz="3200" dirty="0"/>
              <a:t> </a:t>
            </a:r>
            <a:r>
              <a:rPr lang="en-US" altLang="zh-CN" sz="3200" dirty="0" smtClean="0"/>
              <a:t>							</a:t>
            </a:r>
            <a:r>
              <a:rPr lang="zh-CN" altLang="zh-CN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运行结果为：</a:t>
            </a:r>
            <a:endParaRPr lang="zh-CN" altLang="zh-CN" sz="32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ts val="1200"/>
              </a:spcBef>
            </a:pPr>
            <a:r>
              <a:rPr lang="en-US" altLang="zh-CN" sz="3200" dirty="0" smtClean="0"/>
              <a:t>								7</a:t>
            </a:r>
            <a:endParaRPr lang="zh-CN" altLang="zh-CN" sz="3200" dirty="0"/>
          </a:p>
        </p:txBody>
      </p:sp>
      <p:sp>
        <p:nvSpPr>
          <p:cNvPr id="6" name="矩形 5"/>
          <p:cNvSpPr/>
          <p:nvPr/>
        </p:nvSpPr>
        <p:spPr>
          <a:xfrm>
            <a:off x="1061731" y="437910"/>
            <a:ext cx="50362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8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参数的传递</a:t>
            </a:r>
            <a:endParaRPr lang="zh-CN" altLang="en-US" sz="48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96217" y="518765"/>
            <a:ext cx="680176" cy="711395"/>
            <a:chOff x="3820548" y="-894825"/>
            <a:chExt cx="1257690" cy="1257690"/>
          </a:xfrm>
        </p:grpSpPr>
        <p:sp>
          <p:nvSpPr>
            <p:cNvPr id="8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9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9814" y="4530970"/>
            <a:ext cx="2684585" cy="2237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灯片编号占位符 5"/>
          <p:cNvSpPr txBox="1">
            <a:spLocks noGrp="1" noChangeArrowheads="1"/>
          </p:cNvSpPr>
          <p:nvPr/>
        </p:nvSpPr>
        <p:spPr bwMode="auto">
          <a:xfrm>
            <a:off x="8256588" y="623728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Wingdings" panose="05000000000000000000" pitchFamily="2" charset="2"/>
              <a:buChar char="l"/>
              <a:defRPr sz="4000" b="1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3F41464C-EF43-4880-BA7F-514EE665FDC1}" type="slidenum">
              <a:rPr lang="en-US" altLang="zh-CN" sz="12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fld>
            <a:endParaRPr lang="en-US" altLang="zh-CN" sz="12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1262983" y="1268689"/>
            <a:ext cx="10690318" cy="36994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3200" b="1" dirty="0"/>
              <a:t>默认值参数</a:t>
            </a:r>
            <a:r>
              <a:rPr lang="zh-CN" altLang="en-US" sz="3200" b="1" dirty="0" smtClean="0"/>
              <a:t>传递</a:t>
            </a:r>
            <a:br>
              <a:rPr lang="en-US" altLang="zh-CN" sz="3200" b="1" dirty="0" smtClean="0"/>
            </a:br>
            <a:r>
              <a:rPr lang="en-US" altLang="zh-CN" sz="3200" b="1" dirty="0" smtClean="0"/>
              <a:t>      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在定义函数</a:t>
            </a:r>
            <a:r>
              <a:rPr lang="zh-CN" altLang="zh-CN" sz="3200" b="1" dirty="0" smtClean="0">
                <a:solidFill>
                  <a:srgbClr val="FF0000"/>
                </a:solidFill>
              </a:rPr>
              <a:t>时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直接对形参赋值</a:t>
            </a:r>
            <a:r>
              <a:rPr lang="zh-CN" altLang="en-US" sz="3200" dirty="0" smtClean="0"/>
              <a:t>。</a:t>
            </a:r>
            <a:endParaRPr lang="en-US" altLang="zh-CN" sz="3200" dirty="0" smtClean="0"/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</a:pPr>
            <a:r>
              <a:rPr lang="en-US" altLang="zh-CN" sz="3200" dirty="0"/>
              <a:t>【</a:t>
            </a:r>
            <a:r>
              <a:rPr lang="zh-CN" altLang="en-US" sz="3200" dirty="0" smtClean="0"/>
              <a:t>例</a:t>
            </a:r>
            <a:r>
              <a:rPr lang="en-US" altLang="zh-CN" sz="3200" dirty="0" smtClean="0"/>
              <a:t>5】</a:t>
            </a:r>
            <a:r>
              <a:rPr lang="zh-CN" altLang="en-US" sz="3200" dirty="0" smtClean="0"/>
              <a:t>默认值参数传递</a:t>
            </a:r>
            <a:r>
              <a:rPr lang="zh-CN" altLang="en-US" sz="3200" dirty="0"/>
              <a:t>。比较两个数的大小，输出大者</a:t>
            </a:r>
            <a:r>
              <a:rPr lang="zh-CN" altLang="en-US" sz="3200" dirty="0" smtClean="0"/>
              <a:t>。</a:t>
            </a:r>
            <a:endParaRPr lang="en-US" altLang="zh-CN" sz="3200" dirty="0" smtClean="0"/>
          </a:p>
          <a:p>
            <a:pPr>
              <a:spcBef>
                <a:spcPts val="1200"/>
              </a:spcBef>
            </a:pPr>
            <a:r>
              <a:rPr lang="zh-CN" altLang="zh-CN" sz="3200" dirty="0"/>
              <a:t> </a:t>
            </a:r>
            <a:r>
              <a:rPr lang="en-US" altLang="zh-CN" sz="3200" dirty="0" smtClean="0"/>
              <a:t>							</a:t>
            </a:r>
            <a:r>
              <a:rPr lang="zh-CN" altLang="zh-CN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运行结果为：</a:t>
            </a:r>
            <a:endParaRPr lang="zh-CN" altLang="zh-CN" sz="32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ts val="1200"/>
              </a:spcBef>
            </a:pPr>
            <a:r>
              <a:rPr lang="en-US" altLang="zh-CN" sz="3200" dirty="0" smtClean="0"/>
              <a:t>								7</a:t>
            </a:r>
            <a:endParaRPr lang="zh-CN" altLang="zh-CN" sz="3200" dirty="0"/>
          </a:p>
        </p:txBody>
      </p:sp>
      <p:sp>
        <p:nvSpPr>
          <p:cNvPr id="6" name="矩形 5"/>
          <p:cNvSpPr/>
          <p:nvPr/>
        </p:nvSpPr>
        <p:spPr>
          <a:xfrm>
            <a:off x="1061731" y="437910"/>
            <a:ext cx="50362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8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参数的传递</a:t>
            </a:r>
            <a:endParaRPr lang="zh-CN" altLang="en-US" sz="48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96217" y="518765"/>
            <a:ext cx="680176" cy="711395"/>
            <a:chOff x="3820548" y="-894825"/>
            <a:chExt cx="1257690" cy="1257690"/>
          </a:xfrm>
        </p:grpSpPr>
        <p:sp>
          <p:nvSpPr>
            <p:cNvPr id="8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9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5957" y="3860190"/>
            <a:ext cx="3477914" cy="2517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灯片编号占位符 5"/>
          <p:cNvSpPr txBox="1">
            <a:spLocks noGrp="1" noChangeArrowheads="1"/>
          </p:cNvSpPr>
          <p:nvPr/>
        </p:nvSpPr>
        <p:spPr bwMode="auto">
          <a:xfrm>
            <a:off x="8256588" y="623728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Wingdings" panose="05000000000000000000" pitchFamily="2" charset="2"/>
              <a:buChar char="l"/>
              <a:defRPr sz="4000" b="1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3F41464C-EF43-4880-BA7F-514EE665FDC1}" type="slidenum">
              <a:rPr lang="en-US" altLang="zh-CN" sz="12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fld>
            <a:endParaRPr lang="en-US" altLang="zh-CN" sz="12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1212574" y="1509760"/>
            <a:ext cx="10674624" cy="3982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3200" dirty="0" smtClean="0">
                <a:solidFill>
                  <a:srgbClr val="C00000"/>
                </a:solidFill>
              </a:rPr>
              <a:t>定义</a:t>
            </a:r>
            <a:r>
              <a:rPr lang="zh-CN" altLang="en-US" sz="3200" dirty="0" smtClean="0"/>
              <a:t>：指变量</a:t>
            </a:r>
            <a:r>
              <a:rPr lang="zh-CN" altLang="en-US" sz="3200" dirty="0"/>
              <a:t>能被有效使用的</a:t>
            </a:r>
            <a:r>
              <a:rPr lang="zh-CN" altLang="en-US" sz="3200" dirty="0" smtClean="0"/>
              <a:t>范围。</a:t>
            </a:r>
            <a:endParaRPr lang="zh-CN" altLang="en-US" sz="3200" dirty="0"/>
          </a:p>
          <a:p>
            <a:pPr marL="914400" lvl="1" indent="-45720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3200" b="1" dirty="0" smtClean="0"/>
              <a:t>全局变量</a:t>
            </a:r>
            <a:r>
              <a:rPr lang="zh-CN" altLang="en-US" sz="3200" dirty="0" smtClean="0"/>
              <a:t>  在函数之外定义的变量，在整个程序范围内起作用。</a:t>
            </a:r>
            <a:endParaRPr lang="en-US" altLang="zh-CN" sz="3200" dirty="0" smtClean="0"/>
          </a:p>
          <a:p>
            <a:pPr marL="914400" lvl="1" indent="-45720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3200" b="1" dirty="0" smtClean="0"/>
              <a:t>局部变量</a:t>
            </a:r>
            <a:r>
              <a:rPr lang="zh-CN" altLang="en-US" sz="3200" dirty="0" smtClean="0"/>
              <a:t>  指在某个函数内部定义的变量，在该函数范围内起作用。</a:t>
            </a:r>
            <a:endParaRPr lang="en-US" altLang="zh-CN" sz="3200" dirty="0" smtClean="0"/>
          </a:p>
        </p:txBody>
      </p:sp>
      <p:sp>
        <p:nvSpPr>
          <p:cNvPr id="6" name="矩形 5"/>
          <p:cNvSpPr/>
          <p:nvPr/>
        </p:nvSpPr>
        <p:spPr>
          <a:xfrm>
            <a:off x="1061731" y="437910"/>
            <a:ext cx="50362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8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变量的作用域</a:t>
            </a:r>
            <a:endParaRPr lang="zh-CN" altLang="en-US" sz="48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96217" y="518765"/>
            <a:ext cx="680176" cy="711395"/>
            <a:chOff x="3820548" y="-894825"/>
            <a:chExt cx="1257690" cy="1257690"/>
          </a:xfrm>
        </p:grpSpPr>
        <p:sp>
          <p:nvSpPr>
            <p:cNvPr id="8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9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灯片编号占位符 5"/>
          <p:cNvSpPr txBox="1">
            <a:spLocks noGrp="1" noChangeArrowheads="1"/>
          </p:cNvSpPr>
          <p:nvPr/>
        </p:nvSpPr>
        <p:spPr bwMode="auto">
          <a:xfrm>
            <a:off x="8256588" y="623728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Wingdings" panose="05000000000000000000" pitchFamily="2" charset="2"/>
              <a:buChar char="l"/>
              <a:defRPr sz="4000" b="1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3F41464C-EF43-4880-BA7F-514EE665FDC1}" type="slidenum">
              <a:rPr lang="en-US" altLang="zh-CN" sz="12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fld>
            <a:endParaRPr lang="en-US" altLang="zh-CN" sz="12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1212574" y="1509760"/>
            <a:ext cx="10674624" cy="1615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1" indent="-45720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3200" dirty="0" smtClean="0">
                <a:solidFill>
                  <a:srgbClr val="C00000"/>
                </a:solidFill>
              </a:rPr>
              <a:t>说明</a:t>
            </a:r>
            <a:r>
              <a:rPr lang="zh-CN" altLang="en-US" sz="3200" dirty="0" smtClean="0"/>
              <a:t>：</a:t>
            </a:r>
            <a:r>
              <a:rPr lang="zh-CN" altLang="en-US" sz="3200" dirty="0"/>
              <a:t>全局变量与局部变量</a:t>
            </a:r>
            <a:r>
              <a:rPr lang="zh-CN" altLang="en-US" sz="3200" dirty="0" smtClean="0"/>
              <a:t>同名</a:t>
            </a:r>
            <a:endParaRPr lang="zh-CN" altLang="en-US" sz="3200" dirty="0"/>
          </a:p>
          <a:p>
            <a:pPr marL="971550" lvl="1" indent="-51435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+mj-ea"/>
              <a:buAutoNum type="circleNumDbPlain"/>
            </a:pPr>
            <a:r>
              <a:rPr lang="zh-CN" altLang="en-US" sz="3000" dirty="0" smtClean="0"/>
              <a:t>函数内部局部变量</a:t>
            </a:r>
            <a:r>
              <a:rPr lang="zh-CN" altLang="en-US" sz="3000" dirty="0"/>
              <a:t>起作用</a:t>
            </a:r>
            <a:r>
              <a:rPr lang="zh-CN" altLang="en-US" sz="3000" dirty="0" smtClean="0"/>
              <a:t>，函数外部全局变量</a:t>
            </a:r>
            <a:r>
              <a:rPr lang="zh-CN" altLang="en-US" sz="3000" dirty="0"/>
              <a:t>起作用</a:t>
            </a:r>
            <a:r>
              <a:rPr lang="zh-CN" altLang="en-US" sz="3000" dirty="0" smtClean="0"/>
              <a:t>。</a:t>
            </a:r>
            <a:endParaRPr lang="en-US" altLang="zh-CN" sz="3000" dirty="0" smtClean="0"/>
          </a:p>
        </p:txBody>
      </p:sp>
      <p:sp>
        <p:nvSpPr>
          <p:cNvPr id="6" name="矩形 5"/>
          <p:cNvSpPr/>
          <p:nvPr/>
        </p:nvSpPr>
        <p:spPr>
          <a:xfrm>
            <a:off x="1061731" y="437910"/>
            <a:ext cx="50362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8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变量的作用域</a:t>
            </a:r>
            <a:endParaRPr lang="zh-CN" altLang="en-US" sz="48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96217" y="518765"/>
            <a:ext cx="680176" cy="711395"/>
            <a:chOff x="3820548" y="-894825"/>
            <a:chExt cx="1257690" cy="1257690"/>
          </a:xfrm>
        </p:grpSpPr>
        <p:sp>
          <p:nvSpPr>
            <p:cNvPr id="8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9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sp>
        <p:nvSpPr>
          <p:cNvPr id="3" name="矩形 2"/>
          <p:cNvSpPr/>
          <p:nvPr/>
        </p:nvSpPr>
        <p:spPr>
          <a:xfrm>
            <a:off x="1095374" y="3175085"/>
            <a:ext cx="574067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</a:pPr>
            <a:r>
              <a:rPr lang="en-US" altLang="zh-CN" sz="3200" dirty="0" smtClean="0"/>
              <a:t>【</a:t>
            </a:r>
            <a:r>
              <a:rPr lang="zh-CN" altLang="en-US" sz="3200" dirty="0" smtClean="0"/>
              <a:t>例</a:t>
            </a:r>
            <a:r>
              <a:rPr lang="en-US" altLang="zh-CN" sz="3200" dirty="0" smtClean="0"/>
              <a:t>9】</a:t>
            </a:r>
            <a:r>
              <a:rPr lang="zh-CN" altLang="en-US" sz="3200" dirty="0" smtClean="0"/>
              <a:t>变量的作用域（一）。</a:t>
            </a:r>
            <a:endParaRPr lang="en-US" altLang="zh-CN" sz="3200" dirty="0"/>
          </a:p>
        </p:txBody>
      </p:sp>
      <p:sp>
        <p:nvSpPr>
          <p:cNvPr id="4" name="矩形 3"/>
          <p:cNvSpPr/>
          <p:nvPr/>
        </p:nvSpPr>
        <p:spPr>
          <a:xfrm>
            <a:off x="7620000" y="3636750"/>
            <a:ext cx="3873213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3200" dirty="0">
                <a:solidFill>
                  <a:srgbClr val="C00000"/>
                </a:solidFill>
              </a:rPr>
              <a:t>运行结果为</a:t>
            </a:r>
            <a:r>
              <a:rPr lang="zh-CN" altLang="zh-CN" sz="3200" dirty="0" smtClean="0">
                <a:solidFill>
                  <a:srgbClr val="C00000"/>
                </a:solidFill>
              </a:rPr>
              <a:t>：</a:t>
            </a:r>
            <a:endParaRPr lang="en-US" altLang="zh-CN" sz="3200" dirty="0" smtClean="0">
              <a:solidFill>
                <a:srgbClr val="C00000"/>
              </a:solidFill>
            </a:endParaRPr>
          </a:p>
          <a:p>
            <a:pPr>
              <a:spcBef>
                <a:spcPts val="1800"/>
              </a:spcBef>
            </a:pPr>
            <a:r>
              <a:rPr lang="zh-CN" altLang="en-US" sz="2800" dirty="0"/>
              <a:t>函数内：</a:t>
            </a:r>
            <a:r>
              <a:rPr lang="en-US" altLang="zh-CN" sz="2800" dirty="0"/>
              <a:t>a=10,b=15</a:t>
            </a:r>
            <a:endParaRPr lang="en-US" altLang="zh-CN" sz="2800" dirty="0"/>
          </a:p>
          <a:p>
            <a:pPr>
              <a:spcBef>
                <a:spcPts val="1800"/>
              </a:spcBef>
            </a:pPr>
            <a:r>
              <a:rPr lang="zh-CN" altLang="en-US" sz="2800" dirty="0"/>
              <a:t>函数外：</a:t>
            </a:r>
            <a:r>
              <a:rPr lang="en-US" altLang="zh-CN" sz="2800" dirty="0"/>
              <a:t>a=5,b=6</a:t>
            </a:r>
            <a:endParaRPr lang="zh-CN" altLang="en-US" sz="28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4081463"/>
            <a:ext cx="5507582" cy="215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灯片编号占位符 5"/>
          <p:cNvSpPr txBox="1">
            <a:spLocks noGrp="1" noChangeArrowheads="1"/>
          </p:cNvSpPr>
          <p:nvPr/>
        </p:nvSpPr>
        <p:spPr bwMode="auto">
          <a:xfrm>
            <a:off x="8256588" y="623728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Wingdings" panose="05000000000000000000" pitchFamily="2" charset="2"/>
              <a:buChar char="l"/>
              <a:defRPr sz="4000" b="1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3F41464C-EF43-4880-BA7F-514EE665FDC1}" type="slidenum">
              <a:rPr lang="en-US" altLang="zh-CN" sz="12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fld>
            <a:endParaRPr lang="en-US" altLang="zh-CN" sz="12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1212574" y="1509760"/>
            <a:ext cx="10674624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1" indent="-45720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3200" dirty="0" smtClean="0">
                <a:solidFill>
                  <a:srgbClr val="C00000"/>
                </a:solidFill>
              </a:rPr>
              <a:t>说明</a:t>
            </a:r>
            <a:r>
              <a:rPr lang="zh-CN" altLang="en-US" sz="3200" dirty="0" smtClean="0"/>
              <a:t>：</a:t>
            </a:r>
            <a:r>
              <a:rPr lang="zh-CN" altLang="en-US" sz="3200" dirty="0"/>
              <a:t>全局变量与局部变量</a:t>
            </a:r>
            <a:r>
              <a:rPr lang="zh-CN" altLang="en-US" sz="3200" dirty="0" smtClean="0"/>
              <a:t>同名</a:t>
            </a:r>
            <a:endParaRPr lang="zh-CN" altLang="en-US" sz="3200" dirty="0"/>
          </a:p>
          <a:p>
            <a:pPr marL="971550" lvl="1" indent="-51435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+mj-ea"/>
              <a:buAutoNum type="circleNumDbPlain"/>
            </a:pPr>
            <a:r>
              <a:rPr lang="zh-CN" altLang="en-US" sz="3000" dirty="0" smtClean="0"/>
              <a:t>函数内部局部变量</a:t>
            </a:r>
            <a:r>
              <a:rPr lang="zh-CN" altLang="en-US" sz="3000" dirty="0"/>
              <a:t>起作用</a:t>
            </a:r>
            <a:r>
              <a:rPr lang="zh-CN" altLang="en-US" sz="3000" dirty="0" smtClean="0"/>
              <a:t>，函数外部全局变量</a:t>
            </a:r>
            <a:r>
              <a:rPr lang="zh-CN" altLang="en-US" sz="3000" dirty="0"/>
              <a:t>起作用</a:t>
            </a:r>
            <a:r>
              <a:rPr lang="zh-CN" altLang="en-US" sz="3000" dirty="0" smtClean="0"/>
              <a:t>。</a:t>
            </a:r>
            <a:endParaRPr lang="en-US" altLang="zh-CN" sz="3000" dirty="0" smtClean="0"/>
          </a:p>
          <a:p>
            <a:pPr marL="971550" lvl="1" indent="-51435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+mj-ea"/>
              <a:buAutoNum type="circleNumDbPlain"/>
            </a:pPr>
            <a:r>
              <a:rPr lang="zh-CN" altLang="en-US" sz="3000" dirty="0" smtClean="0"/>
              <a:t>若需在函数内部修改全局变量，使用</a:t>
            </a:r>
            <a:r>
              <a:rPr lang="en-US" altLang="zh-CN" sz="3000" dirty="0" smtClean="0"/>
              <a:t>global</a:t>
            </a:r>
            <a:r>
              <a:rPr lang="zh-CN" altLang="en-US" sz="3000" dirty="0" smtClean="0"/>
              <a:t>声明。</a:t>
            </a:r>
            <a:endParaRPr lang="en-US" altLang="zh-CN" sz="3000" dirty="0" smtClean="0"/>
          </a:p>
        </p:txBody>
      </p:sp>
      <p:sp>
        <p:nvSpPr>
          <p:cNvPr id="6" name="矩形 5"/>
          <p:cNvSpPr/>
          <p:nvPr/>
        </p:nvSpPr>
        <p:spPr>
          <a:xfrm>
            <a:off x="1061731" y="437910"/>
            <a:ext cx="50362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8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变量的作用域</a:t>
            </a:r>
            <a:endParaRPr lang="zh-CN" altLang="en-US" sz="48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96217" y="518765"/>
            <a:ext cx="680176" cy="711395"/>
            <a:chOff x="3820548" y="-894825"/>
            <a:chExt cx="1257690" cy="1257690"/>
          </a:xfrm>
        </p:grpSpPr>
        <p:sp>
          <p:nvSpPr>
            <p:cNvPr id="8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9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sp>
        <p:nvSpPr>
          <p:cNvPr id="3" name="矩形 2"/>
          <p:cNvSpPr/>
          <p:nvPr/>
        </p:nvSpPr>
        <p:spPr>
          <a:xfrm>
            <a:off x="1095374" y="3860885"/>
            <a:ext cx="596188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</a:pPr>
            <a:r>
              <a:rPr lang="en-US" altLang="zh-CN" sz="3200" dirty="0" smtClean="0"/>
              <a:t>【</a:t>
            </a:r>
            <a:r>
              <a:rPr lang="zh-CN" altLang="en-US" sz="3200" dirty="0" smtClean="0"/>
              <a:t>例</a:t>
            </a:r>
            <a:r>
              <a:rPr lang="en-US" altLang="zh-CN" sz="3200" dirty="0" smtClean="0"/>
              <a:t>10】</a:t>
            </a:r>
            <a:r>
              <a:rPr lang="zh-CN" altLang="en-US" sz="3200" dirty="0"/>
              <a:t>变量的作用域</a:t>
            </a:r>
            <a:r>
              <a:rPr lang="zh-CN" altLang="en-US" sz="3200" dirty="0" smtClean="0"/>
              <a:t>（二）</a:t>
            </a:r>
            <a:r>
              <a:rPr lang="zh-CN" altLang="en-US" sz="3200" dirty="0"/>
              <a:t>。</a:t>
            </a:r>
            <a:endParaRPr lang="en-US" altLang="zh-CN" sz="3200" dirty="0"/>
          </a:p>
        </p:txBody>
      </p:sp>
      <p:sp>
        <p:nvSpPr>
          <p:cNvPr id="4" name="矩形 3"/>
          <p:cNvSpPr/>
          <p:nvPr/>
        </p:nvSpPr>
        <p:spPr>
          <a:xfrm>
            <a:off x="7620000" y="4293975"/>
            <a:ext cx="3873213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3200" dirty="0">
                <a:solidFill>
                  <a:srgbClr val="C00000"/>
                </a:solidFill>
              </a:rPr>
              <a:t>运行结果为</a:t>
            </a:r>
            <a:r>
              <a:rPr lang="zh-CN" altLang="zh-CN" sz="3200" dirty="0" smtClean="0">
                <a:solidFill>
                  <a:srgbClr val="C00000"/>
                </a:solidFill>
              </a:rPr>
              <a:t>：</a:t>
            </a:r>
            <a:endParaRPr lang="en-US" altLang="zh-CN" sz="3200" dirty="0" smtClean="0">
              <a:solidFill>
                <a:srgbClr val="C00000"/>
              </a:solidFill>
            </a:endParaRPr>
          </a:p>
          <a:p>
            <a:pPr>
              <a:spcBef>
                <a:spcPts val="1800"/>
              </a:spcBef>
            </a:pPr>
            <a:r>
              <a:rPr lang="zh-CN" altLang="en-US" sz="2800" dirty="0"/>
              <a:t>函数内：</a:t>
            </a:r>
            <a:r>
              <a:rPr lang="en-US" altLang="zh-CN" sz="2800" dirty="0"/>
              <a:t>a=10,b=15</a:t>
            </a:r>
            <a:endParaRPr lang="en-US" altLang="zh-CN" sz="2800" dirty="0"/>
          </a:p>
          <a:p>
            <a:pPr>
              <a:spcBef>
                <a:spcPts val="1800"/>
              </a:spcBef>
            </a:pPr>
            <a:r>
              <a:rPr lang="zh-CN" altLang="en-US" sz="2800" dirty="0"/>
              <a:t>函数外：</a:t>
            </a:r>
            <a:r>
              <a:rPr lang="en-US" altLang="zh-CN" sz="2800" dirty="0"/>
              <a:t>a=10,b=6</a:t>
            </a:r>
            <a:endParaRPr lang="zh-CN" altLang="en-US" sz="28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9725" y="4649020"/>
            <a:ext cx="4488254" cy="1917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296217" y="1380550"/>
            <a:ext cx="11074148" cy="2406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1" indent="-45720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3200" dirty="0"/>
              <a:t>就是没有名字的函数，</a:t>
            </a:r>
            <a:r>
              <a:rPr lang="zh-CN" altLang="en-US" sz="3000" dirty="0"/>
              <a:t>通常</a:t>
            </a:r>
            <a:r>
              <a:rPr lang="zh-CN" altLang="en-US" sz="3200" dirty="0"/>
              <a:t>用在那些只使用一次的场景中</a:t>
            </a:r>
            <a:r>
              <a:rPr lang="zh-CN" altLang="en-US" sz="3000" dirty="0"/>
              <a:t>。</a:t>
            </a:r>
            <a:br>
              <a:rPr lang="en-US" altLang="zh-CN" sz="3200" dirty="0"/>
            </a:br>
            <a:r>
              <a:rPr lang="en-US" altLang="zh-CN" sz="3200" dirty="0"/>
              <a:t>     </a:t>
            </a:r>
            <a:r>
              <a:rPr lang="en-US" altLang="zh-CN" sz="3200" dirty="0">
                <a:solidFill>
                  <a:srgbClr val="C00000"/>
                </a:solidFill>
              </a:rPr>
              <a:t>lambda</a:t>
            </a:r>
            <a:r>
              <a:rPr lang="en-US" altLang="zh-CN" sz="3200" dirty="0"/>
              <a:t> </a:t>
            </a:r>
            <a:r>
              <a:rPr lang="zh-CN" altLang="en-US" sz="3200" dirty="0">
                <a:solidFill>
                  <a:schemeClr val="accent1"/>
                </a:solidFill>
              </a:rPr>
              <a:t>参数列表</a:t>
            </a:r>
            <a:r>
              <a:rPr lang="en-US" altLang="zh-CN" sz="3200" dirty="0">
                <a:solidFill>
                  <a:schemeClr val="accent1"/>
                </a:solidFill>
              </a:rPr>
              <a:t> </a:t>
            </a:r>
            <a:r>
              <a:rPr lang="en-US" altLang="zh-CN" sz="3200" dirty="0"/>
              <a:t>: </a:t>
            </a:r>
            <a:r>
              <a:rPr lang="zh-CN" altLang="en-US" sz="3200" dirty="0"/>
              <a:t>表达式</a:t>
            </a:r>
            <a:endParaRPr lang="en-US" altLang="zh-CN" sz="3200" dirty="0"/>
          </a:p>
          <a:p>
            <a:pPr lvl="1" indent="-45720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3200" dirty="0">
                <a:solidFill>
                  <a:srgbClr val="FF0000"/>
                </a:solidFill>
              </a:rPr>
              <a:t>只能有一个表达式</a:t>
            </a:r>
            <a:r>
              <a:rPr lang="zh-CN" altLang="en-US" sz="3200" dirty="0"/>
              <a:t>，表达式就是函数的返回值。</a:t>
            </a:r>
            <a:endParaRPr lang="en-US" altLang="zh-CN" sz="3200" dirty="0"/>
          </a:p>
        </p:txBody>
      </p:sp>
      <p:sp>
        <p:nvSpPr>
          <p:cNvPr id="6" name="矩形 5"/>
          <p:cNvSpPr/>
          <p:nvPr/>
        </p:nvSpPr>
        <p:spPr>
          <a:xfrm>
            <a:off x="1061731" y="437910"/>
            <a:ext cx="50362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匿名函数</a:t>
            </a:r>
            <a:endParaRPr lang="zh-CN" altLang="en-US" sz="48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96217" y="518765"/>
            <a:ext cx="680176" cy="711395"/>
            <a:chOff x="3820548" y="-894825"/>
            <a:chExt cx="1257690" cy="1257690"/>
          </a:xfrm>
        </p:grpSpPr>
        <p:sp>
          <p:nvSpPr>
            <p:cNvPr id="8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9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sp>
        <p:nvSpPr>
          <p:cNvPr id="2" name="矩形 1"/>
          <p:cNvSpPr/>
          <p:nvPr/>
        </p:nvSpPr>
        <p:spPr>
          <a:xfrm>
            <a:off x="1061731" y="4021324"/>
            <a:ext cx="9328457" cy="702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</a:pPr>
            <a:r>
              <a:rPr lang="zh-CN" altLang="en-US" sz="3000" dirty="0"/>
              <a:t>例：</a:t>
            </a:r>
            <a:r>
              <a:rPr lang="en-US" altLang="zh-CN" sz="3000" dirty="0"/>
              <a:t>lambda </a:t>
            </a:r>
            <a:r>
              <a:rPr lang="en-US" altLang="zh-CN" sz="3000" dirty="0" err="1"/>
              <a:t>x,y:x+y</a:t>
            </a:r>
            <a:r>
              <a:rPr lang="en-US" altLang="zh-CN" sz="3000" dirty="0"/>
              <a:t>      </a:t>
            </a:r>
            <a:r>
              <a:rPr lang="zh-CN" altLang="en-US" sz="3000" dirty="0"/>
              <a:t>函数的返回值：</a:t>
            </a:r>
            <a:r>
              <a:rPr lang="en-US" altLang="zh-CN" sz="3000" dirty="0"/>
              <a:t> </a:t>
            </a:r>
            <a:r>
              <a:rPr lang="en-US" altLang="zh-CN" sz="3000" b="1" dirty="0" err="1">
                <a:solidFill>
                  <a:srgbClr val="0000FF"/>
                </a:solidFill>
              </a:rPr>
              <a:t>x+y</a:t>
            </a:r>
            <a:endParaRPr lang="en-US" altLang="zh-CN" sz="30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1150840" y="1379337"/>
            <a:ext cx="9894277" cy="4819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1" indent="-45720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3200" dirty="0"/>
              <a:t>递归（</a:t>
            </a:r>
            <a:r>
              <a:rPr lang="en-US" altLang="zh-CN" sz="3200" dirty="0"/>
              <a:t>recursion</a:t>
            </a:r>
            <a:r>
              <a:rPr lang="zh-CN" altLang="en-US" sz="3200" dirty="0"/>
              <a:t>）是一种</a:t>
            </a:r>
            <a:r>
              <a:rPr lang="zh-CN" altLang="en-US" sz="3200" b="1" dirty="0">
                <a:solidFill>
                  <a:srgbClr val="FF0000"/>
                </a:solidFill>
              </a:rPr>
              <a:t>直接或者间接调用函数自身</a:t>
            </a:r>
            <a:r>
              <a:rPr lang="zh-CN" altLang="en-US" sz="3200" dirty="0"/>
              <a:t>的算法，其</a:t>
            </a:r>
            <a:r>
              <a:rPr lang="zh-CN" altLang="en-US" sz="3200" b="1" dirty="0"/>
              <a:t>实质</a:t>
            </a:r>
            <a:r>
              <a:rPr lang="zh-CN" altLang="en-US" sz="3200" dirty="0"/>
              <a:t>是把问题</a:t>
            </a:r>
            <a:r>
              <a:rPr lang="zh-CN" altLang="en-US" sz="3200" b="1" dirty="0"/>
              <a:t>分解成规模缩小的同类子问题</a:t>
            </a:r>
            <a:r>
              <a:rPr lang="zh-CN" altLang="en-US" sz="3200" dirty="0"/>
              <a:t>，然后</a:t>
            </a:r>
            <a:r>
              <a:rPr lang="zh-CN" altLang="en-US" sz="3200"/>
              <a:t>递归</a:t>
            </a:r>
            <a:r>
              <a:rPr lang="zh-CN" altLang="en-US" sz="3200" smtClean="0"/>
              <a:t>调用求出问题</a:t>
            </a:r>
            <a:r>
              <a:rPr lang="zh-CN" altLang="en-US" sz="3200" dirty="0"/>
              <a:t>的解。</a:t>
            </a:r>
            <a:endParaRPr lang="zh-CN" altLang="en-US" sz="3200" dirty="0"/>
          </a:p>
          <a:p>
            <a:pPr lvl="1" indent="-45720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3200" dirty="0"/>
              <a:t>能够设计成递归算法的问题必须满足</a:t>
            </a:r>
            <a:r>
              <a:rPr lang="zh-CN" altLang="en-US" sz="3200" b="1" dirty="0"/>
              <a:t>两个条件</a:t>
            </a:r>
            <a:r>
              <a:rPr lang="zh-CN" altLang="en-US" sz="3200" dirty="0"/>
              <a:t>：</a:t>
            </a:r>
            <a:endParaRPr lang="zh-CN" altLang="en-US" sz="3200" dirty="0"/>
          </a:p>
          <a:p>
            <a:pPr lvl="2" indent="-45720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3200" b="1" dirty="0" smtClean="0"/>
              <a:t>能</a:t>
            </a:r>
            <a:r>
              <a:rPr lang="zh-CN" altLang="en-US" sz="3200" b="1" dirty="0"/>
              <a:t>找到反复执行的过程（调用自身）</a:t>
            </a:r>
            <a:endParaRPr lang="zh-CN" altLang="en-US" sz="3200" b="1" dirty="0"/>
          </a:p>
          <a:p>
            <a:pPr lvl="2" indent="-45720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3200" b="1" dirty="0"/>
              <a:t>能找到跳出反复执行过程的条件（递归出口）</a:t>
            </a:r>
            <a:endParaRPr lang="en-US" altLang="zh-CN" sz="3200" b="1" dirty="0"/>
          </a:p>
        </p:txBody>
      </p:sp>
      <p:sp>
        <p:nvSpPr>
          <p:cNvPr id="6" name="矩形 5"/>
          <p:cNvSpPr/>
          <p:nvPr/>
        </p:nvSpPr>
        <p:spPr>
          <a:xfrm>
            <a:off x="1061731" y="437910"/>
            <a:ext cx="50362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函数的递归调用</a:t>
            </a:r>
            <a:endParaRPr lang="zh-CN" altLang="en-US" sz="48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96217" y="518765"/>
            <a:ext cx="680176" cy="711395"/>
            <a:chOff x="3820548" y="-894825"/>
            <a:chExt cx="1257690" cy="1257690"/>
          </a:xfrm>
        </p:grpSpPr>
        <p:sp>
          <p:nvSpPr>
            <p:cNvPr id="8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9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794" name="Rectangle 2"/>
          <p:cNvSpPr>
            <a:spLocks noChangeArrowheads="1"/>
          </p:cNvSpPr>
          <p:nvPr/>
        </p:nvSpPr>
        <p:spPr bwMode="auto">
          <a:xfrm>
            <a:off x="719403" y="3931374"/>
            <a:ext cx="4814294" cy="193899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def</a:t>
            </a:r>
            <a:r>
              <a:rPr lang="en-US" altLang="zh-CN" sz="2400" dirty="0"/>
              <a:t> </a:t>
            </a:r>
            <a:r>
              <a:rPr lang="en-US" altLang="zh-CN" sz="2400" dirty="0" err="1"/>
              <a:t>fac</a:t>
            </a:r>
            <a:r>
              <a:rPr lang="en-US" altLang="zh-CN" sz="2400" dirty="0"/>
              <a:t>(n):</a:t>
            </a:r>
            <a:endParaRPr lang="en-US" altLang="zh-CN" sz="2400" dirty="0"/>
          </a:p>
          <a:p>
            <a:r>
              <a:rPr lang="en-US" altLang="zh-CN" sz="2400" dirty="0"/>
              <a:t>    if n==1:</a:t>
            </a:r>
            <a:endParaRPr lang="en-US" altLang="zh-CN" sz="2400" dirty="0"/>
          </a:p>
          <a:p>
            <a:r>
              <a:rPr lang="en-US" altLang="zh-CN" sz="2400" dirty="0"/>
              <a:t>        return 1</a:t>
            </a:r>
            <a:endParaRPr lang="en-US" altLang="zh-CN" sz="2400" dirty="0"/>
          </a:p>
          <a:p>
            <a:r>
              <a:rPr lang="en-US" altLang="zh-CN" sz="2400" dirty="0"/>
              <a:t>    else:</a:t>
            </a:r>
            <a:endParaRPr lang="en-US" altLang="zh-CN" sz="2400" dirty="0"/>
          </a:p>
          <a:p>
            <a:r>
              <a:rPr lang="en-US" altLang="zh-CN" sz="2400" dirty="0"/>
              <a:t>        return n*</a:t>
            </a:r>
            <a:r>
              <a:rPr lang="en-US" altLang="zh-CN" sz="2400" dirty="0" err="1"/>
              <a:t>fac</a:t>
            </a:r>
            <a:r>
              <a:rPr lang="en-US" altLang="zh-CN" sz="2400" dirty="0"/>
              <a:t>(n-1</a:t>
            </a:r>
            <a:r>
              <a:rPr lang="en-US" altLang="zh-CN" sz="2400" dirty="0" smtClean="0"/>
              <a:t>)</a:t>
            </a:r>
            <a:endParaRPr lang="en-US" altLang="zh-CN" sz="2400" dirty="0"/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239185" y="1568450"/>
            <a:ext cx="11618383" cy="1227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l" eaLnBrk="0" hangingPunct="0">
              <a:lnSpc>
                <a:spcPct val="90000"/>
              </a:lnSpc>
            </a:pPr>
            <a:r>
              <a:rPr kumimoji="0" lang="zh-CN" altLang="en-US" sz="3200" b="1" dirty="0">
                <a:latin typeface="Times New Roman" panose="02020603050405020304" pitchFamily="18" charset="0"/>
              </a:rPr>
              <a:t>　　　 </a:t>
            </a:r>
            <a:r>
              <a:rPr kumimoji="0" lang="en-US" altLang="zh-CN" sz="3200" b="1" dirty="0">
                <a:latin typeface="Times New Roman" panose="02020603050405020304" pitchFamily="18" charset="0"/>
              </a:rPr>
              <a:t>1             </a:t>
            </a:r>
            <a:r>
              <a:rPr kumimoji="0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(n=1) </a:t>
            </a:r>
            <a:r>
              <a:rPr kumimoji="0" lang="en-US" altLang="zh-CN" sz="3200" b="1" dirty="0">
                <a:latin typeface="Times New Roman" panose="02020603050405020304" pitchFamily="18" charset="0"/>
              </a:rPr>
              <a:t> </a:t>
            </a:r>
            <a:r>
              <a:rPr kumimoji="0" lang="en-US" altLang="zh-CN" sz="3200" b="1" dirty="0">
                <a:solidFill>
                  <a:srgbClr val="339966"/>
                </a:solidFill>
                <a:latin typeface="Times New Roman" panose="02020603050405020304" pitchFamily="18" charset="0"/>
              </a:rPr>
              <a:t> </a:t>
            </a:r>
            <a:r>
              <a:rPr kumimoji="0" lang="en-US" altLang="zh-CN" sz="3200" b="1" dirty="0">
                <a:solidFill>
                  <a:srgbClr val="339966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/*</a:t>
            </a:r>
            <a:r>
              <a:rPr lang="zh-CN" altLang="en-US" sz="3200" b="1" dirty="0">
                <a:solidFill>
                  <a:srgbClr val="339966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结束条件，基本解</a:t>
            </a:r>
            <a:r>
              <a:rPr kumimoji="0" lang="zh-CN" altLang="en-US" sz="3200" b="1" dirty="0">
                <a:solidFill>
                  <a:srgbClr val="339966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*</a:t>
            </a:r>
            <a:r>
              <a:rPr kumimoji="0" lang="en-US" altLang="zh-CN" sz="3200" b="1" dirty="0">
                <a:solidFill>
                  <a:srgbClr val="339966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/</a:t>
            </a:r>
            <a:endParaRPr kumimoji="0" lang="en-US" altLang="zh-CN" sz="3200" b="1" dirty="0">
              <a:solidFill>
                <a:srgbClr val="339966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algn="l" eaLnBrk="0" hangingPunct="0">
              <a:lnSpc>
                <a:spcPct val="50000"/>
              </a:lnSpc>
            </a:pPr>
            <a:r>
              <a:rPr kumimoji="0" lang="en-US" altLang="zh-CN" sz="3200" b="1" dirty="0">
                <a:latin typeface="Times New Roman" panose="02020603050405020304" pitchFamily="18" charset="0"/>
              </a:rPr>
              <a:t> n! =</a:t>
            </a:r>
            <a:endParaRPr kumimoji="0" lang="en-US" altLang="zh-CN" sz="3200" b="1" dirty="0">
              <a:latin typeface="Times New Roman" panose="02020603050405020304" pitchFamily="18" charset="0"/>
            </a:endParaRPr>
          </a:p>
          <a:p>
            <a:pPr algn="l" eaLnBrk="0" hangingPunct="0">
              <a:lnSpc>
                <a:spcPct val="90000"/>
              </a:lnSpc>
            </a:pPr>
            <a:r>
              <a:rPr kumimoji="0" lang="en-US" altLang="zh-CN" sz="3200" b="1" dirty="0">
                <a:latin typeface="Times New Roman" panose="02020603050405020304" pitchFamily="18" charset="0"/>
              </a:rPr>
              <a:t>         </a:t>
            </a:r>
            <a:r>
              <a:rPr kumimoji="0" lang="zh-CN" altLang="en-US" sz="3200" b="1" dirty="0">
                <a:latin typeface="Times New Roman" panose="02020603050405020304" pitchFamily="18" charset="0"/>
              </a:rPr>
              <a:t>　</a:t>
            </a:r>
            <a:r>
              <a:rPr kumimoji="0" lang="en-US" altLang="zh-CN" sz="3200" b="1" dirty="0">
                <a:latin typeface="Times New Roman" panose="02020603050405020304" pitchFamily="18" charset="0"/>
              </a:rPr>
              <a:t>n*(n-1)! </a:t>
            </a:r>
            <a:r>
              <a:rPr kumimoji="0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(n&gt;=2)</a:t>
            </a:r>
            <a:r>
              <a:rPr kumimoji="0" lang="en-US" altLang="zh-CN" sz="3200" b="1" dirty="0">
                <a:latin typeface="Times New Roman" panose="02020603050405020304" pitchFamily="18" charset="0"/>
              </a:rPr>
              <a:t> </a:t>
            </a:r>
            <a:r>
              <a:rPr kumimoji="0" lang="en-US" altLang="zh-CN" sz="32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 </a:t>
            </a:r>
            <a:r>
              <a:rPr kumimoji="0" lang="en-US" altLang="zh-CN" sz="3200" b="1" dirty="0">
                <a:solidFill>
                  <a:srgbClr val="339966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/*</a:t>
            </a:r>
            <a:r>
              <a:rPr lang="zh-CN" altLang="en-US" sz="3200" b="1" dirty="0">
                <a:solidFill>
                  <a:srgbClr val="339966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递推公式</a:t>
            </a:r>
            <a:r>
              <a:rPr kumimoji="0" lang="zh-CN" altLang="en-US" sz="3200" b="1" dirty="0">
                <a:solidFill>
                  <a:srgbClr val="339966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*</a:t>
            </a:r>
            <a:r>
              <a:rPr kumimoji="0" lang="en-US" altLang="zh-CN" sz="3200" b="1" dirty="0">
                <a:solidFill>
                  <a:srgbClr val="339966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/</a:t>
            </a:r>
            <a:endParaRPr kumimoji="0" lang="en-US" altLang="zh-CN" sz="3200" b="1" dirty="0">
              <a:solidFill>
                <a:srgbClr val="339966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1509" name="AutoShape 5"/>
          <p:cNvSpPr/>
          <p:nvPr/>
        </p:nvSpPr>
        <p:spPr bwMode="auto">
          <a:xfrm>
            <a:off x="1140072" y="1833564"/>
            <a:ext cx="385233" cy="720725"/>
          </a:xfrm>
          <a:prstGeom prst="leftBrace">
            <a:avLst>
              <a:gd name="adj1" fmla="val 20788"/>
              <a:gd name="adj2" fmla="val 38741"/>
            </a:avLst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0" name="Rectangle 7"/>
          <p:cNvSpPr>
            <a:spLocks noChangeArrowheads="1"/>
          </p:cNvSpPr>
          <p:nvPr/>
        </p:nvSpPr>
        <p:spPr bwMode="auto">
          <a:xfrm>
            <a:off x="1248834" y="517392"/>
            <a:ext cx="10608733" cy="64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r>
              <a:rPr kumimoji="1" lang="zh-CN" altLang="en-US" sz="3600" dirty="0">
                <a:latin typeface="隶书" panose="02010509060101010101" pitchFamily="49" charset="-122"/>
                <a:ea typeface="隶书" panose="02010509060101010101" pitchFamily="49" charset="-122"/>
              </a:rPr>
              <a:t>用递归算法计算正整数</a:t>
            </a:r>
            <a:r>
              <a:rPr kumimoji="1" lang="en-US" altLang="zh-CN" sz="3600" dirty="0">
                <a:latin typeface="隶书" panose="02010509060101010101" pitchFamily="49" charset="-122"/>
                <a:ea typeface="隶书" panose="02010509060101010101" pitchFamily="49" charset="-122"/>
              </a:rPr>
              <a:t>n</a:t>
            </a:r>
            <a:r>
              <a:rPr kumimoji="1" lang="zh-CN" altLang="en-US" sz="3600" dirty="0">
                <a:latin typeface="隶书" panose="02010509060101010101" pitchFamily="49" charset="-122"/>
                <a:ea typeface="隶书" panose="02010509060101010101" pitchFamily="49" charset="-122"/>
              </a:rPr>
              <a:t>的阶乘</a:t>
            </a:r>
            <a:endParaRPr kumimoji="1" lang="zh-CN" altLang="en-US" sz="3600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96217" y="518765"/>
            <a:ext cx="680176" cy="711395"/>
            <a:chOff x="3820548" y="-894825"/>
            <a:chExt cx="1257690" cy="1257690"/>
          </a:xfrm>
        </p:grpSpPr>
        <p:sp>
          <p:nvSpPr>
            <p:cNvPr id="10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11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6268066" y="3931374"/>
            <a:ext cx="4768644" cy="193899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def</a:t>
            </a:r>
            <a:r>
              <a:rPr lang="en-US" altLang="zh-CN" sz="2400" dirty="0"/>
              <a:t> </a:t>
            </a:r>
            <a:r>
              <a:rPr lang="en-US" altLang="zh-CN" sz="2400" dirty="0" err="1"/>
              <a:t>fac</a:t>
            </a:r>
            <a:r>
              <a:rPr lang="en-US" altLang="zh-CN" sz="2400" dirty="0"/>
              <a:t>(n):</a:t>
            </a:r>
            <a:endParaRPr lang="en-US" altLang="zh-CN" sz="2400" dirty="0"/>
          </a:p>
          <a:p>
            <a:r>
              <a:rPr lang="en-US" altLang="zh-CN" sz="2400" dirty="0"/>
              <a:t>    f=1</a:t>
            </a:r>
            <a:endParaRPr lang="en-US" altLang="zh-CN" sz="2400" dirty="0"/>
          </a:p>
          <a:p>
            <a:r>
              <a:rPr lang="en-US" altLang="zh-CN" sz="2400" dirty="0"/>
              <a:t>    for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in range(1,n+1):</a:t>
            </a:r>
            <a:endParaRPr lang="en-US" altLang="zh-CN" sz="2400" dirty="0"/>
          </a:p>
          <a:p>
            <a:r>
              <a:rPr lang="en-US" altLang="zh-CN" sz="2400" dirty="0"/>
              <a:t>        f*=</a:t>
            </a:r>
            <a:r>
              <a:rPr lang="en-US" altLang="zh-CN" sz="2400" dirty="0" err="1"/>
              <a:t>i</a:t>
            </a:r>
            <a:endParaRPr lang="en-US" altLang="zh-CN" sz="2400" dirty="0"/>
          </a:p>
          <a:p>
            <a:r>
              <a:rPr lang="en-US" altLang="zh-CN" sz="2400" dirty="0"/>
              <a:t>    return </a:t>
            </a:r>
            <a:r>
              <a:rPr lang="en-US" altLang="zh-CN" sz="2400" dirty="0" smtClean="0"/>
              <a:t>f</a:t>
            </a:r>
            <a:endParaRPr lang="en-US" altLang="zh-CN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636305" y="3133872"/>
            <a:ext cx="3178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FF0000"/>
                </a:solidFill>
              </a:rPr>
              <a:t>#</a:t>
            </a:r>
            <a:r>
              <a:rPr lang="zh-CN" altLang="en-US" sz="2400" dirty="0" smtClean="0">
                <a:solidFill>
                  <a:srgbClr val="FF0000"/>
                </a:solidFill>
              </a:rPr>
              <a:t>递归函数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268066" y="3094162"/>
            <a:ext cx="3178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FF0000"/>
                </a:solidFill>
              </a:rPr>
              <a:t>#</a:t>
            </a:r>
            <a:r>
              <a:rPr lang="zh-CN" altLang="en-US" sz="2400" dirty="0">
                <a:solidFill>
                  <a:srgbClr val="FF0000"/>
                </a:solidFill>
              </a:rPr>
              <a:t>普通</a:t>
            </a:r>
            <a:r>
              <a:rPr lang="zh-CN" altLang="en-US" sz="2400" dirty="0" smtClean="0">
                <a:solidFill>
                  <a:srgbClr val="FF0000"/>
                </a:solidFill>
              </a:rPr>
              <a:t>函数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45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5794" grpId="0" animBg="1" autoUpdateAnimBg="0"/>
      <p:bldP spid="12" grpId="0" animBg="1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310914" y="3354920"/>
            <a:ext cx="357020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组合数据类型</a:t>
            </a:r>
            <a:endParaRPr lang="en-US" sz="44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511800" y="1955759"/>
            <a:ext cx="1168400" cy="1168400"/>
            <a:chOff x="4838310" y="2343675"/>
            <a:chExt cx="1257690" cy="1257690"/>
          </a:xfrm>
        </p:grpSpPr>
        <p:sp>
          <p:nvSpPr>
            <p:cNvPr id="2" name="圆形 15"/>
            <p:cNvSpPr/>
            <p:nvPr/>
          </p:nvSpPr>
          <p:spPr>
            <a:xfrm>
              <a:off x="4838310" y="234367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4" name="图形 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125155" y="2630520"/>
              <a:ext cx="684000" cy="6840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821264" y="1268907"/>
            <a:ext cx="11154426" cy="495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32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字符串：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属于</a:t>
            </a: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不可变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序列类型，使用单引号、双引号、三单引号或三双引号作为界定符。</a:t>
            </a:r>
            <a:r>
              <a:rPr lang="en-US" altLang="zh-CN" sz="3200" dirty="0"/>
              <a:t>a = </a:t>
            </a:r>
            <a:r>
              <a:rPr lang="en-US" altLang="zh-CN" sz="3200" dirty="0">
                <a:solidFill>
                  <a:srgbClr val="FF0000"/>
                </a:solidFill>
              </a:rPr>
              <a:t>'</a:t>
            </a:r>
            <a:r>
              <a:rPr lang="en-US" altLang="zh-CN" sz="3200" dirty="0"/>
              <a:t>Python</a:t>
            </a:r>
            <a:r>
              <a:rPr lang="en-US" altLang="zh-CN" sz="3200" dirty="0">
                <a:solidFill>
                  <a:srgbClr val="FF0000"/>
                </a:solidFill>
              </a:rPr>
              <a:t>'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32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列表：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可</a:t>
            </a:r>
            <a:r>
              <a:rPr lang="zh-CN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存储由多个值组成的序列</a:t>
            </a:r>
            <a:r>
              <a:rPr lang="zh-CN" altLang="zh-CN" sz="3200" dirty="0"/>
              <a:t>。</a:t>
            </a:r>
            <a:r>
              <a:rPr lang="zh-CN" altLang="zh-CN" sz="3200" b="1" dirty="0"/>
              <a:t>有序</a:t>
            </a:r>
            <a:r>
              <a:rPr lang="zh-CN" altLang="zh-CN" sz="3200" dirty="0"/>
              <a:t>的</a:t>
            </a:r>
            <a:r>
              <a:rPr lang="zh-CN" altLang="en-US" sz="3200" dirty="0"/>
              <a:t>，</a:t>
            </a:r>
            <a:r>
              <a:rPr lang="zh-CN" altLang="zh-CN" sz="3200" b="1" dirty="0"/>
              <a:t>动态</a:t>
            </a:r>
            <a:r>
              <a:rPr lang="zh-CN" altLang="zh-CN" sz="3200" dirty="0"/>
              <a:t>的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en-US" altLang="zh-CN" sz="3200" dirty="0">
                <a:solidFill>
                  <a:srgbClr val="FF0000"/>
                </a:solidFill>
              </a:rPr>
              <a:t>[]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32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元组：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可</a:t>
            </a:r>
            <a:r>
              <a:rPr lang="zh-CN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存储由多个值组成的序列</a:t>
            </a:r>
            <a:r>
              <a:rPr lang="zh-CN" altLang="zh-CN" sz="3200" dirty="0"/>
              <a:t>。</a:t>
            </a:r>
            <a:r>
              <a:rPr lang="zh-CN" altLang="en-US" sz="3200" dirty="0"/>
              <a:t>不可改变的。</a:t>
            </a:r>
            <a:r>
              <a:rPr lang="en-US" altLang="zh-CN" sz="3200" dirty="0">
                <a:solidFill>
                  <a:srgbClr val="FF0000"/>
                </a:solidFill>
              </a:rPr>
              <a:t>()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marL="457200" indent="-457200">
              <a:spcBef>
                <a:spcPts val="18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32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字典：</a:t>
            </a:r>
            <a:r>
              <a:rPr lang="zh-CN" altLang="zh-CN" sz="3200" dirty="0"/>
              <a:t>包含了一个</a:t>
            </a:r>
            <a:r>
              <a:rPr lang="zh-CN" altLang="zh-CN" sz="3200" b="1" dirty="0">
                <a:solidFill>
                  <a:schemeClr val="accent1"/>
                </a:solidFill>
              </a:rPr>
              <a:t>索引的集合</a:t>
            </a:r>
            <a:r>
              <a:rPr lang="zh-CN" altLang="zh-CN" sz="3200" dirty="0"/>
              <a:t>，称为</a:t>
            </a:r>
            <a:r>
              <a:rPr lang="zh-CN" altLang="zh-CN" sz="3200" b="1" dirty="0">
                <a:solidFill>
                  <a:schemeClr val="accent1"/>
                </a:solidFill>
              </a:rPr>
              <a:t>键（</a:t>
            </a:r>
            <a:r>
              <a:rPr lang="en-US" altLang="zh-CN" sz="3200" b="1" dirty="0">
                <a:solidFill>
                  <a:schemeClr val="accent1"/>
                </a:solidFill>
              </a:rPr>
              <a:t>key</a:t>
            </a:r>
            <a:r>
              <a:rPr lang="zh-CN" altLang="zh-CN" sz="3200" b="1" dirty="0">
                <a:solidFill>
                  <a:schemeClr val="accent1"/>
                </a:solidFill>
              </a:rPr>
              <a:t>）</a:t>
            </a:r>
            <a:r>
              <a:rPr lang="zh-CN" altLang="zh-CN" sz="3200" dirty="0">
                <a:solidFill>
                  <a:schemeClr val="accent1"/>
                </a:solidFill>
              </a:rPr>
              <a:t>和</a:t>
            </a:r>
            <a:r>
              <a:rPr lang="zh-CN" altLang="zh-CN" sz="3200" b="1" dirty="0">
                <a:solidFill>
                  <a:schemeClr val="accent1"/>
                </a:solidFill>
              </a:rPr>
              <a:t>值（</a:t>
            </a:r>
            <a:r>
              <a:rPr lang="en-US" altLang="zh-CN" sz="3200" b="1" dirty="0">
                <a:solidFill>
                  <a:schemeClr val="accent1"/>
                </a:solidFill>
              </a:rPr>
              <a:t>value</a:t>
            </a:r>
            <a:r>
              <a:rPr lang="zh-CN" altLang="zh-CN" sz="3200" b="1" dirty="0">
                <a:solidFill>
                  <a:schemeClr val="accent1"/>
                </a:solidFill>
              </a:rPr>
              <a:t>）</a:t>
            </a:r>
            <a:r>
              <a:rPr lang="zh-CN" altLang="zh-CN" sz="3200" dirty="0"/>
              <a:t>的集合。字典就是用花括号包裹的键值对的集合。每个键值对用</a:t>
            </a:r>
            <a:r>
              <a:rPr lang="zh-CN" altLang="zh-CN" sz="3200" b="1" dirty="0">
                <a:solidFill>
                  <a:schemeClr val="accent1"/>
                </a:solidFill>
              </a:rPr>
              <a:t>冒号“</a:t>
            </a:r>
            <a:r>
              <a:rPr lang="en-US" altLang="zh-CN" sz="3200" b="1" dirty="0">
                <a:solidFill>
                  <a:schemeClr val="accent1"/>
                </a:solidFill>
              </a:rPr>
              <a:t>:</a:t>
            </a:r>
            <a:r>
              <a:rPr lang="zh-CN" altLang="zh-CN" sz="3200" b="1" dirty="0">
                <a:solidFill>
                  <a:schemeClr val="accent1"/>
                </a:solidFill>
              </a:rPr>
              <a:t>”</a:t>
            </a:r>
            <a:r>
              <a:rPr lang="zh-CN" altLang="zh-CN" sz="3200" dirty="0"/>
              <a:t>分隔，每对之间用</a:t>
            </a:r>
            <a:r>
              <a:rPr lang="zh-CN" altLang="zh-CN" sz="3200" b="1" dirty="0">
                <a:solidFill>
                  <a:schemeClr val="accent1"/>
                </a:solidFill>
              </a:rPr>
              <a:t>逗号“</a:t>
            </a:r>
            <a:r>
              <a:rPr lang="en-US" altLang="zh-CN" sz="3200" b="1" dirty="0">
                <a:solidFill>
                  <a:schemeClr val="accent1"/>
                </a:solidFill>
              </a:rPr>
              <a:t>,</a:t>
            </a:r>
            <a:r>
              <a:rPr lang="zh-CN" altLang="zh-CN" sz="3200" b="1" dirty="0">
                <a:solidFill>
                  <a:schemeClr val="accent1"/>
                </a:solidFill>
              </a:rPr>
              <a:t>”</a:t>
            </a:r>
            <a:r>
              <a:rPr lang="zh-CN" altLang="zh-CN" sz="3200" dirty="0"/>
              <a:t>分隔</a:t>
            </a:r>
            <a:endParaRPr lang="en-US" altLang="zh-CN" sz="3200" dirty="0"/>
          </a:p>
        </p:txBody>
      </p:sp>
      <p:sp>
        <p:nvSpPr>
          <p:cNvPr id="6" name="矩形 5"/>
          <p:cNvSpPr/>
          <p:nvPr/>
        </p:nvSpPr>
        <p:spPr>
          <a:xfrm>
            <a:off x="1061730" y="437910"/>
            <a:ext cx="952761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几个组合数据类型</a:t>
            </a:r>
            <a:endParaRPr lang="zh-CN" altLang="en-US" sz="48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96217" y="518765"/>
            <a:ext cx="680176" cy="711395"/>
            <a:chOff x="3820548" y="-894825"/>
            <a:chExt cx="1257690" cy="1257690"/>
          </a:xfrm>
        </p:grpSpPr>
        <p:sp>
          <p:nvSpPr>
            <p:cNvPr id="8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9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sp>
        <p:nvSpPr>
          <p:cNvPr id="2" name="矩形 1"/>
          <p:cNvSpPr/>
          <p:nvPr/>
        </p:nvSpPr>
        <p:spPr>
          <a:xfrm>
            <a:off x="1370031" y="6254887"/>
            <a:ext cx="572868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+mn-ea"/>
              </a:rPr>
              <a:t>d=</a:t>
            </a:r>
            <a:r>
              <a:rPr lang="en-US" altLang="zh-CN" sz="3200" dirty="0">
                <a:solidFill>
                  <a:srgbClr val="FF0000"/>
                </a:solidFill>
              </a:rPr>
              <a:t>{</a:t>
            </a:r>
            <a:r>
              <a:rPr lang="en-US" altLang="zh-CN" sz="2800" dirty="0">
                <a:latin typeface="+mn-ea"/>
              </a:rPr>
              <a:t>'name':'alice','age':19,'sex':'F</a:t>
            </a:r>
            <a:r>
              <a:rPr lang="en-US" altLang="zh-CN" sz="3200" dirty="0">
                <a:solidFill>
                  <a:srgbClr val="FF0000"/>
                </a:solidFill>
              </a:rPr>
              <a:t>'}</a:t>
            </a:r>
            <a:endParaRPr lang="en-US" altLang="zh-CN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 build="p"/>
      <p:bldP spid="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"/>
          <p:cNvSpPr txBox="1"/>
          <p:nvPr/>
        </p:nvSpPr>
        <p:spPr>
          <a:xfrm>
            <a:off x="893214" y="537546"/>
            <a:ext cx="9712423" cy="86147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800" dirty="0">
                <a:latin typeface="+mn-lt"/>
                <a:ea typeface="+mn-ea"/>
                <a:cs typeface="+mn-cs"/>
              </a:rPr>
              <a:t>1.</a:t>
            </a:r>
            <a:r>
              <a:rPr lang="zh-CN" altLang="zh-CN" sz="4800" dirty="0">
                <a:latin typeface="+mn-lt"/>
                <a:ea typeface="+mn-ea"/>
                <a:cs typeface="+mn-cs"/>
              </a:rPr>
              <a:t>字符串</a:t>
            </a:r>
            <a:endParaRPr lang="zh-CN" altLang="en-US" sz="4800" dirty="0">
              <a:latin typeface="+mn-lt"/>
              <a:ea typeface="+mn-ea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10440" r="49832"/>
          <a:stretch>
            <a:fillRect/>
          </a:stretch>
        </p:blipFill>
        <p:spPr>
          <a:xfrm>
            <a:off x="546879" y="2486768"/>
            <a:ext cx="6065420" cy="297221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81764" y="1206344"/>
            <a:ext cx="10863357" cy="11343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包含在</a:t>
            </a:r>
            <a:r>
              <a:rPr lang="zh-CN" altLang="en-US" sz="2400" dirty="0">
                <a:solidFill>
                  <a:srgbClr val="FF0000"/>
                </a:solidFill>
              </a:rPr>
              <a:t>引号</a:t>
            </a:r>
            <a:r>
              <a:rPr lang="zh-CN" altLang="en-US" sz="2400" dirty="0"/>
              <a:t>之间的</a:t>
            </a:r>
            <a:r>
              <a:rPr lang="zh-CN" altLang="en-US" sz="2400" dirty="0">
                <a:solidFill>
                  <a:srgbClr val="FF0000"/>
                </a:solidFill>
              </a:rPr>
              <a:t>字符</a:t>
            </a:r>
            <a:r>
              <a:rPr lang="zh-CN" altLang="en-US" sz="2400" dirty="0"/>
              <a:t>集合，每个字符都会有一个位置标识，称为</a:t>
            </a:r>
            <a:r>
              <a:rPr lang="zh-CN" altLang="en-US" sz="2400" dirty="0">
                <a:solidFill>
                  <a:srgbClr val="FF0000"/>
                </a:solidFill>
              </a:rPr>
              <a:t>索引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例：</a:t>
            </a:r>
            <a:r>
              <a:rPr lang="en-US" altLang="zh-CN" sz="2400" dirty="0"/>
              <a:t>name=‘</a:t>
            </a:r>
            <a:r>
              <a:rPr lang="en-US" altLang="zh-CN" sz="2400" dirty="0" err="1"/>
              <a:t>abcdef</a:t>
            </a:r>
            <a:r>
              <a:rPr lang="en-US" altLang="zh-CN" sz="2400" dirty="0"/>
              <a:t>’</a:t>
            </a:r>
            <a:endParaRPr lang="en-US" altLang="zh-CN" sz="2400" dirty="0"/>
          </a:p>
        </p:txBody>
      </p:sp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6763656" y="2743552"/>
          <a:ext cx="506911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869"/>
                <a:gridCol w="3960245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solidFill>
                            <a:schemeClr val="tx1"/>
                          </a:solidFill>
                        </a:rPr>
                        <a:t>字符串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a       b      c      d      e        f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solidFill>
                            <a:schemeClr val="tx1"/>
                          </a:solidFill>
                        </a:rPr>
                        <a:t>正索引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0       1       2     3      4        5 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solidFill>
                            <a:schemeClr val="tx1"/>
                          </a:solidFill>
                        </a:rPr>
                        <a:t>负索引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-6     -5     -4    -3    -2      -1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7171678" y="4493849"/>
            <a:ext cx="4473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C00000"/>
                </a:solidFill>
              </a:rPr>
              <a:t>Python</a:t>
            </a:r>
            <a:r>
              <a:rPr lang="zh-CN" altLang="en-US" sz="2800" dirty="0">
                <a:solidFill>
                  <a:srgbClr val="C00000"/>
                </a:solidFill>
              </a:rPr>
              <a:t>中下标从</a:t>
            </a:r>
            <a:r>
              <a:rPr lang="en-US" altLang="zh-CN" sz="2800" dirty="0">
                <a:solidFill>
                  <a:srgbClr val="C00000"/>
                </a:solidFill>
              </a:rPr>
              <a:t>0</a:t>
            </a:r>
            <a:r>
              <a:rPr lang="zh-CN" altLang="en-US" sz="2800" dirty="0">
                <a:solidFill>
                  <a:srgbClr val="C00000"/>
                </a:solidFill>
              </a:rPr>
              <a:t>开始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27269" y="5309218"/>
            <a:ext cx="114055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dirty="0"/>
              <a:t>利用方括号运算符</a:t>
            </a:r>
            <a:r>
              <a:rPr lang="en-US" altLang="zh-CN" sz="2400" dirty="0"/>
              <a:t>[ ]</a:t>
            </a:r>
            <a:r>
              <a:rPr lang="zh-CN" altLang="zh-CN" sz="2400" dirty="0"/>
              <a:t>可以通过索引值得到相应位置（下标）的字符：</a:t>
            </a:r>
            <a:endParaRPr lang="en-US" altLang="zh-CN" sz="2400" dirty="0"/>
          </a:p>
          <a:p>
            <a:r>
              <a:rPr lang="zh-CN" altLang="zh-CN" sz="2400" dirty="0"/>
              <a:t>①从前往后的正向索引，</a:t>
            </a:r>
            <a:r>
              <a:rPr lang="en-US" altLang="zh-CN" sz="2400" dirty="0"/>
              <a:t>n</a:t>
            </a:r>
            <a:r>
              <a:rPr lang="zh-CN" altLang="zh-CN" sz="2400" dirty="0"/>
              <a:t>个字符的字符串，其索引值从</a:t>
            </a:r>
            <a:r>
              <a:rPr lang="en-US" altLang="zh-CN" sz="2400" dirty="0"/>
              <a:t>0</a:t>
            </a:r>
            <a:r>
              <a:rPr lang="zh-CN" altLang="zh-CN" sz="2400" dirty="0"/>
              <a:t>至</a:t>
            </a:r>
            <a:r>
              <a:rPr lang="en-US" altLang="zh-CN" sz="2400" dirty="0"/>
              <a:t>n-1</a:t>
            </a:r>
            <a:r>
              <a:rPr lang="zh-CN" altLang="zh-CN" sz="2400" dirty="0"/>
              <a:t>；</a:t>
            </a:r>
            <a:endParaRPr lang="en-US" altLang="zh-CN" sz="2400" dirty="0"/>
          </a:p>
          <a:p>
            <a:r>
              <a:rPr lang="zh-CN" altLang="zh-CN" sz="2400" dirty="0"/>
              <a:t>②从后向前的负数索引，</a:t>
            </a:r>
            <a:r>
              <a:rPr lang="en-US" altLang="zh-CN" sz="2400" dirty="0"/>
              <a:t>n</a:t>
            </a:r>
            <a:r>
              <a:rPr lang="zh-CN" altLang="zh-CN" sz="2400" dirty="0"/>
              <a:t>个字符的字符串，其索引值从</a:t>
            </a:r>
            <a:r>
              <a:rPr lang="en-US" altLang="zh-CN" sz="2400" dirty="0"/>
              <a:t>-1</a:t>
            </a:r>
            <a:r>
              <a:rPr lang="zh-CN" altLang="zh-CN" sz="2400" dirty="0"/>
              <a:t>至</a:t>
            </a:r>
            <a:r>
              <a:rPr lang="en-US" altLang="zh-CN" sz="2400" dirty="0"/>
              <a:t>-n</a:t>
            </a:r>
            <a:endParaRPr lang="en-US" altLang="zh-CN" sz="2400" dirty="0"/>
          </a:p>
          <a:p>
            <a:r>
              <a:rPr lang="zh-CN" altLang="en-US" sz="2400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注意：</a:t>
            </a:r>
            <a:r>
              <a:rPr lang="zh-CN" altLang="en-US" sz="2400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下标不能越界</a:t>
            </a:r>
            <a:endParaRPr lang="zh-CN" altLang="en-US" sz="24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4"/>
          <p:cNvSpPr txBox="1"/>
          <p:nvPr/>
        </p:nvSpPr>
        <p:spPr>
          <a:xfrm>
            <a:off x="786179" y="549023"/>
            <a:ext cx="7886700" cy="36909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zh-CN" sz="3200" b="1" dirty="0"/>
              <a:t>字符串</a:t>
            </a:r>
            <a:r>
              <a:rPr lang="zh-CN" altLang="zh-CN" sz="3200" dirty="0">
                <a:solidFill>
                  <a:srgbClr val="0000FF"/>
                </a:solidFill>
              </a:rPr>
              <a:t>切片</a:t>
            </a:r>
            <a:r>
              <a:rPr lang="en-US" altLang="zh-CN" sz="3200" dirty="0"/>
              <a:t>a[</a:t>
            </a:r>
            <a:r>
              <a:rPr lang="en-US" altLang="zh-CN" sz="3200" dirty="0" err="1"/>
              <a:t>i:j:k</a:t>
            </a:r>
            <a:r>
              <a:rPr lang="en-US" altLang="zh-CN" sz="3200" dirty="0"/>
              <a:t>]</a:t>
            </a:r>
            <a:endParaRPr lang="zh-CN" altLang="zh-CN" sz="3200" dirty="0"/>
          </a:p>
        </p:txBody>
      </p:sp>
      <p:sp>
        <p:nvSpPr>
          <p:cNvPr id="7" name="文本框 6"/>
          <p:cNvSpPr txBox="1"/>
          <p:nvPr/>
        </p:nvSpPr>
        <p:spPr>
          <a:xfrm>
            <a:off x="881744" y="1089253"/>
            <a:ext cx="1010194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dirty="0"/>
              <a:t>在</a:t>
            </a:r>
            <a:r>
              <a:rPr lang="en-US" altLang="zh-CN" sz="2800" dirty="0"/>
              <a:t>Python</a:t>
            </a:r>
            <a:r>
              <a:rPr lang="zh-CN" altLang="zh-CN" sz="2800" dirty="0"/>
              <a:t>程序中，可使用切片从字符串中提取子串。</a:t>
            </a:r>
            <a:endParaRPr lang="en-US" altLang="zh-CN" sz="2800" dirty="0"/>
          </a:p>
          <a:p>
            <a:r>
              <a:rPr lang="zh-CN" altLang="zh-CN" sz="2800" dirty="0"/>
              <a:t>切片的参数是用两个冒号分隔的三个数字</a:t>
            </a:r>
            <a:r>
              <a:rPr lang="zh-CN" altLang="en-US" sz="2800" dirty="0"/>
              <a:t>：</a:t>
            </a:r>
            <a:endParaRPr lang="en-US" altLang="zh-CN" sz="2800" dirty="0"/>
          </a:p>
          <a:p>
            <a:pPr marL="214630" indent="-214630">
              <a:buFont typeface="Arial" panose="020B0604020202020204" pitchFamily="34" charset="0"/>
              <a:buChar char="•"/>
            </a:pPr>
            <a:r>
              <a:rPr lang="zh-CN" altLang="zh-CN" sz="2800" dirty="0"/>
              <a:t>第一个数字表示切片</a:t>
            </a:r>
            <a:r>
              <a:rPr lang="zh-CN" altLang="zh-CN" sz="2800" dirty="0">
                <a:solidFill>
                  <a:srgbClr val="FF0000"/>
                </a:solidFill>
              </a:rPr>
              <a:t>开始位置</a:t>
            </a:r>
            <a:r>
              <a:rPr lang="zh-CN" altLang="zh-CN" sz="2800" dirty="0"/>
              <a:t>（默认为</a:t>
            </a:r>
            <a:r>
              <a:rPr lang="en-US" altLang="zh-CN" sz="2800" dirty="0"/>
              <a:t>0</a:t>
            </a:r>
            <a:r>
              <a:rPr lang="zh-CN" altLang="zh-CN" sz="2800" dirty="0"/>
              <a:t>）</a:t>
            </a:r>
            <a:endParaRPr lang="en-US" altLang="zh-CN" sz="2800" dirty="0"/>
          </a:p>
          <a:p>
            <a:pPr marL="214630" indent="-214630">
              <a:buFont typeface="Arial" panose="020B0604020202020204" pitchFamily="34" charset="0"/>
              <a:buChar char="•"/>
            </a:pPr>
            <a:r>
              <a:rPr lang="zh-CN" altLang="zh-CN" sz="2800" dirty="0"/>
              <a:t>第二个数字表示切片</a:t>
            </a:r>
            <a:r>
              <a:rPr lang="zh-CN" altLang="zh-CN" sz="2800" dirty="0">
                <a:solidFill>
                  <a:srgbClr val="FF0000"/>
                </a:solidFill>
              </a:rPr>
              <a:t>截止位置</a:t>
            </a:r>
            <a:r>
              <a:rPr lang="zh-CN" altLang="zh-CN" sz="2800" dirty="0"/>
              <a:t>（但</a:t>
            </a:r>
            <a:r>
              <a:rPr lang="zh-CN" altLang="zh-CN" sz="2800" dirty="0">
                <a:solidFill>
                  <a:srgbClr val="FF0000"/>
                </a:solidFill>
              </a:rPr>
              <a:t>不包含</a:t>
            </a:r>
            <a:r>
              <a:rPr lang="zh-CN" altLang="zh-CN" sz="2800" dirty="0"/>
              <a:t>这个位置，默认为字符串长度）</a:t>
            </a:r>
            <a:endParaRPr lang="en-US" altLang="zh-CN" sz="2800" dirty="0"/>
          </a:p>
          <a:p>
            <a:pPr marL="214630" indent="-214630">
              <a:buFont typeface="Arial" panose="020B0604020202020204" pitchFamily="34" charset="0"/>
              <a:buChar char="•"/>
            </a:pPr>
            <a:r>
              <a:rPr lang="zh-CN" altLang="zh-CN" sz="2800" dirty="0"/>
              <a:t>第三个数字表示切片的</a:t>
            </a:r>
            <a:r>
              <a:rPr lang="zh-CN" altLang="zh-CN" sz="2800" dirty="0">
                <a:solidFill>
                  <a:srgbClr val="FF0000"/>
                </a:solidFill>
              </a:rPr>
              <a:t>步长</a:t>
            </a:r>
            <a:r>
              <a:rPr lang="zh-CN" altLang="zh-CN" sz="2800" dirty="0"/>
              <a:t>（默认为</a:t>
            </a:r>
            <a:r>
              <a:rPr lang="en-US" altLang="zh-CN" sz="2800" dirty="0">
                <a:solidFill>
                  <a:srgbClr val="FF0000"/>
                </a:solidFill>
              </a:rPr>
              <a:t>1</a:t>
            </a:r>
            <a:r>
              <a:rPr lang="zh-CN" altLang="zh-CN" sz="2800" dirty="0"/>
              <a:t>），当步长省略时，可以顺便省略最后一个冒号</a:t>
            </a:r>
            <a:endParaRPr lang="zh-CN" altLang="en-US" sz="2800" dirty="0"/>
          </a:p>
        </p:txBody>
      </p:sp>
      <p:sp>
        <p:nvSpPr>
          <p:cNvPr id="8" name="文本框 7"/>
          <p:cNvSpPr txBox="1"/>
          <p:nvPr/>
        </p:nvSpPr>
        <p:spPr>
          <a:xfrm>
            <a:off x="881744" y="4566741"/>
            <a:ext cx="6094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3200" dirty="0"/>
              <a:t>字符串</a:t>
            </a:r>
            <a:r>
              <a:rPr lang="zh-CN" altLang="zh-CN" sz="3200" dirty="0">
                <a:solidFill>
                  <a:srgbClr val="0000FF"/>
                </a:solidFill>
              </a:rPr>
              <a:t>长度</a:t>
            </a:r>
            <a:r>
              <a:rPr lang="en-US" altLang="zh-CN" sz="3200" b="1" dirty="0"/>
              <a:t>  </a:t>
            </a:r>
            <a:r>
              <a:rPr lang="en-US" altLang="zh-CN" sz="3200" dirty="0" err="1"/>
              <a:t>len</a:t>
            </a:r>
            <a:r>
              <a:rPr lang="en-US" altLang="zh-CN" sz="3200" dirty="0"/>
              <a:t>()</a:t>
            </a:r>
            <a:r>
              <a:rPr lang="zh-CN" altLang="zh-CN" sz="3200" dirty="0"/>
              <a:t>函数</a:t>
            </a:r>
            <a:r>
              <a:rPr lang="zh-CN" altLang="en-US" sz="3200" dirty="0"/>
              <a:t>；</a:t>
            </a:r>
            <a:endParaRPr lang="zh-CN" altLang="en-US" sz="32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/>
          <p:cNvSpPr txBox="1"/>
          <p:nvPr/>
        </p:nvSpPr>
        <p:spPr>
          <a:xfrm>
            <a:off x="1270805" y="474562"/>
            <a:ext cx="8081539" cy="629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&gt;&gt;&gt;</a:t>
            </a:r>
            <a:r>
              <a:rPr lang="en-US" altLang="zh-CN" sz="2400" dirty="0"/>
              <a:t> a = 'Python'</a:t>
            </a:r>
            <a:endParaRPr lang="zh-CN" altLang="zh-CN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&gt;&gt;&gt;</a:t>
            </a:r>
            <a:r>
              <a:rPr lang="en-US" altLang="zh-CN" sz="2400" dirty="0"/>
              <a:t> a[1:4]  # </a:t>
            </a:r>
            <a:r>
              <a:rPr lang="zh-CN" altLang="zh-CN" sz="2400" dirty="0"/>
              <a:t>切片实际包含索引位置为</a:t>
            </a:r>
            <a:r>
              <a:rPr lang="en-US" altLang="zh-CN" sz="2400" dirty="0"/>
              <a:t>1</a:t>
            </a:r>
            <a:r>
              <a:rPr lang="zh-CN" altLang="zh-CN" sz="2400" dirty="0"/>
              <a:t>～</a:t>
            </a:r>
            <a:r>
              <a:rPr lang="en-US" altLang="zh-CN" sz="2400" dirty="0"/>
              <a:t>3</a:t>
            </a:r>
            <a:r>
              <a:rPr lang="zh-CN" altLang="zh-CN" sz="2400" dirty="0"/>
              <a:t>的字符</a:t>
            </a:r>
            <a:endParaRPr lang="zh-CN" altLang="zh-CN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'</a:t>
            </a:r>
            <a:r>
              <a:rPr lang="en-US" altLang="zh-CN" sz="2400" dirty="0" err="1"/>
              <a:t>yth</a:t>
            </a:r>
            <a:r>
              <a:rPr lang="en-US" altLang="zh-CN" sz="2400" dirty="0"/>
              <a:t>'</a:t>
            </a:r>
            <a:endParaRPr lang="zh-CN" altLang="zh-CN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&gt;&gt;&gt;</a:t>
            </a:r>
            <a:r>
              <a:rPr lang="en-US" altLang="zh-CN" sz="2400" dirty="0"/>
              <a:t> a[:4]  # </a:t>
            </a:r>
            <a:r>
              <a:rPr lang="zh-CN" altLang="zh-CN" sz="2400" dirty="0"/>
              <a:t>省略第一个数字，表示切片从位置</a:t>
            </a:r>
            <a:r>
              <a:rPr lang="en-US" altLang="zh-CN" sz="2400" dirty="0"/>
              <a:t>0</a:t>
            </a:r>
            <a:r>
              <a:rPr lang="zh-CN" altLang="zh-CN" sz="2400" dirty="0"/>
              <a:t>开始</a:t>
            </a:r>
            <a:endParaRPr lang="zh-CN" altLang="zh-CN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'</a:t>
            </a:r>
            <a:r>
              <a:rPr lang="en-US" altLang="zh-CN" sz="2400" dirty="0" err="1"/>
              <a:t>Pyth</a:t>
            </a:r>
            <a:r>
              <a:rPr lang="en-US" altLang="zh-CN" sz="2400" dirty="0"/>
              <a:t>'</a:t>
            </a:r>
            <a:endParaRPr lang="zh-CN" altLang="zh-CN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&gt;&gt;&gt;</a:t>
            </a:r>
            <a:r>
              <a:rPr lang="en-US" altLang="zh-CN" sz="2400" dirty="0"/>
              <a:t> a[1:]  # </a:t>
            </a:r>
            <a:r>
              <a:rPr lang="zh-CN" altLang="zh-CN" sz="2400" dirty="0"/>
              <a:t>省略第二个数字，表示切片至字符串末尾结束</a:t>
            </a:r>
            <a:endParaRPr lang="zh-CN" altLang="zh-CN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'</a:t>
            </a:r>
            <a:r>
              <a:rPr lang="en-US" altLang="zh-CN" sz="2400" dirty="0" err="1"/>
              <a:t>ython</a:t>
            </a:r>
            <a:r>
              <a:rPr lang="en-US" altLang="zh-CN" sz="2400" dirty="0"/>
              <a:t>'</a:t>
            </a:r>
            <a:endParaRPr lang="zh-CN" altLang="zh-CN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&gt;&gt;&gt;</a:t>
            </a:r>
            <a:r>
              <a:rPr lang="en-US" altLang="zh-CN" sz="2400" dirty="0"/>
              <a:t> a[-2:] # </a:t>
            </a:r>
            <a:r>
              <a:rPr lang="zh-CN" altLang="en-US" sz="2400" dirty="0"/>
              <a:t>后两个字符</a:t>
            </a:r>
            <a:endParaRPr lang="zh-CN" altLang="zh-CN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'on'</a:t>
            </a:r>
            <a:endParaRPr lang="zh-CN" altLang="zh-CN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&gt;&gt;&gt;</a:t>
            </a:r>
            <a:r>
              <a:rPr lang="en-US" altLang="zh-CN" sz="2400" dirty="0"/>
              <a:t> a[::2]  # </a:t>
            </a:r>
            <a:r>
              <a:rPr lang="zh-CN" altLang="zh-CN" sz="2400" dirty="0"/>
              <a:t>步长为</a:t>
            </a:r>
            <a:r>
              <a:rPr lang="en-US" altLang="zh-CN" sz="2400" dirty="0"/>
              <a:t>2</a:t>
            </a:r>
            <a:endParaRPr lang="zh-CN" altLang="zh-CN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'</a:t>
            </a:r>
            <a:r>
              <a:rPr lang="en-US" altLang="zh-CN" sz="2400" dirty="0" err="1"/>
              <a:t>Pto</a:t>
            </a:r>
            <a:r>
              <a:rPr lang="en-US" altLang="zh-CN" sz="2400" dirty="0"/>
              <a:t>'</a:t>
            </a:r>
            <a:endParaRPr lang="zh-CN" altLang="zh-CN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&gt;&gt;&gt;</a:t>
            </a:r>
            <a:r>
              <a:rPr lang="en-US" altLang="zh-CN" sz="2400" dirty="0"/>
              <a:t> a[::-1]  # </a:t>
            </a:r>
            <a:r>
              <a:rPr lang="zh-CN" altLang="zh-CN" sz="2400" dirty="0"/>
              <a:t>步长为</a:t>
            </a:r>
            <a:r>
              <a:rPr lang="en-US" altLang="zh-CN" sz="2400" dirty="0"/>
              <a:t>-1</a:t>
            </a:r>
            <a:r>
              <a:rPr lang="zh-CN" altLang="zh-CN" sz="2400" dirty="0"/>
              <a:t>，得到</a:t>
            </a:r>
            <a:r>
              <a:rPr lang="zh-CN" altLang="en-US" sz="2400" dirty="0"/>
              <a:t>逆序</a:t>
            </a:r>
            <a:r>
              <a:rPr lang="zh-CN" altLang="zh-CN" sz="2400" dirty="0"/>
              <a:t>字符串</a:t>
            </a:r>
            <a:endParaRPr lang="zh-CN" altLang="zh-CN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'</a:t>
            </a:r>
            <a:r>
              <a:rPr lang="en-US" altLang="zh-CN" sz="2400" dirty="0" err="1"/>
              <a:t>nohtyP</a:t>
            </a:r>
            <a:r>
              <a:rPr lang="en-US" altLang="zh-CN" sz="2400" dirty="0"/>
              <a:t>'</a:t>
            </a:r>
            <a:endParaRPr lang="zh-CN" altLang="zh-CN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&gt;&gt;&gt;</a:t>
            </a:r>
            <a:r>
              <a:rPr lang="en-US" altLang="zh-CN" sz="2400" dirty="0"/>
              <a:t> a[:100]  # </a:t>
            </a:r>
            <a:r>
              <a:rPr lang="zh-CN" altLang="zh-CN" sz="2400" dirty="0"/>
              <a:t>截止位置越界，切片到末尾结束</a:t>
            </a:r>
            <a:endParaRPr lang="zh-CN" altLang="zh-CN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'Python'</a:t>
            </a:r>
            <a:endParaRPr lang="zh-CN" altLang="zh-CN" sz="24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&gt;&gt;&gt;</a:t>
            </a:r>
            <a:r>
              <a:rPr lang="en-US" altLang="zh-CN" sz="2400" dirty="0"/>
              <a:t> a[100:]  # </a:t>
            </a:r>
            <a:r>
              <a:rPr lang="zh-CN" altLang="zh-CN" sz="2400" dirty="0"/>
              <a:t>起始位置越界，返回空字符串</a:t>
            </a:r>
            <a:r>
              <a:rPr lang="en-US" altLang="zh-CN" sz="2400" dirty="0"/>
              <a:t>	</a:t>
            </a:r>
            <a:endParaRPr lang="zh-CN" altLang="zh-CN" sz="24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dirty="0"/>
              <a:t>''</a:t>
            </a:r>
            <a:endParaRPr lang="zh-CN" altLang="zh-CN" sz="24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4"/>
          <p:cNvSpPr txBox="1"/>
          <p:nvPr/>
        </p:nvSpPr>
        <p:spPr>
          <a:xfrm>
            <a:off x="1085851" y="606190"/>
            <a:ext cx="7886700" cy="36909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/>
              <a:t>字符串的常规操作</a:t>
            </a:r>
            <a:endParaRPr lang="zh-CN" altLang="en-US" sz="32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2170104" y="1089253"/>
            <a:ext cx="6066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/>
              <a:t>假设变量</a:t>
            </a:r>
            <a:r>
              <a:rPr lang="en-US" altLang="zh-CN" sz="2400"/>
              <a:t>a =</a:t>
            </a:r>
            <a:r>
              <a:rPr lang="zh-CN" altLang="en-US" sz="2400"/>
              <a:t>“</a:t>
            </a:r>
            <a:r>
              <a:rPr lang="en-US" altLang="zh-CN" sz="2400"/>
              <a:t>Hello”, b =</a:t>
            </a:r>
            <a:r>
              <a:rPr lang="zh-CN" altLang="en-US" sz="2400"/>
              <a:t>“</a:t>
            </a:r>
            <a:r>
              <a:rPr lang="en-US" altLang="zh-CN" sz="2400"/>
              <a:t>Python”</a:t>
            </a:r>
            <a:endParaRPr lang="zh-CN" altLang="en-US" sz="2400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457199" y="1849553"/>
          <a:ext cx="11255830" cy="41192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0315"/>
                <a:gridCol w="4942115"/>
                <a:gridCol w="2002971"/>
                <a:gridCol w="2340429"/>
              </a:tblGrid>
              <a:tr h="61448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运算符</a:t>
                      </a:r>
                      <a:endParaRPr lang="zh-CN" altLang="en-US" sz="2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描述</a:t>
                      </a:r>
                      <a:endParaRPr lang="zh-CN" altLang="en-US" sz="2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/>
                        <a:t>实例</a:t>
                      </a:r>
                      <a:endParaRPr lang="zh-CN" altLang="en-US" sz="24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/>
                        <a:t>结果</a:t>
                      </a:r>
                      <a:endParaRPr lang="zh-CN" altLang="en-US" sz="2400"/>
                    </a:p>
                  </a:txBody>
                  <a:tcPr marL="0" marR="0" marT="0" marB="0" anchor="ctr"/>
                </a:tc>
              </a:tr>
              <a:tr h="8972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+</a:t>
                      </a:r>
                      <a:endParaRPr lang="zh-CN" altLang="en-US" sz="24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2400" dirty="0"/>
                        <a:t>字符串连接</a:t>
                      </a:r>
                      <a:endParaRPr lang="en-US" altLang="zh-CN" sz="2400" dirty="0"/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2400" dirty="0"/>
                        <a:t>注意：只能将</a:t>
                      </a:r>
                      <a:r>
                        <a:rPr lang="zh-CN" altLang="en-US" sz="2400" dirty="0">
                          <a:solidFill>
                            <a:srgbClr val="FF0000"/>
                          </a:solidFill>
                        </a:rPr>
                        <a:t>字符串与字符串拼接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a</a:t>
                      </a:r>
                      <a:r>
                        <a:rPr lang="en-US" altLang="zh-CN" sz="2400" baseline="0"/>
                        <a:t> + b</a:t>
                      </a:r>
                      <a:endParaRPr lang="zh-CN" altLang="en-US" sz="24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HelloPython</a:t>
                      </a:r>
                      <a:endParaRPr lang="zh-CN" altLang="en-US" sz="2400"/>
                    </a:p>
                  </a:txBody>
                  <a:tcPr marL="0" marR="0" marT="0" marB="0" anchor="ctr"/>
                </a:tc>
              </a:tr>
              <a:tr h="7713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*</a:t>
                      </a:r>
                      <a:endParaRPr lang="zh-CN" altLang="en-US" sz="24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2400"/>
                        <a:t>重复输出字符串</a:t>
                      </a:r>
                      <a:endParaRPr lang="zh-CN" altLang="en-US" sz="24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a * 2</a:t>
                      </a:r>
                      <a:endParaRPr lang="zh-CN" altLang="en-US" sz="24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HelloHello</a:t>
                      </a:r>
                      <a:endParaRPr lang="zh-CN" altLang="en-US" sz="2400"/>
                    </a:p>
                  </a:txBody>
                  <a:tcPr marL="0" marR="0" marT="0" marB="0" anchor="ctr"/>
                </a:tc>
              </a:tr>
              <a:tr h="8515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[]</a:t>
                      </a:r>
                      <a:endParaRPr lang="zh-CN" altLang="en-US" sz="24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2400"/>
                        <a:t>通过索引获取字符串中字符</a:t>
                      </a:r>
                      <a:endParaRPr lang="zh-CN" altLang="en-US" sz="24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/>
                        <a:t>a[1]</a:t>
                      </a:r>
                      <a:endParaRPr lang="zh-CN" altLang="en-US" sz="24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/>
                        <a:t>e</a:t>
                      </a:r>
                      <a:endParaRPr lang="zh-CN" altLang="en-US" sz="2400"/>
                    </a:p>
                  </a:txBody>
                  <a:tcPr marL="0" marR="0" marT="0" marB="0" anchor="ctr"/>
                </a:tc>
              </a:tr>
              <a:tr h="7845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[:]</a:t>
                      </a:r>
                      <a:endParaRPr lang="zh-CN" altLang="en-US" sz="2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2400" dirty="0"/>
                        <a:t>截取字符串中的一部分，即“切片”</a:t>
                      </a:r>
                      <a:endParaRPr lang="zh-CN" altLang="en-US" sz="2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/>
                        <a:t>a[1:4]</a:t>
                      </a:r>
                      <a:endParaRPr lang="zh-CN" altLang="en-US" sz="2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/>
                        <a:t>ell</a:t>
                      </a:r>
                      <a:endParaRPr lang="zh-CN" altLang="en-US" sz="2400" dirty="0"/>
                    </a:p>
                  </a:txBody>
                  <a:tcPr marL="0" marR="0" marT="0" marB="0" anchor="ctr"/>
                </a:tc>
              </a:tr>
            </a:tbl>
          </a:graphicData>
        </a:graphic>
      </p:graphicFrame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79870" y="479322"/>
            <a:ext cx="6651523" cy="553065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/>
            <a:r>
              <a:rPr lang="zh-CN" altLang="en-US" sz="4800" b="1" dirty="0"/>
              <a:t>常用字符串方法</a:t>
            </a:r>
            <a:endParaRPr lang="zh-CN" altLang="en-US" sz="4800" b="1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" y="1392410"/>
            <a:ext cx="8768080" cy="5160790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25000"/>
              </a:lnSpc>
              <a:spcBef>
                <a:spcPts val="1200"/>
              </a:spcBef>
              <a:buSzPct val="100000"/>
              <a:buNone/>
            </a:pPr>
            <a:r>
              <a:rPr lang="en-US" altLang="zh-CN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isdigit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字符串非空且只有数字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lnSpc>
                <a:spcPct val="125000"/>
              </a:lnSpc>
              <a:spcBef>
                <a:spcPts val="1200"/>
              </a:spcBef>
              <a:buSzPct val="100000"/>
              <a:buNone/>
            </a:pPr>
            <a:r>
              <a:rPr lang="en-US" altLang="zh-CN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isalpha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字符串非空且只有字母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lnSpc>
                <a:spcPct val="125000"/>
              </a:lnSpc>
              <a:spcBef>
                <a:spcPts val="1200"/>
              </a:spcBef>
              <a:buSzPct val="100000"/>
              <a:buNone/>
            </a:pP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strip()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消除字符串两端空格及符号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lnSpc>
                <a:spcPct val="125000"/>
              </a:lnSpc>
              <a:spcBef>
                <a:spcPts val="1200"/>
              </a:spcBef>
              <a:buSzPct val="100000"/>
              <a:buNone/>
            </a:pP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replace()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用第二个子串替代第一个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lnSpc>
                <a:spcPct val="125000"/>
              </a:lnSpc>
              <a:spcBef>
                <a:spcPts val="1200"/>
              </a:spcBef>
              <a:buSzPct val="100000"/>
              <a:buNone/>
            </a:pP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split()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将字符串分成多个短字符串，返回列表。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lnSpc>
                <a:spcPct val="125000"/>
              </a:lnSpc>
              <a:spcBef>
                <a:spcPts val="1200"/>
              </a:spcBef>
              <a:buSzPct val="100000"/>
              <a:buNone/>
            </a:pP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upper()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将字符串都转换成大写字母 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lnSpc>
                <a:spcPct val="125000"/>
              </a:lnSpc>
              <a:spcBef>
                <a:spcPts val="1200"/>
              </a:spcBef>
              <a:buSzPct val="100000"/>
              <a:buNone/>
            </a:pP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lower()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将字符串都转换成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小写字母</a:t>
            </a:r>
            <a:endParaRPr lang="en-US" altLang="zh-CN" sz="24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lnSpc>
                <a:spcPct val="125000"/>
              </a:lnSpc>
              <a:spcBef>
                <a:spcPts val="1200"/>
              </a:spcBef>
              <a:buSzPct val="100000"/>
              <a:buNone/>
            </a:pPr>
            <a:r>
              <a:rPr lang="en-US" altLang="zh-CN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count():  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统计字串的个数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lnSpc>
                <a:spcPct val="150000"/>
              </a:lnSpc>
              <a:spcBef>
                <a:spcPts val="1200"/>
              </a:spcBef>
              <a:buSzPct val="100000"/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  <a:defRPr/>
            </a:pP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lnSpc>
                <a:spcPct val="150000"/>
              </a:lnSpc>
              <a:spcBef>
                <a:spcPts val="1200"/>
              </a:spcBef>
              <a:buSzPct val="100000"/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2"/>
          <p:cNvSpPr>
            <a:spLocks noChangeArrowheads="1"/>
          </p:cNvSpPr>
          <p:nvPr/>
        </p:nvSpPr>
        <p:spPr bwMode="auto">
          <a:xfrm>
            <a:off x="7259444" y="632577"/>
            <a:ext cx="4932555" cy="650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3200" dirty="0" err="1">
                <a:latin typeface="Times New Roman" panose="02020603050405020304" pitchFamily="18" charset="0"/>
              </a:rPr>
              <a:t>sr</a:t>
            </a:r>
            <a:r>
              <a:rPr lang="en-US" altLang="zh-CN" sz="3200" dirty="0">
                <a:latin typeface="Times New Roman" panose="02020603050405020304" pitchFamily="18" charset="0"/>
              </a:rPr>
              <a:t> = ",123Hi,every,one,321,"</a:t>
            </a:r>
            <a:endParaRPr lang="en-US" altLang="zh-CN" sz="3200" dirty="0">
              <a:latin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96217" y="518765"/>
            <a:ext cx="680176" cy="711395"/>
            <a:chOff x="3820548" y="-894825"/>
            <a:chExt cx="1257690" cy="1257690"/>
          </a:xfrm>
        </p:grpSpPr>
        <p:sp>
          <p:nvSpPr>
            <p:cNvPr id="8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9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sp>
        <p:nvSpPr>
          <p:cNvPr id="10" name="矩形 2"/>
          <p:cNvSpPr>
            <a:spLocks noChangeArrowheads="1"/>
          </p:cNvSpPr>
          <p:nvPr/>
        </p:nvSpPr>
        <p:spPr bwMode="auto">
          <a:xfrm>
            <a:off x="7664125" y="1538606"/>
            <a:ext cx="4635670" cy="3112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3200" dirty="0">
                <a:solidFill>
                  <a:srgbClr val="A50021"/>
                </a:solidFill>
                <a:latin typeface="Times New Roman" panose="02020603050405020304" pitchFamily="18" charset="0"/>
              </a:rPr>
              <a:t>&gt;&gt;&gt;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dirty="0" err="1">
                <a:latin typeface="Times New Roman" panose="02020603050405020304" pitchFamily="18" charset="0"/>
              </a:rPr>
              <a:t>sr.isdigit</a:t>
            </a:r>
            <a:r>
              <a:rPr lang="en-US" altLang="zh-CN" sz="3200" dirty="0">
                <a:latin typeface="Times New Roman" panose="02020603050405020304" pitchFamily="18" charset="0"/>
              </a:rPr>
              <a:t>()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3200" dirty="0">
                <a:solidFill>
                  <a:srgbClr val="A50021"/>
                </a:solidFill>
                <a:latin typeface="Times New Roman" panose="02020603050405020304" pitchFamily="18" charset="0"/>
              </a:rPr>
              <a:t>&gt;&gt;&gt;</a:t>
            </a:r>
            <a:r>
              <a:rPr lang="en-US" altLang="zh-CN" sz="3200" dirty="0">
                <a:solidFill>
                  <a:schemeClr val="accent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3200" dirty="0" err="1">
                <a:latin typeface="Times New Roman" panose="02020603050405020304" pitchFamily="18" charset="0"/>
              </a:rPr>
              <a:t>sr.isalpha</a:t>
            </a:r>
            <a:r>
              <a:rPr lang="en-US" altLang="zh-CN" sz="3200" dirty="0">
                <a:latin typeface="Times New Roman" panose="02020603050405020304" pitchFamily="18" charset="0"/>
              </a:rPr>
              <a:t>()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3200" dirty="0">
                <a:solidFill>
                  <a:srgbClr val="A50021"/>
                </a:solidFill>
                <a:latin typeface="Times New Roman" panose="02020603050405020304" pitchFamily="18" charset="0"/>
              </a:rPr>
              <a:t>&gt;&gt;&gt;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dirty="0" err="1">
                <a:latin typeface="Times New Roman" panose="02020603050405020304" pitchFamily="18" charset="0"/>
              </a:rPr>
              <a:t>sr</a:t>
            </a:r>
            <a:r>
              <a:rPr lang="en-US" altLang="zh-CN" sz="3200" dirty="0">
                <a:latin typeface="Times New Roman" panose="02020603050405020304" pitchFamily="18" charset="0"/>
              </a:rPr>
              <a:t> =</a:t>
            </a:r>
            <a:r>
              <a:rPr lang="en-US" altLang="zh-CN" sz="3200" dirty="0" err="1">
                <a:latin typeface="Times New Roman" panose="02020603050405020304" pitchFamily="18" charset="0"/>
              </a:rPr>
              <a:t>sr.strip</a:t>
            </a:r>
            <a:r>
              <a:rPr lang="en-US" altLang="zh-CN" sz="3200" dirty="0">
                <a:latin typeface="Times New Roman" panose="02020603050405020304" pitchFamily="18" charset="0"/>
              </a:rPr>
              <a:t>(",")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3200" dirty="0">
                <a:solidFill>
                  <a:srgbClr val="A50021"/>
                </a:solidFill>
                <a:latin typeface="Times New Roman" panose="02020603050405020304" pitchFamily="18" charset="0"/>
              </a:rPr>
              <a:t>&gt;&gt;&gt;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dirty="0" err="1">
                <a:latin typeface="Times New Roman" panose="02020603050405020304" pitchFamily="18" charset="0"/>
              </a:rPr>
              <a:t>st</a:t>
            </a:r>
            <a:r>
              <a:rPr lang="en-US" altLang="zh-CN" sz="3200" dirty="0">
                <a:latin typeface="Times New Roman" panose="02020603050405020304" pitchFamily="18" charset="0"/>
              </a:rPr>
              <a:t> =</a:t>
            </a:r>
            <a:r>
              <a:rPr lang="en-US" altLang="zh-CN" sz="3200" dirty="0" err="1">
                <a:latin typeface="Times New Roman" panose="02020603050405020304" pitchFamily="18" charset="0"/>
              </a:rPr>
              <a:t>sr.replace</a:t>
            </a:r>
            <a:r>
              <a:rPr lang="en-US" altLang="zh-CN" sz="3200" dirty="0">
                <a:latin typeface="Times New Roman" panose="02020603050405020304" pitchFamily="18" charset="0"/>
              </a:rPr>
              <a:t>("</a:t>
            </a:r>
            <a:r>
              <a:rPr lang="en-US" altLang="zh-CN" sz="3200" dirty="0" err="1">
                <a:latin typeface="Times New Roman" panose="02020603050405020304" pitchFamily="18" charset="0"/>
              </a:rPr>
              <a:t>e","a</a:t>
            </a:r>
            <a:r>
              <a:rPr lang="en-US" altLang="zh-CN" sz="3200" dirty="0">
                <a:latin typeface="Times New Roman" panose="02020603050405020304" pitchFamily="18" charset="0"/>
              </a:rPr>
              <a:t>")</a:t>
            </a:r>
            <a:endParaRPr lang="en-US" altLang="zh-CN" sz="3200" dirty="0">
              <a:solidFill>
                <a:srgbClr val="A50021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3200" dirty="0">
                <a:solidFill>
                  <a:srgbClr val="A50021"/>
                </a:solidFill>
                <a:latin typeface="Times New Roman" panose="02020603050405020304" pitchFamily="18" charset="0"/>
              </a:rPr>
              <a:t>&gt;&gt;&gt;</a:t>
            </a:r>
            <a:r>
              <a:rPr lang="en-US" altLang="zh-CN" sz="3200" dirty="0">
                <a:latin typeface="Times New Roman" panose="02020603050405020304" pitchFamily="18" charset="0"/>
              </a:rPr>
              <a:t> s1,s2 =</a:t>
            </a:r>
            <a:r>
              <a:rPr lang="en-US" altLang="zh-CN" sz="3200" dirty="0" err="1">
                <a:latin typeface="Times New Roman" panose="02020603050405020304" pitchFamily="18" charset="0"/>
              </a:rPr>
              <a:t>sr.split</a:t>
            </a:r>
            <a:r>
              <a:rPr lang="en-US" altLang="zh-CN" sz="3200" dirty="0">
                <a:latin typeface="Times New Roman" panose="02020603050405020304" pitchFamily="18" charset="0"/>
              </a:rPr>
              <a:t>(",")</a:t>
            </a:r>
            <a:endParaRPr lang="en-US" altLang="zh-CN" sz="3200" dirty="0">
              <a:latin typeface="Times New Roman" panose="02020603050405020304" pitchFamily="18" charset="0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976393" y="5730240"/>
            <a:ext cx="3544807" cy="48768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7" grpId="0" uiExpand="1" build="p"/>
      <p:bldP spid="10" grpId="0" uiExpand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"/>
          <p:cNvSpPr txBox="1"/>
          <p:nvPr/>
        </p:nvSpPr>
        <p:spPr>
          <a:xfrm>
            <a:off x="893214" y="537546"/>
            <a:ext cx="9712423" cy="86147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800" b="1" dirty="0">
                <a:latin typeface="+mn-ea"/>
                <a:ea typeface="+mn-ea"/>
              </a:rPr>
              <a:t>2.</a:t>
            </a:r>
            <a:r>
              <a:rPr lang="zh-CN" altLang="en-US" sz="4800" dirty="0"/>
              <a:t>列表（</a:t>
            </a:r>
            <a:r>
              <a:rPr lang="en-US" altLang="zh-CN" sz="4800" dirty="0"/>
              <a:t>List</a:t>
            </a:r>
            <a:r>
              <a:rPr lang="zh-CN" altLang="en-US" sz="4800" dirty="0"/>
              <a:t>）</a:t>
            </a:r>
            <a:endParaRPr lang="en-US" altLang="zh-CN" sz="4800" dirty="0"/>
          </a:p>
          <a:p>
            <a:endParaRPr lang="zh-CN" altLang="en-US" sz="4800" b="1" dirty="0">
              <a:latin typeface="+mn-ea"/>
              <a:ea typeface="+mn-ea"/>
            </a:endParaRPr>
          </a:p>
        </p:txBody>
      </p:sp>
      <p:sp>
        <p:nvSpPr>
          <p:cNvPr id="32" name="内容占位符 2"/>
          <p:cNvSpPr txBox="1"/>
          <p:nvPr/>
        </p:nvSpPr>
        <p:spPr>
          <a:xfrm>
            <a:off x="1066799" y="1346605"/>
            <a:ext cx="10994572" cy="48245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Char char="p"/>
            </a:pPr>
            <a:r>
              <a:rPr lang="zh-CN" altLang="en-US" sz="3200" b="1" dirty="0">
                <a:solidFill>
                  <a:srgbClr val="000000"/>
                </a:solidFill>
                <a:latin typeface="+mj-ea"/>
                <a:ea typeface="+mj-ea"/>
              </a:rPr>
              <a:t>能保存</a:t>
            </a:r>
            <a:r>
              <a:rPr lang="zh-CN" altLang="en-US" sz="3200" b="1" dirty="0">
                <a:solidFill>
                  <a:srgbClr val="0070C0"/>
                </a:solidFill>
                <a:latin typeface="+mj-ea"/>
                <a:ea typeface="+mj-ea"/>
              </a:rPr>
              <a:t>任意数量</a:t>
            </a:r>
            <a:r>
              <a:rPr lang="zh-CN" altLang="en-US" sz="3200" b="1" dirty="0">
                <a:solidFill>
                  <a:srgbClr val="FF0000"/>
                </a:solidFill>
                <a:latin typeface="+mj-ea"/>
                <a:ea typeface="+mj-ea"/>
              </a:rPr>
              <a:t>任何数据类型</a:t>
            </a:r>
            <a:r>
              <a:rPr lang="zh-CN" altLang="en-US" sz="3200" b="1" dirty="0">
                <a:solidFill>
                  <a:srgbClr val="000000"/>
                </a:solidFill>
                <a:latin typeface="+mj-ea"/>
                <a:ea typeface="+mj-ea"/>
              </a:rPr>
              <a:t>的</a:t>
            </a:r>
            <a:r>
              <a:rPr lang="en-US" altLang="zh-CN" sz="3200" b="1" dirty="0">
                <a:solidFill>
                  <a:srgbClr val="000000"/>
                </a:solidFill>
                <a:latin typeface="+mj-ea"/>
                <a:ea typeface="+mj-ea"/>
              </a:rPr>
              <a:t>Python </a:t>
            </a:r>
            <a:r>
              <a:rPr lang="zh-CN" altLang="en-US" sz="3200" b="1" dirty="0">
                <a:solidFill>
                  <a:srgbClr val="000000"/>
                </a:solidFill>
                <a:latin typeface="+mj-ea"/>
                <a:ea typeface="+mj-ea"/>
              </a:rPr>
              <a:t>对象</a:t>
            </a:r>
            <a:r>
              <a:rPr lang="zh-CN" altLang="en-US" sz="3200" dirty="0"/>
              <a:t>。</a:t>
            </a:r>
            <a:endParaRPr lang="en-US" altLang="zh-CN" sz="3200" dirty="0"/>
          </a:p>
          <a:p>
            <a:pPr lvl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+mj-ea"/>
                <a:ea typeface="+mj-ea"/>
              </a:rPr>
              <a:t>列表元素用中括号</a:t>
            </a:r>
            <a:r>
              <a:rPr lang="en-US" altLang="zh-CN" sz="2800" b="1" dirty="0">
                <a:solidFill>
                  <a:srgbClr val="FF0000"/>
                </a:solidFill>
                <a:latin typeface="+mj-ea"/>
                <a:ea typeface="+mj-ea"/>
              </a:rPr>
              <a:t>[ ]</a:t>
            </a:r>
            <a:r>
              <a:rPr lang="zh-CN" altLang="en-US" sz="2800" b="1" dirty="0">
                <a:solidFill>
                  <a:srgbClr val="000000"/>
                </a:solidFill>
                <a:latin typeface="+mj-ea"/>
                <a:ea typeface="+mj-ea"/>
              </a:rPr>
              <a:t>包裹，元素用逗号分隔</a:t>
            </a:r>
            <a:endParaRPr lang="en-US" altLang="zh-CN" sz="3200" dirty="0"/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Char char="p"/>
            </a:pPr>
            <a:r>
              <a:rPr lang="zh-CN" altLang="zh-CN" sz="3200" b="1" dirty="0">
                <a:solidFill>
                  <a:srgbClr val="000000"/>
                </a:solidFill>
                <a:latin typeface="+mj-ea"/>
                <a:ea typeface="+mj-ea"/>
              </a:rPr>
              <a:t>列表是有序的</a:t>
            </a:r>
            <a:r>
              <a:rPr lang="zh-CN" altLang="en-US" sz="3200" b="1" dirty="0">
                <a:solidFill>
                  <a:srgbClr val="000000"/>
                </a:solidFill>
                <a:latin typeface="+mj-ea"/>
                <a:ea typeface="+mj-ea"/>
              </a:rPr>
              <a:t>、</a:t>
            </a:r>
            <a:r>
              <a:rPr lang="zh-CN" altLang="zh-CN" sz="3200" b="1" dirty="0">
                <a:solidFill>
                  <a:srgbClr val="000000"/>
                </a:solidFill>
                <a:latin typeface="+mj-ea"/>
                <a:ea typeface="+mj-ea"/>
              </a:rPr>
              <a:t>是动态的</a:t>
            </a:r>
            <a:r>
              <a:rPr lang="en-US" altLang="zh-CN" sz="3200" b="1" dirty="0">
                <a:solidFill>
                  <a:srgbClr val="000000"/>
                </a:solidFill>
                <a:latin typeface="+mj-ea"/>
                <a:ea typeface="+mj-ea"/>
              </a:rPr>
              <a:t>,</a:t>
            </a:r>
            <a:endParaRPr lang="en-US" altLang="zh-CN" sz="3200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+mj-ea"/>
                <a:ea typeface="+mj-ea"/>
              </a:rPr>
              <a:t>元素是</a:t>
            </a:r>
            <a:r>
              <a:rPr lang="zh-CN" altLang="en-US" sz="2800" dirty="0">
                <a:solidFill>
                  <a:srgbClr val="0000FF"/>
                </a:solidFill>
              </a:rPr>
              <a:t>按序编号索引</a:t>
            </a:r>
            <a:r>
              <a:rPr lang="zh-CN" altLang="en-US" sz="2800" b="1" dirty="0">
                <a:solidFill>
                  <a:srgbClr val="000000"/>
                </a:solidFill>
                <a:latin typeface="+mj-ea"/>
                <a:ea typeface="+mj-ea"/>
              </a:rPr>
              <a:t>的</a:t>
            </a:r>
            <a:r>
              <a:rPr lang="zh-CN" altLang="en-US" sz="2800" dirty="0"/>
              <a:t>（</a:t>
            </a:r>
            <a:r>
              <a:rPr lang="zh-CN" altLang="en-US" sz="2800" b="1" dirty="0">
                <a:solidFill>
                  <a:srgbClr val="FF0000"/>
                </a:solidFill>
              </a:rPr>
              <a:t>从</a:t>
            </a:r>
            <a:r>
              <a:rPr lang="en-US" altLang="zh-CN" sz="2800" b="1" dirty="0">
                <a:solidFill>
                  <a:srgbClr val="FF0000"/>
                </a:solidFill>
              </a:rPr>
              <a:t>0</a:t>
            </a:r>
            <a:r>
              <a:rPr lang="zh-CN" altLang="en-US" sz="2800" b="1" dirty="0">
                <a:solidFill>
                  <a:srgbClr val="FF0000"/>
                </a:solidFill>
              </a:rPr>
              <a:t>开始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pPr lvl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+mj-ea"/>
                <a:ea typeface="+mj-ea"/>
              </a:rPr>
              <a:t>元素的个数及元素的值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可以改变</a:t>
            </a:r>
            <a:endParaRPr lang="en-US" altLang="zh-CN" sz="2800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+mj-ea"/>
                <a:ea typeface="+mj-ea"/>
              </a:rPr>
              <a:t>利用编号可对元素进行</a:t>
            </a:r>
            <a:r>
              <a:rPr lang="zh-CN" altLang="en-US" sz="2800" dirty="0">
                <a:solidFill>
                  <a:srgbClr val="0000FF"/>
                </a:solidFill>
              </a:rPr>
              <a:t>增删改查等</a:t>
            </a:r>
            <a:r>
              <a:rPr lang="zh-CN" altLang="en-US" sz="2800" b="1" dirty="0">
                <a:solidFill>
                  <a:srgbClr val="000000"/>
                </a:solidFill>
                <a:latin typeface="+mj-ea"/>
                <a:ea typeface="+mj-ea"/>
              </a:rPr>
              <a:t>操作（动态的）</a:t>
            </a:r>
            <a:r>
              <a:rPr lang="zh-CN" altLang="en-US" sz="3200" dirty="0"/>
              <a:t>。</a:t>
            </a:r>
            <a:endParaRPr lang="en-US" altLang="zh-CN" sz="3200" dirty="0"/>
          </a:p>
          <a:p>
            <a:pPr lvl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+mj-ea"/>
                <a:ea typeface="+mj-ea"/>
              </a:rPr>
              <a:t>切片运算符</a:t>
            </a:r>
            <a:r>
              <a:rPr lang="en-US" altLang="zh-CN" sz="2800" b="1" dirty="0">
                <a:solidFill>
                  <a:srgbClr val="000000"/>
                </a:solidFill>
                <a:latin typeface="+mj-ea"/>
                <a:ea typeface="+mj-ea"/>
              </a:rPr>
              <a:t>[ </a:t>
            </a:r>
            <a:r>
              <a:rPr lang="en-US" altLang="zh-CN" sz="2800" b="1" dirty="0" err="1">
                <a:solidFill>
                  <a:srgbClr val="000000"/>
                </a:solidFill>
                <a:latin typeface="+mj-ea"/>
                <a:ea typeface="+mj-ea"/>
              </a:rPr>
              <a:t>i</a:t>
            </a:r>
            <a:r>
              <a:rPr lang="en-US" altLang="zh-CN" sz="2800" b="1" dirty="0">
                <a:solidFill>
                  <a:srgbClr val="000000"/>
                </a:solidFill>
                <a:latin typeface="+mj-ea"/>
                <a:ea typeface="+mj-ea"/>
              </a:rPr>
              <a:t> : j]</a:t>
            </a:r>
            <a:r>
              <a:rPr lang="zh-CN" altLang="en-US" sz="2800" b="1" dirty="0">
                <a:solidFill>
                  <a:srgbClr val="000000"/>
                </a:solidFill>
                <a:latin typeface="+mj-ea"/>
                <a:ea typeface="+mj-ea"/>
              </a:rPr>
              <a:t>得到从下标</a:t>
            </a:r>
            <a:r>
              <a:rPr lang="en-US" altLang="zh-CN" sz="2800" b="1" dirty="0" err="1">
                <a:solidFill>
                  <a:srgbClr val="000000"/>
                </a:solidFill>
                <a:latin typeface="+mj-ea"/>
                <a:ea typeface="+mj-ea"/>
              </a:rPr>
              <a:t>i</a:t>
            </a:r>
            <a:r>
              <a:rPr lang="zh-CN" altLang="en-US" sz="2800" b="1" dirty="0">
                <a:solidFill>
                  <a:srgbClr val="000000"/>
                </a:solidFill>
                <a:latin typeface="+mj-ea"/>
                <a:ea typeface="+mj-ea"/>
              </a:rPr>
              <a:t>到下标</a:t>
            </a:r>
            <a:r>
              <a:rPr lang="en-US" altLang="zh-CN" sz="2800" b="1" dirty="0">
                <a:solidFill>
                  <a:srgbClr val="000000"/>
                </a:solidFill>
                <a:latin typeface="+mj-ea"/>
                <a:ea typeface="+mj-ea"/>
              </a:rPr>
              <a:t>j-1</a:t>
            </a:r>
            <a:r>
              <a:rPr lang="zh-CN" altLang="en-US" sz="2800" b="1" dirty="0">
                <a:solidFill>
                  <a:srgbClr val="000000"/>
                </a:solidFill>
                <a:latin typeface="+mj-ea"/>
                <a:ea typeface="+mj-ea"/>
              </a:rPr>
              <a:t>的子集</a:t>
            </a:r>
            <a:endParaRPr lang="en-US" altLang="zh-CN" sz="28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 txBox="1"/>
          <p:nvPr/>
        </p:nvSpPr>
        <p:spPr>
          <a:xfrm>
            <a:off x="1208790" y="590515"/>
            <a:ext cx="10207735" cy="48245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4800" dirty="0">
                <a:solidFill>
                  <a:schemeClr val="accent1"/>
                </a:solidFill>
              </a:rPr>
              <a:t>添加</a:t>
            </a:r>
            <a:r>
              <a:rPr lang="en-US" altLang="zh-CN" sz="4800" dirty="0">
                <a:solidFill>
                  <a:schemeClr val="accent1"/>
                </a:solidFill>
              </a:rPr>
              <a:t>/</a:t>
            </a:r>
            <a:r>
              <a:rPr lang="zh-CN" altLang="en-US" sz="4800" dirty="0">
                <a:solidFill>
                  <a:schemeClr val="accent1"/>
                </a:solidFill>
              </a:rPr>
              <a:t>删除</a:t>
            </a:r>
            <a:r>
              <a:rPr lang="zh-CN" altLang="en-US" sz="4800" dirty="0"/>
              <a:t>元素</a:t>
            </a:r>
            <a:endParaRPr lang="en-US" altLang="zh-CN" sz="4800" dirty="0"/>
          </a:p>
        </p:txBody>
      </p:sp>
      <p:sp>
        <p:nvSpPr>
          <p:cNvPr id="25" name="内容占位符 2"/>
          <p:cNvSpPr txBox="1"/>
          <p:nvPr/>
        </p:nvSpPr>
        <p:spPr bwMode="auto">
          <a:xfrm>
            <a:off x="824665" y="1324236"/>
            <a:ext cx="8229600" cy="4824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  <a:defRPr lang="zh-CN" altLang="en-US" sz="36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80000"/>
              <a:buFont typeface="Wingdings" panose="05000000000000000000" pitchFamily="2" charset="2"/>
              <a:buChar char="¨"/>
              <a:defRPr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65000"/>
              <a:buFont typeface="Wingdings" panose="05000000000000000000" pitchFamily="2" charset="2"/>
              <a:buChar char="ü"/>
              <a:defRPr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zh-CN" altLang="en-US" b="0" dirty="0"/>
              <a:t>添加元素</a:t>
            </a:r>
            <a:endParaRPr lang="zh-CN" altLang="en-US" b="0" dirty="0"/>
          </a:p>
          <a:p>
            <a:pPr lvl="1"/>
            <a:endParaRPr lang="en-US" altLang="zh-CN" b="0" dirty="0"/>
          </a:p>
          <a:p>
            <a:pPr lvl="1"/>
            <a:endParaRPr lang="en-US" altLang="zh-CN" b="1" dirty="0"/>
          </a:p>
          <a:p>
            <a:pPr marL="457200" lvl="1" indent="0">
              <a:buNone/>
            </a:pPr>
            <a:endParaRPr lang="en-US" altLang="zh-CN" b="0" dirty="0"/>
          </a:p>
          <a:p>
            <a:r>
              <a:rPr lang="zh-CN" altLang="en-US" b="0" dirty="0"/>
              <a:t>删除元素</a:t>
            </a:r>
            <a:endParaRPr lang="zh-CN" altLang="en-US" b="0" dirty="0"/>
          </a:p>
        </p:txBody>
      </p:sp>
      <p:sp>
        <p:nvSpPr>
          <p:cNvPr id="26" name="矩形 25"/>
          <p:cNvSpPr/>
          <p:nvPr/>
        </p:nvSpPr>
        <p:spPr>
          <a:xfrm>
            <a:off x="1187624" y="1848813"/>
            <a:ext cx="24032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0" kern="0" dirty="0" err="1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L.</a:t>
            </a:r>
            <a:r>
              <a:rPr lang="en-US" altLang="zh-CN" sz="3200" b="0" kern="0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insert</a:t>
            </a:r>
            <a:r>
              <a:rPr lang="en-US" altLang="zh-CN" sz="3200" b="0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(i, x)</a:t>
            </a:r>
            <a:endParaRPr lang="zh-CN" altLang="en-US" sz="2400" b="0" dirty="0"/>
          </a:p>
        </p:txBody>
      </p:sp>
      <p:sp>
        <p:nvSpPr>
          <p:cNvPr id="27" name="矩形 26"/>
          <p:cNvSpPr/>
          <p:nvPr/>
        </p:nvSpPr>
        <p:spPr>
          <a:xfrm>
            <a:off x="1187624" y="2435047"/>
            <a:ext cx="248016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0" kern="0" dirty="0" err="1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L.</a:t>
            </a:r>
            <a:r>
              <a:rPr lang="en-US" altLang="zh-CN" sz="3200" b="0" kern="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append</a:t>
            </a:r>
            <a:r>
              <a:rPr lang="en-US" altLang="zh-CN" sz="3200" b="0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(x)</a:t>
            </a:r>
            <a:endParaRPr lang="zh-CN" altLang="en-US" sz="2400" b="0" dirty="0"/>
          </a:p>
        </p:txBody>
      </p:sp>
      <p:sp>
        <p:nvSpPr>
          <p:cNvPr id="28" name="矩形 27"/>
          <p:cNvSpPr/>
          <p:nvPr/>
        </p:nvSpPr>
        <p:spPr>
          <a:xfrm>
            <a:off x="1200448" y="5628801"/>
            <a:ext cx="15568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0" kern="0" dirty="0" err="1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L.</a:t>
            </a:r>
            <a:r>
              <a:rPr lang="en-US" altLang="zh-CN" sz="3200" b="0" kern="0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pop</a:t>
            </a:r>
            <a:r>
              <a:rPr lang="en-US" altLang="zh-CN" sz="3200" b="0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()</a:t>
            </a:r>
            <a:endParaRPr lang="zh-CN" altLang="en-US" sz="2400" b="0" dirty="0"/>
          </a:p>
        </p:txBody>
      </p:sp>
      <p:sp>
        <p:nvSpPr>
          <p:cNvPr id="29" name="矩形 28"/>
          <p:cNvSpPr/>
          <p:nvPr/>
        </p:nvSpPr>
        <p:spPr>
          <a:xfrm>
            <a:off x="1200448" y="5070771"/>
            <a:ext cx="17876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0" kern="0" dirty="0" err="1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L.</a:t>
            </a:r>
            <a:r>
              <a:rPr lang="en-US" altLang="zh-CN" sz="3200" b="0" kern="0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pop</a:t>
            </a:r>
            <a:r>
              <a:rPr lang="en-US" altLang="zh-CN" sz="3200" b="0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en-US" altLang="zh-CN" sz="3200" b="0" kern="0" dirty="0" err="1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r>
              <a:rPr lang="en-US" altLang="zh-CN" sz="3200" b="0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altLang="en-US" sz="3200" b="0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zh-CN" altLang="en-US" sz="2400" b="0" dirty="0"/>
          </a:p>
        </p:txBody>
      </p:sp>
      <p:sp>
        <p:nvSpPr>
          <p:cNvPr id="31" name="TextBox 16"/>
          <p:cNvSpPr txBox="1"/>
          <p:nvPr/>
        </p:nvSpPr>
        <p:spPr>
          <a:xfrm>
            <a:off x="4006795" y="1595748"/>
            <a:ext cx="7608259" cy="1477328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87630" algn="l" defTabSz="987425"/>
            <a:r>
              <a:rPr lang="en-US" altLang="zh-CN" sz="3000" b="0" dirty="0">
                <a:ea typeface="楷体" panose="02010609060101010101" pitchFamily="49" charset="-122"/>
                <a:cs typeface="Arial" panose="020B0604020202020204" pitchFamily="34" charset="0"/>
              </a:rPr>
              <a:t>L = ['m', 'i', 'l', 'e']</a:t>
            </a:r>
            <a:endParaRPr lang="en-US" altLang="zh-CN" sz="3000" b="0" dirty="0"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87630" algn="l" defTabSz="987425"/>
            <a:r>
              <a:rPr lang="en-US" altLang="zh-CN" sz="3000" b="0" dirty="0" err="1">
                <a:ea typeface="楷体" panose="02010609060101010101" pitchFamily="49" charset="-122"/>
                <a:cs typeface="Arial" panose="020B0604020202020204" pitchFamily="34" charset="0"/>
              </a:rPr>
              <a:t>L.insert</a:t>
            </a:r>
            <a:r>
              <a:rPr lang="en-US" altLang="zh-CN" sz="3000" b="0" dirty="0">
                <a:ea typeface="楷体" panose="02010609060101010101" pitchFamily="49" charset="-122"/>
                <a:cs typeface="Arial" panose="020B0604020202020204" pitchFamily="34" charset="0"/>
              </a:rPr>
              <a:t>(0, 's’)                  #L=</a:t>
            </a:r>
            <a:r>
              <a:rPr lang="it-IT" altLang="zh-CN" sz="3000" b="0" dirty="0">
                <a:ea typeface="楷体" panose="02010609060101010101" pitchFamily="49" charset="-122"/>
                <a:cs typeface="Arial" panose="020B0604020202020204" pitchFamily="34" charset="0"/>
              </a:rPr>
              <a:t>['s', 'm', 'i', 'l', 'e']</a:t>
            </a:r>
            <a:endParaRPr lang="en-US" altLang="zh-CN" sz="3000" b="0" dirty="0"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87630" algn="l" defTabSz="987425"/>
            <a:r>
              <a:rPr lang="en-US" altLang="zh-CN" sz="3000" b="0" dirty="0" err="1">
                <a:ea typeface="楷体" panose="02010609060101010101" pitchFamily="49" charset="-122"/>
                <a:cs typeface="Arial" panose="020B0604020202020204" pitchFamily="34" charset="0"/>
              </a:rPr>
              <a:t>L.append</a:t>
            </a:r>
            <a:r>
              <a:rPr lang="en-US" altLang="zh-CN" sz="3000" b="0" dirty="0">
                <a:ea typeface="楷体" panose="02010609060101010101" pitchFamily="49" charset="-122"/>
                <a:cs typeface="Arial" panose="020B0604020202020204" pitchFamily="34" charset="0"/>
              </a:rPr>
              <a:t>('s’)              #L=</a:t>
            </a:r>
            <a:r>
              <a:rPr lang="it-IT" altLang="zh-CN" sz="3000" b="0" dirty="0">
                <a:ea typeface="楷体" panose="02010609060101010101" pitchFamily="49" charset="-122"/>
                <a:cs typeface="Arial" panose="020B0604020202020204" pitchFamily="34" charset="0"/>
              </a:rPr>
              <a:t>['s', 'm', 'i', 'l', 'e', 's']</a:t>
            </a:r>
            <a:endParaRPr lang="en-US" altLang="zh-CN" sz="3000" b="0" dirty="0"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2" name="TextBox 17"/>
          <p:cNvSpPr txBox="1"/>
          <p:nvPr/>
        </p:nvSpPr>
        <p:spPr>
          <a:xfrm>
            <a:off x="4017683" y="4101275"/>
            <a:ext cx="7608259" cy="1938992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87630" algn="l" defTabSz="987425"/>
            <a:r>
              <a:rPr lang="it-IT" altLang="zh-CN" sz="3000" b="0" dirty="0">
                <a:ea typeface="楷体" panose="02010609060101010101" pitchFamily="49" charset="-122"/>
                <a:cs typeface="Arial" panose="020B0604020202020204" pitchFamily="34" charset="0"/>
              </a:rPr>
              <a:t>L =['s', 'm', 'i', 'l', 'e', ‘s’]</a:t>
            </a:r>
            <a:endParaRPr lang="it-IT" altLang="zh-CN" sz="3000" b="0" dirty="0"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87630" algn="l" defTabSz="987425"/>
            <a:r>
              <a:rPr lang="en-US" altLang="zh-CN" sz="3000" b="0" dirty="0" err="1">
                <a:ea typeface="楷体" panose="02010609060101010101" pitchFamily="49" charset="-122"/>
                <a:cs typeface="Arial" panose="020B0604020202020204" pitchFamily="34" charset="0"/>
              </a:rPr>
              <a:t>L.remove</a:t>
            </a:r>
            <a:r>
              <a:rPr lang="en-US" altLang="zh-CN" sz="3000" b="0" dirty="0">
                <a:ea typeface="楷体" panose="02010609060101010101" pitchFamily="49" charset="-122"/>
                <a:cs typeface="Arial" panose="020B0604020202020204" pitchFamily="34" charset="0"/>
              </a:rPr>
              <a:t>('m’)              #L=</a:t>
            </a:r>
            <a:r>
              <a:rPr lang="it-IT" altLang="zh-CN" sz="3000" b="0" dirty="0">
                <a:ea typeface="楷体" panose="02010609060101010101" pitchFamily="49" charset="-122"/>
                <a:cs typeface="Arial" panose="020B0604020202020204" pitchFamily="34" charset="0"/>
              </a:rPr>
              <a:t>['s', 'i', 'l', 'e', 's'] </a:t>
            </a:r>
            <a:endParaRPr lang="en-US" altLang="zh-CN" sz="3000" b="0" dirty="0"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87630" algn="l" defTabSz="987425"/>
            <a:r>
              <a:rPr lang="en-US" altLang="zh-CN" sz="3000" b="0" dirty="0" err="1">
                <a:ea typeface="楷体" panose="02010609060101010101" pitchFamily="49" charset="-122"/>
                <a:cs typeface="Arial" panose="020B0604020202020204" pitchFamily="34" charset="0"/>
              </a:rPr>
              <a:t>L.pop</a:t>
            </a:r>
            <a:r>
              <a:rPr lang="en-US" altLang="zh-CN" sz="3000" b="0" dirty="0">
                <a:ea typeface="楷体" panose="02010609060101010101" pitchFamily="49" charset="-122"/>
                <a:cs typeface="Arial" panose="020B0604020202020204" pitchFamily="34" charset="0"/>
              </a:rPr>
              <a:t>(0)                     # 's’ L= ['</a:t>
            </a:r>
            <a:r>
              <a:rPr lang="en-US" altLang="zh-CN" sz="3000" b="0" dirty="0" err="1">
                <a:ea typeface="楷体" panose="02010609060101010101" pitchFamily="49" charset="-122"/>
                <a:cs typeface="Arial" panose="020B0604020202020204" pitchFamily="34" charset="0"/>
              </a:rPr>
              <a:t>i</a:t>
            </a:r>
            <a:r>
              <a:rPr lang="en-US" altLang="zh-CN" sz="3000" b="0" dirty="0">
                <a:ea typeface="楷体" panose="02010609060101010101" pitchFamily="49" charset="-122"/>
                <a:cs typeface="Arial" panose="020B0604020202020204" pitchFamily="34" charset="0"/>
              </a:rPr>
              <a:t>', 'l', 'e', 's']</a:t>
            </a:r>
            <a:endParaRPr lang="en-US" altLang="zh-CN" sz="3000" b="0" dirty="0"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87630" algn="l" defTabSz="987425"/>
            <a:r>
              <a:rPr lang="en-US" altLang="zh-CN" sz="3000" b="0" dirty="0" err="1">
                <a:ea typeface="楷体" panose="02010609060101010101" pitchFamily="49" charset="-122"/>
                <a:cs typeface="Arial" panose="020B0604020202020204" pitchFamily="34" charset="0"/>
              </a:rPr>
              <a:t>L.pop</a:t>
            </a:r>
            <a:r>
              <a:rPr lang="en-US" altLang="zh-CN" sz="3000" b="0" dirty="0">
                <a:ea typeface="楷体" panose="02010609060101010101" pitchFamily="49" charset="-122"/>
                <a:cs typeface="Arial" panose="020B0604020202020204" pitchFamily="34" charset="0"/>
              </a:rPr>
              <a:t>()                       #’s’ L=['</a:t>
            </a:r>
            <a:r>
              <a:rPr lang="en-US" altLang="zh-CN" sz="3000" b="0" dirty="0" err="1">
                <a:ea typeface="楷体" panose="02010609060101010101" pitchFamily="49" charset="-122"/>
                <a:cs typeface="Arial" panose="020B0604020202020204" pitchFamily="34" charset="0"/>
              </a:rPr>
              <a:t>i</a:t>
            </a:r>
            <a:r>
              <a:rPr lang="en-US" altLang="zh-CN" sz="3000" b="0" dirty="0">
                <a:ea typeface="楷体" panose="02010609060101010101" pitchFamily="49" charset="-122"/>
                <a:cs typeface="Arial" panose="020B0604020202020204" pitchFamily="34" charset="0"/>
              </a:rPr>
              <a:t>', 'l', 'e']               </a:t>
            </a:r>
            <a:endParaRPr lang="en-US" altLang="zh-CN" sz="3000" b="0" dirty="0"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208790" y="4485996"/>
            <a:ext cx="246093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0" kern="0" dirty="0" err="1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L.</a:t>
            </a:r>
            <a:r>
              <a:rPr lang="en-US" altLang="zh-CN" sz="3200" kern="0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remove</a:t>
            </a:r>
            <a:r>
              <a:rPr lang="en-US" altLang="zh-CN" sz="3200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(x)</a:t>
            </a:r>
            <a:endParaRPr lang="zh-CN" altLang="en-US" sz="2400" b="0" dirty="0"/>
          </a:p>
        </p:txBody>
      </p:sp>
      <p:sp>
        <p:nvSpPr>
          <p:cNvPr id="2" name="圆角矩形 1"/>
          <p:cNvSpPr/>
          <p:nvPr/>
        </p:nvSpPr>
        <p:spPr>
          <a:xfrm>
            <a:off x="824665" y="4453924"/>
            <a:ext cx="3015815" cy="68165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061730" y="437910"/>
            <a:ext cx="952761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8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3.</a:t>
            </a:r>
            <a:r>
              <a:rPr lang="zh-CN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字典</a:t>
            </a:r>
            <a:endParaRPr lang="zh-CN" altLang="en-US" sz="48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96217" y="518765"/>
            <a:ext cx="680176" cy="711395"/>
            <a:chOff x="3820548" y="-894825"/>
            <a:chExt cx="1257690" cy="1257690"/>
          </a:xfrm>
        </p:grpSpPr>
        <p:sp>
          <p:nvSpPr>
            <p:cNvPr id="8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9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1061730" y="1067910"/>
            <a:ext cx="11130270" cy="4950729"/>
          </a:xfrm>
          <a:prstGeom prst="rect">
            <a:avLst/>
          </a:prstGeom>
          <a:noFill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</a:rPr>
              <a:t>Python </a:t>
            </a:r>
            <a:r>
              <a:rPr lang="zh-CN" altLang="en-US" dirty="0">
                <a:latin typeface="Times New Roman" panose="02020603050405020304" pitchFamily="18" charset="0"/>
              </a:rPr>
              <a:t>中的</a:t>
            </a: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映射</a:t>
            </a:r>
            <a:r>
              <a:rPr lang="zh-CN" altLang="en-US" dirty="0">
                <a:latin typeface="Times New Roman" panose="02020603050405020304" pitchFamily="18" charset="0"/>
              </a:rPr>
              <a:t>数据类型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</a:rPr>
              <a:t>每个元素</a:t>
            </a:r>
            <a:r>
              <a:rPr lang="en-US" altLang="zh-CN" dirty="0">
                <a:latin typeface="Times New Roman" panose="02020603050405020304" pitchFamily="18" charset="0"/>
              </a:rPr>
              <a:t>(item)</a:t>
            </a:r>
            <a:r>
              <a:rPr lang="zh-CN" altLang="en-US" dirty="0">
                <a:latin typeface="Times New Roman" panose="02020603050405020304" pitchFamily="18" charset="0"/>
              </a:rPr>
              <a:t>由</a:t>
            </a: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键</a:t>
            </a:r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-</a:t>
            </a: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值</a:t>
            </a:r>
            <a:r>
              <a:rPr lang="en-US" altLang="zh-CN" dirty="0">
                <a:latin typeface="Times New Roman" panose="02020603050405020304" pitchFamily="18" charset="0"/>
              </a:rPr>
              <a:t>(key-value)</a:t>
            </a: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对</a:t>
            </a:r>
            <a:r>
              <a:rPr lang="zh-CN" altLang="en-US" dirty="0">
                <a:latin typeface="Times New Roman" panose="02020603050405020304" pitchFamily="18" charset="0"/>
              </a:rPr>
              <a:t>构成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/>
              <a:t>     d = {key1 </a:t>
            </a:r>
            <a:r>
              <a:rPr lang="en-US" altLang="zh-CN" b="1" dirty="0">
                <a:solidFill>
                  <a:schemeClr val="accent1"/>
                </a:solidFill>
              </a:rPr>
              <a:t>:</a:t>
            </a:r>
            <a:r>
              <a:rPr lang="en-US" altLang="zh-CN" dirty="0"/>
              <a:t> value1</a:t>
            </a:r>
            <a:r>
              <a:rPr lang="en-US" altLang="zh-CN" b="1" dirty="0">
                <a:solidFill>
                  <a:srgbClr val="FF0000"/>
                </a:solidFill>
              </a:rPr>
              <a:t>,</a:t>
            </a:r>
            <a:r>
              <a:rPr lang="en-US" altLang="zh-CN" dirty="0"/>
              <a:t> key2 </a:t>
            </a:r>
            <a:r>
              <a:rPr lang="en-US" altLang="zh-CN" b="1" dirty="0">
                <a:solidFill>
                  <a:schemeClr val="accent1"/>
                </a:solidFill>
              </a:rPr>
              <a:t>: </a:t>
            </a:r>
            <a:r>
              <a:rPr lang="en-US" altLang="zh-CN" dirty="0"/>
              <a:t>value2 }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</a:rPr>
              <a:t>字典元素用大括号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{ }</a:t>
            </a:r>
            <a:r>
              <a:rPr lang="zh-CN" altLang="en-US" dirty="0">
                <a:latin typeface="Times New Roman" panose="02020603050405020304" pitchFamily="18" charset="0"/>
              </a:rPr>
              <a:t>包裹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</a:rPr>
              <a:t>字典是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</a:rPr>
              <a:t>无序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+mn-ea"/>
              </a:rPr>
              <a:t>注意：</a:t>
            </a:r>
            <a:r>
              <a:rPr lang="zh-CN" altLang="en-US" b="1" dirty="0">
                <a:solidFill>
                  <a:srgbClr val="FF0000"/>
                </a:solidFill>
                <a:latin typeface="+mn-ea"/>
              </a:rPr>
              <a:t>键</a:t>
            </a:r>
            <a:r>
              <a:rPr lang="zh-CN" altLang="en-US" dirty="0">
                <a:latin typeface="+mn-ea"/>
              </a:rPr>
              <a:t>必须是</a:t>
            </a:r>
            <a:r>
              <a:rPr lang="zh-CN" altLang="en-US" b="1" dirty="0">
                <a:solidFill>
                  <a:schemeClr val="accent1"/>
                </a:solidFill>
                <a:latin typeface="+mn-ea"/>
              </a:rPr>
              <a:t>唯一的</a:t>
            </a:r>
            <a:r>
              <a:rPr lang="zh-CN" altLang="en-US" dirty="0">
                <a:latin typeface="+mn-ea"/>
              </a:rPr>
              <a:t>，必须是</a:t>
            </a:r>
            <a:r>
              <a:rPr lang="zh-CN" altLang="en-US" b="1" dirty="0">
                <a:solidFill>
                  <a:schemeClr val="accent1"/>
                </a:solidFill>
                <a:latin typeface="+mn-ea"/>
              </a:rPr>
              <a:t>不可变数据类型</a:t>
            </a:r>
            <a:r>
              <a:rPr lang="zh-CN" altLang="en-US" dirty="0">
                <a:latin typeface="+mn-ea"/>
              </a:rPr>
              <a:t>的，例如：字符串、    数字或元组。</a:t>
            </a:r>
            <a:endParaRPr lang="en-US" altLang="zh-CN" dirty="0">
              <a:latin typeface="+mn-ea"/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</a:rPr>
              <a:t>            值</a:t>
            </a:r>
            <a:r>
              <a:rPr lang="zh-CN" altLang="en-US" dirty="0">
                <a:latin typeface="+mn-ea"/>
              </a:rPr>
              <a:t>可以是任何数据类型。</a:t>
            </a:r>
            <a:endParaRPr lang="en-US" altLang="zh-CN" dirty="0">
              <a:latin typeface="+mn-ea"/>
            </a:endParaRPr>
          </a:p>
          <a:p>
            <a:pPr marL="0" indent="0">
              <a:buNone/>
            </a:pPr>
            <a:endParaRPr lang="en-US" altLang="zh-CN" dirty="0">
              <a:latin typeface="+mn-ea"/>
            </a:endParaRPr>
          </a:p>
          <a:p>
            <a:pPr marL="0" indent="0">
              <a:buNone/>
            </a:pPr>
            <a:r>
              <a:rPr lang="zh-CN" altLang="en-US" sz="2400" dirty="0">
                <a:latin typeface="+mn-ea"/>
              </a:rPr>
              <a:t>下面的字典定义为什么错误？</a:t>
            </a:r>
            <a:endParaRPr lang="en-US" altLang="zh-CN" sz="2400" dirty="0">
              <a:latin typeface="+mn-ea"/>
            </a:endParaRPr>
          </a:p>
          <a:p>
            <a:pPr marL="0" indent="0">
              <a:buNone/>
            </a:pPr>
            <a:r>
              <a:rPr lang="en-US" altLang="zh-CN" sz="2400" dirty="0" err="1">
                <a:latin typeface="+mn-ea"/>
              </a:rPr>
              <a:t>dict</a:t>
            </a:r>
            <a:r>
              <a:rPr lang="en-US" altLang="zh-CN" sz="2400" dirty="0">
                <a:latin typeface="+mn-ea"/>
              </a:rPr>
              <a:t> = {(1,2):['</a:t>
            </a:r>
            <a:r>
              <a:rPr lang="en-US" altLang="zh-CN" sz="2400" dirty="0" err="1">
                <a:latin typeface="+mn-ea"/>
              </a:rPr>
              <a:t>a','b</a:t>
            </a:r>
            <a:r>
              <a:rPr lang="en-US" altLang="zh-CN" sz="2400" dirty="0">
                <a:latin typeface="+mn-ea"/>
              </a:rPr>
              <a:t>'],[5,6]:['</a:t>
            </a:r>
            <a:r>
              <a:rPr lang="en-US" altLang="zh-CN" sz="2400" dirty="0" err="1">
                <a:latin typeface="+mn-ea"/>
              </a:rPr>
              <a:t>c','d</a:t>
            </a:r>
            <a:r>
              <a:rPr lang="en-US" altLang="zh-CN" sz="2400" dirty="0">
                <a:latin typeface="+mn-ea"/>
              </a:rPr>
              <a:t>'],4:('</a:t>
            </a:r>
            <a:r>
              <a:rPr lang="en-US" altLang="zh-CN" sz="2400" dirty="0" err="1">
                <a:latin typeface="+mn-ea"/>
              </a:rPr>
              <a:t>c','d</a:t>
            </a:r>
            <a:r>
              <a:rPr lang="en-US" altLang="zh-CN" sz="2400" dirty="0">
                <a:latin typeface="+mn-ea"/>
              </a:rPr>
              <a:t>'),'choice':123}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061730" y="437910"/>
            <a:ext cx="952761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字典示例</a:t>
            </a:r>
            <a:endParaRPr lang="zh-CN" altLang="en-US" sz="48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96217" y="518765"/>
            <a:ext cx="680176" cy="711395"/>
            <a:chOff x="3820548" y="-894825"/>
            <a:chExt cx="1257690" cy="1257690"/>
          </a:xfrm>
        </p:grpSpPr>
        <p:sp>
          <p:nvSpPr>
            <p:cNvPr id="8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9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976393" y="1487862"/>
            <a:ext cx="10566400" cy="513677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61950" indent="-361950" algn="just" defTabSz="6858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50000"/>
              <a:buFont typeface="Wingdings 3" panose="05040102010807070707" pitchFamily="18" charset="2"/>
              <a:buChar char="p"/>
              <a:defRPr lang="zh-CN" altLang="en-US" sz="2800" kern="1200" baseline="0" dirty="0" smtClean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361950" indent="-361950" algn="just" defTabSz="6858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accent2">
                  <a:lumMod val="60000"/>
                  <a:lumOff val="40000"/>
                </a:schemeClr>
              </a:buClr>
              <a:buFont typeface="幼圆" panose="02010509060101010101" pitchFamily="49" charset="-122"/>
              <a:buChar char=" "/>
              <a:defRPr sz="1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spcBef>
                <a:spcPts val="0"/>
              </a:spcBef>
              <a:buSzTx/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rgbClr val="A50021"/>
                </a:solidFill>
                <a:latin typeface="Times New Roman" panose="02020603050405020304" pitchFamily="18" charset="0"/>
              </a:rPr>
              <a:t>&gt;&gt;&gt;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32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Dict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{'host':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'earth'}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0"/>
              </a:spcBef>
              <a:buSzTx/>
              <a:buNone/>
            </a:pPr>
            <a:r>
              <a:rPr lang="en-US" altLang="zh-CN" sz="3200" b="1" dirty="0">
                <a:solidFill>
                  <a:srgbClr val="A50021"/>
                </a:solidFill>
                <a:latin typeface="Times New Roman" panose="02020603050405020304" pitchFamily="18" charset="0"/>
              </a:rPr>
              <a:t>&gt;&gt;&gt;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aDict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['port']=80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0"/>
              </a:spcBef>
              <a:buSzTx/>
              <a:buNone/>
            </a:pPr>
            <a:r>
              <a:rPr lang="en-US" altLang="zh-CN" sz="3200" b="1" dirty="0">
                <a:solidFill>
                  <a:srgbClr val="A50021"/>
                </a:solidFill>
                <a:latin typeface="Times New Roman" panose="02020603050405020304" pitchFamily="18" charset="0"/>
              </a:rPr>
              <a:t>&gt;&gt;&gt;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aDict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0"/>
              </a:spcBef>
              <a:buSzTx/>
              <a:buNone/>
            </a:pPr>
            <a:r>
              <a:rPr lang="en-US" altLang="zh-CN" sz="3200" b="1" dirty="0">
                <a:solidFill>
                  <a:srgbClr val="A50021"/>
                </a:solidFill>
                <a:latin typeface="Times New Roman" panose="02020603050405020304" pitchFamily="18" charset="0"/>
              </a:rPr>
              <a:t>&gt;&gt;&gt;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aDict.keys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 )    #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以列表形式给出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0"/>
              </a:spcBef>
              <a:buSzTx/>
              <a:buNone/>
            </a:pPr>
            <a:r>
              <a:rPr lang="en-US" altLang="zh-CN" sz="3200" b="1" dirty="0">
                <a:solidFill>
                  <a:srgbClr val="A50021"/>
                </a:solidFill>
                <a:latin typeface="Times New Roman" panose="02020603050405020304" pitchFamily="18" charset="0"/>
              </a:rPr>
              <a:t>&gt;&gt;&gt;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aDict.values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 )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0"/>
              </a:spcBef>
              <a:buSzTx/>
              <a:buNone/>
            </a:pPr>
            <a:r>
              <a:rPr lang="en-US" altLang="zh-CN" sz="3200" b="1" dirty="0">
                <a:solidFill>
                  <a:srgbClr val="A50021"/>
                </a:solidFill>
                <a:latin typeface="Times New Roman" panose="02020603050405020304" pitchFamily="18" charset="0"/>
              </a:rPr>
              <a:t>&gt;&gt;&gt; </a:t>
            </a:r>
            <a:r>
              <a:rPr lang="en-US" altLang="zh-CN" sz="32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aDict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['host']   #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输出对应的值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圆角矩形标注 1"/>
          <p:cNvSpPr/>
          <p:nvPr/>
        </p:nvSpPr>
        <p:spPr>
          <a:xfrm>
            <a:off x="3530454" y="3334657"/>
            <a:ext cx="1041400" cy="635000"/>
          </a:xfrm>
          <a:prstGeom prst="wedgeRoundRectCallout">
            <a:avLst>
              <a:gd name="adj1" fmla="val -86022"/>
              <a:gd name="adj2" fmla="val -81424"/>
              <a:gd name="adj3" fmla="val 16667"/>
            </a:avLst>
          </a:prstGeom>
          <a:solidFill>
            <a:srgbClr val="FFFF00"/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080808"/>
                </a:solidFill>
              </a:rPr>
              <a:t>键</a:t>
            </a:r>
            <a:endParaRPr lang="zh-CN" altLang="en-US" b="1" dirty="0">
              <a:solidFill>
                <a:srgbClr val="080808"/>
              </a:solidFill>
            </a:endParaRPr>
          </a:p>
        </p:txBody>
      </p:sp>
      <p:sp>
        <p:nvSpPr>
          <p:cNvPr id="13" name="圆角矩形标注 5"/>
          <p:cNvSpPr/>
          <p:nvPr/>
        </p:nvSpPr>
        <p:spPr>
          <a:xfrm>
            <a:off x="5575300" y="2321068"/>
            <a:ext cx="1041400" cy="635000"/>
          </a:xfrm>
          <a:prstGeom prst="wedgeRoundRectCallout">
            <a:avLst>
              <a:gd name="adj1" fmla="val -153513"/>
              <a:gd name="adj2" fmla="val 38399"/>
              <a:gd name="adj3" fmla="val 16667"/>
            </a:avLst>
          </a:prstGeom>
          <a:solidFill>
            <a:srgbClr val="FFFF00"/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080808"/>
                </a:solidFill>
              </a:rPr>
              <a:t>值</a:t>
            </a:r>
            <a:endParaRPr lang="zh-CN" altLang="en-US" b="1" dirty="0">
              <a:solidFill>
                <a:srgbClr val="080808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12" grpId="0" animBg="1"/>
      <p:bldP spid="1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Box 1"/>
          <p:cNvSpPr txBox="1">
            <a:spLocks noChangeArrowheads="1"/>
          </p:cNvSpPr>
          <p:nvPr/>
        </p:nvSpPr>
        <p:spPr bwMode="auto">
          <a:xfrm>
            <a:off x="839510" y="111750"/>
            <a:ext cx="9928123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</a:rPr>
              <a:t>字典的方法</a:t>
            </a:r>
            <a:endParaRPr lang="en-US" altLang="zh-CN" sz="48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</a:endParaRPr>
          </a:p>
          <a:p>
            <a:r>
              <a:rPr lang="zh-CN" altLang="en-US" sz="2800" b="1" dirty="0">
                <a:solidFill>
                  <a:schemeClr val="accent1"/>
                </a:solidFill>
                <a:latin typeface="+mn-ea"/>
                <a:ea typeface="+mn-ea"/>
              </a:rPr>
              <a:t>以键查值：</a:t>
            </a:r>
            <a:r>
              <a:rPr lang="en-US" altLang="zh-CN" sz="2800" b="1" dirty="0" err="1">
                <a:latin typeface="+mn-ea"/>
                <a:ea typeface="+mn-ea"/>
              </a:rPr>
              <a:t>dict.</a:t>
            </a:r>
            <a:r>
              <a:rPr lang="en-US" altLang="zh-CN" sz="2800" b="1" dirty="0" err="1">
                <a:solidFill>
                  <a:srgbClr val="FF0000"/>
                </a:solidFill>
                <a:latin typeface="+mn-ea"/>
                <a:ea typeface="+mn-ea"/>
              </a:rPr>
              <a:t>get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en-US" altLang="zh-CN" sz="2800" b="1" dirty="0" err="1">
                <a:solidFill>
                  <a:schemeClr val="accent1"/>
                </a:solidFill>
                <a:latin typeface="+mn-ea"/>
                <a:ea typeface="+mn-ea"/>
              </a:rPr>
              <a:t>key,default</a:t>
            </a:r>
            <a:r>
              <a:rPr lang="en-US" altLang="zh-CN" sz="2800" b="1" dirty="0">
                <a:solidFill>
                  <a:schemeClr val="accent1"/>
                </a:solidFill>
                <a:latin typeface="+mn-ea"/>
                <a:ea typeface="+mn-ea"/>
              </a:rPr>
              <a:t>=None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endParaRPr lang="en-US" altLang="zh-CN" sz="2800" dirty="0">
              <a:latin typeface="+mn-ea"/>
              <a:ea typeface="+mn-ea"/>
            </a:endParaRPr>
          </a:p>
          <a:p>
            <a:r>
              <a:rPr lang="zh-CN" altLang="en-US" sz="2800" dirty="0">
                <a:latin typeface="+mn-ea"/>
                <a:ea typeface="+mn-ea"/>
              </a:rPr>
              <a:t>例如：</a:t>
            </a:r>
            <a:r>
              <a:rPr lang="en-US" altLang="zh-CN" sz="2800" dirty="0">
                <a:latin typeface="+mn-ea"/>
                <a:ea typeface="+mn-ea"/>
              </a:rPr>
              <a:t>&gt;&gt;&gt; d = {}</a:t>
            </a:r>
            <a:endParaRPr lang="en-US" altLang="zh-CN" sz="2800" dirty="0">
              <a:latin typeface="+mn-ea"/>
              <a:ea typeface="+mn-ea"/>
            </a:endParaRPr>
          </a:p>
          <a:p>
            <a:r>
              <a:rPr lang="en-US" altLang="zh-CN" sz="2800" dirty="0">
                <a:latin typeface="+mn-ea"/>
                <a:ea typeface="+mn-ea"/>
              </a:rPr>
              <a:t>          &gt;&gt;&gt; print (</a:t>
            </a:r>
            <a:r>
              <a:rPr lang="en-US" altLang="zh-CN" sz="2800" dirty="0" err="1">
                <a:latin typeface="+mn-ea"/>
                <a:ea typeface="+mn-ea"/>
              </a:rPr>
              <a:t>d.get</a:t>
            </a:r>
            <a:r>
              <a:rPr lang="en-US" altLang="zh-CN" sz="2800" dirty="0">
                <a:latin typeface="+mn-ea"/>
                <a:ea typeface="+mn-ea"/>
              </a:rPr>
              <a:t>('name'))        #None</a:t>
            </a:r>
            <a:endParaRPr lang="en-US" altLang="zh-CN" sz="2800" dirty="0">
              <a:latin typeface="+mn-ea"/>
              <a:ea typeface="+mn-ea"/>
            </a:endParaRPr>
          </a:p>
          <a:p>
            <a:r>
              <a:rPr lang="en-US" altLang="zh-CN" sz="2800" dirty="0">
                <a:latin typeface="+mn-ea"/>
                <a:ea typeface="+mn-ea"/>
              </a:rPr>
              <a:t>          &gt;&gt;&gt; d["name"] = 'Eric’</a:t>
            </a:r>
            <a:endParaRPr lang="en-US" altLang="zh-CN" sz="2800" dirty="0">
              <a:latin typeface="+mn-ea"/>
              <a:ea typeface="+mn-ea"/>
            </a:endParaRPr>
          </a:p>
          <a:p>
            <a:r>
              <a:rPr lang="en-US" altLang="zh-CN" sz="2800" dirty="0">
                <a:latin typeface="+mn-ea"/>
                <a:ea typeface="+mn-ea"/>
              </a:rPr>
              <a:t>          &gt;&gt;&gt; </a:t>
            </a:r>
            <a:r>
              <a:rPr lang="en-US" altLang="zh-CN" sz="2800" dirty="0" err="1">
                <a:latin typeface="+mn-ea"/>
                <a:ea typeface="+mn-ea"/>
              </a:rPr>
              <a:t>d.get</a:t>
            </a:r>
            <a:r>
              <a:rPr lang="en-US" altLang="zh-CN" sz="2800" dirty="0">
                <a:latin typeface="+mn-ea"/>
                <a:ea typeface="+mn-ea"/>
              </a:rPr>
              <a:t>('name')                   #'Eric’</a:t>
            </a:r>
            <a:endParaRPr lang="en-US" altLang="zh-CN" sz="2800" dirty="0">
              <a:latin typeface="+mn-ea"/>
              <a:ea typeface="+mn-ea"/>
            </a:endParaRPr>
          </a:p>
          <a:p>
            <a:r>
              <a:rPr lang="en-US" altLang="zh-CN" sz="2800" dirty="0">
                <a:latin typeface="+mn-ea"/>
                <a:ea typeface="+mn-ea"/>
              </a:rPr>
              <a:t>          &gt;&gt;&gt; </a:t>
            </a:r>
            <a:r>
              <a:rPr lang="en-US" altLang="zh-CN" sz="2800" dirty="0" err="1">
                <a:latin typeface="+mn-ea"/>
                <a:ea typeface="+mn-ea"/>
              </a:rPr>
              <a:t>d.get</a:t>
            </a:r>
            <a:r>
              <a:rPr lang="en-US" altLang="zh-CN" sz="2800" dirty="0">
                <a:latin typeface="+mn-ea"/>
                <a:ea typeface="+mn-ea"/>
              </a:rPr>
              <a:t>('age',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0</a:t>
            </a:r>
            <a:r>
              <a:rPr lang="en-US" altLang="zh-CN" sz="2800" dirty="0">
                <a:latin typeface="+mn-ea"/>
                <a:ea typeface="+mn-ea"/>
              </a:rPr>
              <a:t>)                   #0</a:t>
            </a:r>
            <a:endParaRPr lang="en-US" altLang="zh-CN" sz="2800" dirty="0">
              <a:latin typeface="+mn-ea"/>
              <a:ea typeface="+mn-ea"/>
            </a:endParaRPr>
          </a:p>
        </p:txBody>
      </p:sp>
      <p:sp>
        <p:nvSpPr>
          <p:cNvPr id="3" name="TextBox 1"/>
          <p:cNvSpPr txBox="1"/>
          <p:nvPr/>
        </p:nvSpPr>
        <p:spPr>
          <a:xfrm>
            <a:off x="839510" y="3403465"/>
            <a:ext cx="10699013" cy="3216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更新：</a:t>
            </a:r>
            <a:r>
              <a:rPr lang="en-US" altLang="zh-CN" sz="2800" b="1" dirty="0" err="1">
                <a:latin typeface="+mn-ea"/>
              </a:rPr>
              <a:t>dict.</a:t>
            </a:r>
            <a:r>
              <a:rPr lang="en-US" altLang="zh-CN" sz="2800" b="1" dirty="0" err="1">
                <a:solidFill>
                  <a:srgbClr val="FF0000"/>
                </a:solidFill>
                <a:latin typeface="+mn-ea"/>
              </a:rPr>
              <a:t>update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en-US" altLang="zh-CN" sz="2800" b="1" dirty="0" err="1">
                <a:solidFill>
                  <a:schemeClr val="accent1"/>
                </a:solidFill>
                <a:latin typeface="+mn-ea"/>
              </a:rPr>
              <a:t>adict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)</a:t>
            </a:r>
            <a:endParaRPr lang="zh-CN" altLang="en-US" sz="28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2800" dirty="0">
                <a:latin typeface="+mn-ea"/>
              </a:rPr>
              <a:t>&gt;&gt;&gt; d={'name':'alice','age':19,'sex':'F'}</a:t>
            </a:r>
            <a:endParaRPr lang="en-US" altLang="zh-CN" sz="2800" dirty="0">
              <a:latin typeface="+mn-ea"/>
            </a:endParaRPr>
          </a:p>
          <a:p>
            <a:r>
              <a:rPr lang="en-US" altLang="zh-CN" sz="2800" dirty="0">
                <a:latin typeface="+mn-ea"/>
              </a:rPr>
              <a:t>&gt;&gt;&gt; x={'name':'bob','phone':'12345678'}</a:t>
            </a:r>
            <a:endParaRPr lang="en-US" altLang="zh-CN" sz="2800" dirty="0">
              <a:latin typeface="+mn-ea"/>
            </a:endParaRPr>
          </a:p>
          <a:p>
            <a:r>
              <a:rPr lang="en-US" altLang="zh-CN" sz="2800" dirty="0">
                <a:latin typeface="+mn-ea"/>
              </a:rPr>
              <a:t>&gt;&gt;&gt; </a:t>
            </a:r>
            <a:r>
              <a:rPr lang="en-US" altLang="zh-CN" sz="2800" dirty="0" err="1">
                <a:latin typeface="+mn-ea"/>
              </a:rPr>
              <a:t>d.update</a:t>
            </a:r>
            <a:r>
              <a:rPr lang="en-US" altLang="zh-CN" sz="2800" dirty="0">
                <a:latin typeface="+mn-ea"/>
              </a:rPr>
              <a:t>(x)</a:t>
            </a:r>
            <a:endParaRPr lang="en-US" altLang="zh-CN" sz="2800" dirty="0">
              <a:latin typeface="+mn-ea"/>
            </a:endParaRPr>
          </a:p>
          <a:p>
            <a:r>
              <a:rPr lang="en-US" altLang="zh-CN" sz="2800" dirty="0">
                <a:latin typeface="+mn-ea"/>
              </a:rPr>
              <a:t>&gt;&gt;&gt; d</a:t>
            </a:r>
            <a:endParaRPr lang="en-US" altLang="zh-CN" sz="2800" dirty="0">
              <a:latin typeface="+mn-ea"/>
            </a:endParaRPr>
          </a:p>
          <a:p>
            <a:r>
              <a:rPr lang="en-US" altLang="zh-CN" sz="2800" dirty="0">
                <a:latin typeface="+mn-ea"/>
              </a:rPr>
              <a:t>{'age': 19, 'phone': '12345678', 'sex': 'F', 'name': 'bob</a:t>
            </a:r>
            <a:r>
              <a:rPr lang="en-US" altLang="zh-CN" sz="2800" dirty="0" smtClean="0">
                <a:latin typeface="+mn-ea"/>
              </a:rPr>
              <a:t>'}</a:t>
            </a:r>
            <a:endParaRPr lang="en-US" altLang="zh-CN" sz="2800" dirty="0" smtClean="0">
              <a:latin typeface="+mn-ea"/>
            </a:endParaRPr>
          </a:p>
          <a:p>
            <a:r>
              <a:rPr lang="zh-CN" altLang="en-US" sz="2800" b="1" dirty="0" smtClean="0">
                <a:solidFill>
                  <a:schemeClr val="accent1"/>
                </a:solidFill>
                <a:latin typeface="+mj-ea"/>
              </a:rPr>
              <a:t>删除：</a:t>
            </a:r>
            <a:r>
              <a:rPr lang="en-US" altLang="zh-CN" sz="2800" b="1" dirty="0" smtClean="0">
                <a:solidFill>
                  <a:srgbClr val="FF0000"/>
                </a:solidFill>
                <a:latin typeface="+mn-ea"/>
              </a:rPr>
              <a:t>del</a:t>
            </a:r>
            <a:r>
              <a:rPr lang="en-US" altLang="zh-CN" sz="2800" b="1" dirty="0" smtClean="0">
                <a:latin typeface="+mn-ea"/>
              </a:rPr>
              <a:t> </a:t>
            </a:r>
            <a:r>
              <a:rPr lang="en-US" altLang="zh-CN" sz="2800" b="1" dirty="0" err="1">
                <a:solidFill>
                  <a:schemeClr val="accent1"/>
                </a:solidFill>
                <a:latin typeface="+mj-ea"/>
                <a:ea typeface="+mj-ea"/>
              </a:rPr>
              <a:t>dict</a:t>
            </a:r>
            <a:r>
              <a:rPr lang="en-US" altLang="zh-CN" sz="2800" b="1" dirty="0">
                <a:solidFill>
                  <a:schemeClr val="accent1"/>
                </a:solidFill>
                <a:latin typeface="+mj-ea"/>
                <a:ea typeface="+mj-ea"/>
              </a:rPr>
              <a:t>[key] </a:t>
            </a:r>
            <a:r>
              <a:rPr lang="en-US" altLang="zh-CN" sz="2800" b="1" dirty="0">
                <a:latin typeface="+mj-ea"/>
                <a:ea typeface="+mj-ea"/>
              </a:rPr>
              <a:t>#</a:t>
            </a:r>
            <a:r>
              <a:rPr lang="zh-CN" altLang="en-US" sz="2800" b="1" dirty="0">
                <a:latin typeface="+mj-ea"/>
                <a:ea typeface="+mj-ea"/>
              </a:rPr>
              <a:t>删除键键值</a:t>
            </a:r>
            <a:r>
              <a:rPr lang="zh-CN" altLang="en-US" sz="2800" b="1" dirty="0" smtClean="0">
                <a:latin typeface="+mj-ea"/>
                <a:ea typeface="+mj-ea"/>
              </a:rPr>
              <a:t>对</a:t>
            </a:r>
            <a:endParaRPr lang="zh-CN" altLang="en-US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839510" y="6126480"/>
            <a:ext cx="5977850" cy="4775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061729" y="437910"/>
            <a:ext cx="1055332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返回字典所有的键、值和项</a:t>
            </a:r>
            <a:endParaRPr lang="zh-CN" altLang="en-US" sz="48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96217" y="518765"/>
            <a:ext cx="680176" cy="711395"/>
            <a:chOff x="3820548" y="-894825"/>
            <a:chExt cx="1257690" cy="1257690"/>
          </a:xfrm>
        </p:grpSpPr>
        <p:sp>
          <p:nvSpPr>
            <p:cNvPr id="8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9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sp>
        <p:nvSpPr>
          <p:cNvPr id="14" name="文本框 13"/>
          <p:cNvSpPr txBox="1"/>
          <p:nvPr/>
        </p:nvSpPr>
        <p:spPr>
          <a:xfrm>
            <a:off x="976393" y="1335733"/>
            <a:ext cx="88637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 err="1"/>
              <a:t>dict.</a:t>
            </a:r>
            <a:r>
              <a:rPr lang="en-US" altLang="zh-CN" sz="2800" b="1" dirty="0" err="1">
                <a:solidFill>
                  <a:schemeClr val="accent1"/>
                </a:solidFill>
              </a:rPr>
              <a:t>keys</a:t>
            </a:r>
            <a:r>
              <a:rPr lang="en-US" altLang="zh-CN" sz="2800" b="1" dirty="0">
                <a:solidFill>
                  <a:schemeClr val="accent1"/>
                </a:solidFill>
              </a:rPr>
              <a:t>()</a:t>
            </a:r>
            <a:r>
              <a:rPr lang="zh-CN" altLang="en-US" sz="2800" dirty="0"/>
              <a:t>：返回包含原字典中每项的</a:t>
            </a:r>
            <a:r>
              <a:rPr lang="zh-CN" altLang="en-US" sz="2800" b="1" dirty="0">
                <a:solidFill>
                  <a:schemeClr val="accent1"/>
                </a:solidFill>
              </a:rPr>
              <a:t>键</a:t>
            </a:r>
            <a:r>
              <a:rPr lang="zh-CN" altLang="en-US" sz="2800" dirty="0"/>
              <a:t>的</a:t>
            </a:r>
            <a:r>
              <a:rPr lang="zh-CN" altLang="en-US" sz="2800" dirty="0">
                <a:solidFill>
                  <a:srgbClr val="FF0000"/>
                </a:solidFill>
              </a:rPr>
              <a:t>列表</a:t>
            </a:r>
            <a:r>
              <a:rPr lang="zh-CN" altLang="en-US" sz="2800" dirty="0"/>
              <a:t>；</a:t>
            </a:r>
            <a:endParaRPr lang="en-US" altLang="zh-CN" sz="2800" dirty="0"/>
          </a:p>
          <a:p>
            <a:r>
              <a:rPr lang="en-US" altLang="zh-CN" sz="2800" dirty="0" err="1"/>
              <a:t>dict.</a:t>
            </a:r>
            <a:r>
              <a:rPr lang="en-US" altLang="zh-CN" sz="2800" b="1" dirty="0" err="1">
                <a:solidFill>
                  <a:schemeClr val="accent1"/>
                </a:solidFill>
              </a:rPr>
              <a:t>values</a:t>
            </a:r>
            <a:r>
              <a:rPr lang="en-US" altLang="zh-CN" sz="2800" b="1" dirty="0">
                <a:solidFill>
                  <a:schemeClr val="accent1"/>
                </a:solidFill>
              </a:rPr>
              <a:t>()</a:t>
            </a:r>
            <a:r>
              <a:rPr lang="zh-CN" altLang="en-US" sz="2800" dirty="0"/>
              <a:t>：返回包含原字典中每项的</a:t>
            </a:r>
            <a:r>
              <a:rPr lang="zh-CN" altLang="en-US" sz="2800" b="1" dirty="0">
                <a:solidFill>
                  <a:schemeClr val="accent1"/>
                </a:solidFill>
              </a:rPr>
              <a:t>值</a:t>
            </a:r>
            <a:r>
              <a:rPr lang="zh-CN" altLang="en-US" sz="2800" dirty="0"/>
              <a:t>的</a:t>
            </a:r>
            <a:r>
              <a:rPr lang="zh-CN" altLang="en-US" sz="2800" dirty="0">
                <a:solidFill>
                  <a:srgbClr val="FF0000"/>
                </a:solidFill>
              </a:rPr>
              <a:t>列表</a:t>
            </a:r>
            <a:r>
              <a:rPr lang="zh-CN" altLang="en-US" sz="2800" dirty="0"/>
              <a:t>；</a:t>
            </a:r>
            <a:endParaRPr lang="en-US" altLang="zh-CN" sz="2800" dirty="0"/>
          </a:p>
          <a:p>
            <a:r>
              <a:rPr lang="en-US" altLang="zh-CN" sz="2800" dirty="0" err="1"/>
              <a:t>dict.</a:t>
            </a:r>
            <a:r>
              <a:rPr lang="en-US" altLang="zh-CN" sz="2800" b="1" dirty="0" err="1">
                <a:solidFill>
                  <a:schemeClr val="accent1"/>
                </a:solidFill>
              </a:rPr>
              <a:t>items</a:t>
            </a:r>
            <a:r>
              <a:rPr lang="en-US" altLang="zh-CN" sz="2800" b="1" dirty="0">
                <a:solidFill>
                  <a:schemeClr val="accent1"/>
                </a:solidFill>
              </a:rPr>
              <a:t>()</a:t>
            </a:r>
            <a:r>
              <a:rPr lang="zh-CN" altLang="en-US" sz="2800" dirty="0"/>
              <a:t>：返回包含原字典中每项的</a:t>
            </a:r>
            <a:r>
              <a:rPr lang="zh-CN" altLang="en-US" sz="2800" b="1" dirty="0">
                <a:solidFill>
                  <a:schemeClr val="accent1"/>
                </a:solidFill>
              </a:rPr>
              <a:t>项</a:t>
            </a:r>
            <a:r>
              <a:rPr lang="en-US" altLang="zh-CN" sz="2800" dirty="0"/>
              <a:t>(</a:t>
            </a:r>
            <a:r>
              <a:rPr lang="zh-CN" altLang="en-US" sz="2800" dirty="0"/>
              <a:t>键</a:t>
            </a:r>
            <a:r>
              <a:rPr lang="en-US" altLang="zh-CN" sz="2800" dirty="0"/>
              <a:t>,</a:t>
            </a:r>
            <a:r>
              <a:rPr lang="zh-CN" altLang="en-US" sz="2800" dirty="0"/>
              <a:t>值</a:t>
            </a:r>
            <a:r>
              <a:rPr lang="en-US" altLang="zh-CN" sz="2800" dirty="0"/>
              <a:t>)</a:t>
            </a:r>
            <a:r>
              <a:rPr lang="zh-CN" altLang="en-US" sz="2800" dirty="0"/>
              <a:t>的</a:t>
            </a:r>
            <a:r>
              <a:rPr lang="zh-CN" altLang="en-US" sz="2800" dirty="0">
                <a:solidFill>
                  <a:srgbClr val="FF0000"/>
                </a:solidFill>
              </a:rPr>
              <a:t>列表</a:t>
            </a:r>
            <a:r>
              <a:rPr lang="zh-CN" altLang="en-US" sz="2800" dirty="0"/>
              <a:t>。</a:t>
            </a:r>
            <a:endParaRPr lang="zh-CN" altLang="en-US" sz="2800" dirty="0"/>
          </a:p>
        </p:txBody>
      </p:sp>
      <p:sp>
        <p:nvSpPr>
          <p:cNvPr id="15" name="文本框 14"/>
          <p:cNvSpPr txBox="1"/>
          <p:nvPr/>
        </p:nvSpPr>
        <p:spPr>
          <a:xfrm>
            <a:off x="1061729" y="3018297"/>
            <a:ext cx="886378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&gt;&gt;&gt;</a:t>
            </a:r>
            <a:r>
              <a:rPr lang="en-US" altLang="zh-CN" sz="2800" dirty="0"/>
              <a:t> d={'name':'alice','age':19,'sex':'F'}</a:t>
            </a:r>
            <a:endParaRPr lang="en-US" altLang="zh-CN" sz="2800" dirty="0"/>
          </a:p>
          <a:p>
            <a:r>
              <a:rPr lang="en-US" altLang="zh-CN" sz="2800" dirty="0">
                <a:solidFill>
                  <a:srgbClr val="FF0000"/>
                </a:solidFill>
              </a:rPr>
              <a:t>&gt;&gt;&gt;</a:t>
            </a:r>
            <a:r>
              <a:rPr lang="en-US" altLang="zh-CN" sz="2800" dirty="0"/>
              <a:t> </a:t>
            </a:r>
            <a:r>
              <a:rPr lang="en-US" altLang="zh-CN" sz="2800" dirty="0" err="1"/>
              <a:t>d.keys</a:t>
            </a:r>
            <a:r>
              <a:rPr lang="en-US" altLang="zh-CN" sz="2800" dirty="0"/>
              <a:t>()</a:t>
            </a:r>
            <a:endParaRPr lang="en-US" altLang="zh-CN" sz="2800" dirty="0"/>
          </a:p>
          <a:p>
            <a:r>
              <a:rPr lang="en-US" altLang="zh-CN" sz="2800" dirty="0" err="1"/>
              <a:t>dict_keys</a:t>
            </a:r>
            <a:r>
              <a:rPr lang="en-US" altLang="zh-CN" sz="2800" dirty="0"/>
              <a:t>(['age', 'sex', 'name'])</a:t>
            </a:r>
            <a:endParaRPr lang="en-US" altLang="zh-CN" sz="2800" dirty="0"/>
          </a:p>
          <a:p>
            <a:r>
              <a:rPr lang="en-US" altLang="zh-CN" sz="2800" dirty="0">
                <a:solidFill>
                  <a:srgbClr val="FF0000"/>
                </a:solidFill>
              </a:rPr>
              <a:t>&gt;&gt;&gt;</a:t>
            </a:r>
            <a:r>
              <a:rPr lang="en-US" altLang="zh-CN" sz="2800" dirty="0"/>
              <a:t> </a:t>
            </a:r>
            <a:r>
              <a:rPr lang="en-US" altLang="zh-CN" sz="2800" dirty="0" err="1"/>
              <a:t>d.values</a:t>
            </a:r>
            <a:r>
              <a:rPr lang="en-US" altLang="zh-CN" sz="2800" dirty="0"/>
              <a:t>()</a:t>
            </a:r>
            <a:endParaRPr lang="en-US" altLang="zh-CN" sz="2800" dirty="0"/>
          </a:p>
          <a:p>
            <a:r>
              <a:rPr lang="en-US" altLang="zh-CN" sz="2800" dirty="0" err="1"/>
              <a:t>dict_values</a:t>
            </a:r>
            <a:r>
              <a:rPr lang="en-US" altLang="zh-CN" sz="2800" dirty="0"/>
              <a:t>([19, 'F', '</a:t>
            </a:r>
            <a:r>
              <a:rPr lang="en-US" altLang="zh-CN" sz="2800" dirty="0" err="1"/>
              <a:t>alice</a:t>
            </a:r>
            <a:r>
              <a:rPr lang="en-US" altLang="zh-CN" sz="2800" dirty="0"/>
              <a:t>’])</a:t>
            </a:r>
            <a:endParaRPr lang="en-US" altLang="zh-CN" sz="2800" dirty="0"/>
          </a:p>
          <a:p>
            <a:r>
              <a:rPr lang="en-US" altLang="zh-CN" sz="2800" dirty="0">
                <a:solidFill>
                  <a:srgbClr val="FF0000"/>
                </a:solidFill>
              </a:rPr>
              <a:t>&gt;&gt;&gt;</a:t>
            </a:r>
            <a:r>
              <a:rPr lang="en-US" altLang="zh-CN" sz="2800" dirty="0"/>
              <a:t> </a:t>
            </a:r>
            <a:r>
              <a:rPr lang="en-US" altLang="zh-CN" sz="2800" dirty="0" err="1"/>
              <a:t>d.items</a:t>
            </a:r>
            <a:r>
              <a:rPr lang="en-US" altLang="zh-CN" sz="2800" dirty="0"/>
              <a:t>()</a:t>
            </a:r>
            <a:endParaRPr lang="en-US" altLang="zh-CN" sz="2800" dirty="0"/>
          </a:p>
          <a:p>
            <a:r>
              <a:rPr lang="en-US" altLang="zh-CN" sz="2800" dirty="0" err="1"/>
              <a:t>dict_items</a:t>
            </a:r>
            <a:r>
              <a:rPr lang="en-US" altLang="zh-CN" sz="2800" dirty="0"/>
              <a:t>([('age', 19), ('sex', 'F'), ('name', '</a:t>
            </a:r>
            <a:r>
              <a:rPr lang="en-US" altLang="zh-CN" sz="2800" dirty="0" err="1"/>
              <a:t>alice</a:t>
            </a:r>
            <a:r>
              <a:rPr lang="en-US" altLang="zh-CN" sz="2800" dirty="0"/>
              <a:t>')])</a:t>
            </a:r>
            <a:endParaRPr lang="en-US" altLang="zh-CN" sz="2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061729" y="437910"/>
            <a:ext cx="1055332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遍历所有的键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-</a:t>
            </a: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值对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——</a:t>
            </a:r>
            <a:r>
              <a:rPr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字典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items( )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96217" y="518765"/>
            <a:ext cx="680176" cy="711395"/>
            <a:chOff x="3820548" y="-894825"/>
            <a:chExt cx="1257690" cy="1257690"/>
          </a:xfrm>
        </p:grpSpPr>
        <p:sp>
          <p:nvSpPr>
            <p:cNvPr id="8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9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1061729" y="1367962"/>
            <a:ext cx="10566400" cy="4809022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61950" indent="-361950" algn="just" defTabSz="6858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50000"/>
              <a:buFont typeface="Wingdings 3" panose="05040102010807070707" pitchFamily="18" charset="2"/>
              <a:buChar char="p"/>
              <a:defRPr lang="zh-CN" altLang="en-US" sz="2800" kern="1200" baseline="0" dirty="0" smtClean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361950" indent="-361950" algn="just" defTabSz="6858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accent2">
                  <a:lumMod val="60000"/>
                  <a:lumOff val="40000"/>
                </a:schemeClr>
              </a:buClr>
              <a:buFont typeface="幼圆" panose="02010509060101010101" pitchFamily="49" charset="-122"/>
              <a:buChar char=" "/>
              <a:defRPr sz="1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spcBef>
                <a:spcPts val="0"/>
              </a:spcBef>
              <a:buSzTx/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persons={'name':'alice','age':19,'sex':'F'}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spcBef>
                <a:spcPts val="0"/>
              </a:spcBef>
              <a:buSzTx/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32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key,value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in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32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persons.items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 ):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spcBef>
                <a:spcPts val="0"/>
              </a:spcBef>
              <a:buSzTx/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print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("\</a:t>
            </a:r>
            <a:r>
              <a:rPr lang="en-US" altLang="zh-CN" sz="32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nKey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:"+key)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spcBef>
                <a:spcPts val="0"/>
              </a:spcBef>
              <a:buSzTx/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print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("</a:t>
            </a:r>
            <a:r>
              <a:rPr lang="en-US" altLang="zh-CN" sz="32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Value:",value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圆角矩形标注 3"/>
          <p:cNvSpPr/>
          <p:nvPr/>
        </p:nvSpPr>
        <p:spPr>
          <a:xfrm>
            <a:off x="7319242" y="2364667"/>
            <a:ext cx="1627094" cy="921122"/>
          </a:xfrm>
          <a:prstGeom prst="wedgeRoundRectCallout">
            <a:avLst>
              <a:gd name="adj1" fmla="val -335377"/>
              <a:gd name="adj2" fmla="val -8029"/>
              <a:gd name="adj3" fmla="val 16667"/>
            </a:avLst>
          </a:prstGeom>
          <a:solidFill>
            <a:srgbClr val="FFFF00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000000"/>
                </a:solidFill>
              </a:rPr>
              <a:t>名字可以随意起</a:t>
            </a:r>
            <a:endParaRPr lang="zh-CN" altLang="en-US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12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660615" y="3140904"/>
            <a:ext cx="6870792" cy="9870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44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 文件、数据分析与可视化</a:t>
            </a:r>
            <a:endParaRPr lang="en-US" altLang="zh-CN" sz="44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511800" y="1955759"/>
            <a:ext cx="1168400" cy="1168400"/>
            <a:chOff x="4838310" y="2343675"/>
            <a:chExt cx="1257690" cy="1257690"/>
          </a:xfrm>
        </p:grpSpPr>
        <p:sp>
          <p:nvSpPr>
            <p:cNvPr id="2" name="圆形 15"/>
            <p:cNvSpPr/>
            <p:nvPr/>
          </p:nvSpPr>
          <p:spPr>
            <a:xfrm>
              <a:off x="4838310" y="234367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4" name="图形 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25155" y="2630520"/>
              <a:ext cx="684000" cy="6840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59453" y="1289960"/>
            <a:ext cx="10321925" cy="525308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5000"/>
              </a:lnSpc>
              <a:spcBef>
                <a:spcPts val="600"/>
              </a:spcBef>
              <a:buClr>
                <a:srgbClr val="6193D4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</a:rPr>
              <a:t>文件打开方式一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/>
              <a:t>打开</a:t>
            </a:r>
            <a:r>
              <a:rPr lang="zh-CN" altLang="en-US" dirty="0">
                <a:solidFill>
                  <a:srgbClr val="C00000"/>
                </a:solidFill>
              </a:rPr>
              <a:t>指定位置</a:t>
            </a:r>
            <a:r>
              <a:rPr lang="zh-CN" altLang="en-US" dirty="0"/>
              <a:t>的文件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handle = 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</a:rPr>
              <a:t>open</a:t>
            </a:r>
            <a:r>
              <a:rPr lang="en-US" altLang="zh-CN" dirty="0">
                <a:latin typeface="Times New Roman" panose="02020603050405020304" pitchFamily="18" charset="0"/>
              </a:rPr>
              <a:t>("D: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</a:rPr>
              <a:t>\\</a:t>
            </a:r>
            <a:r>
              <a:rPr lang="en-US" altLang="zh-CN" dirty="0">
                <a:latin typeface="Times New Roman" panose="02020603050405020304" pitchFamily="18" charset="0"/>
              </a:rPr>
              <a:t>exam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</a:rPr>
              <a:t>\\</a:t>
            </a:r>
            <a:r>
              <a:rPr lang="en-US" altLang="zh-CN" dirty="0">
                <a:latin typeface="Times New Roman" panose="02020603050405020304" pitchFamily="18" charset="0"/>
              </a:rPr>
              <a:t>test.txt", '</a:t>
            </a:r>
            <a:r>
              <a:rPr lang="en-US" altLang="zh-CN" dirty="0" err="1">
                <a:latin typeface="Times New Roman" panose="02020603050405020304" pitchFamily="18" charset="0"/>
              </a:rPr>
              <a:t>r',encoding</a:t>
            </a:r>
            <a:r>
              <a:rPr lang="en-US" altLang="zh-CN" dirty="0">
                <a:latin typeface="Times New Roman" panose="02020603050405020304" pitchFamily="18" charset="0"/>
              </a:rPr>
              <a:t>='utf-8') 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dirty="0">
                <a:latin typeface="Times New Roman" panose="02020603050405020304" pitchFamily="18" charset="0"/>
              </a:rPr>
              <a:t>handle = 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</a:rPr>
              <a:t>open</a:t>
            </a:r>
            <a:r>
              <a:rPr lang="en-US" altLang="zh-CN" dirty="0">
                <a:latin typeface="Times New Roman" panose="02020603050405020304" pitchFamily="18" charset="0"/>
              </a:rPr>
              <a:t>("D: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zh-CN" dirty="0">
                <a:latin typeface="Times New Roman" panose="02020603050405020304" pitchFamily="18" charset="0"/>
              </a:rPr>
              <a:t>exam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</a:rPr>
              <a:t>/</a:t>
            </a:r>
            <a:r>
              <a:rPr lang="en-US" altLang="zh-CN" dirty="0">
                <a:latin typeface="Times New Roman" panose="02020603050405020304" pitchFamily="18" charset="0"/>
              </a:rPr>
              <a:t>test.csv", 'r')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buClr>
                <a:srgbClr val="6193D4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</a:rPr>
              <a:t>文件打开方式二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打开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当前目录</a:t>
            </a:r>
            <a:r>
              <a:rPr lang="zh-CN" altLang="en-US" dirty="0">
                <a:latin typeface="Times New Roman" panose="02020603050405020304" pitchFamily="18" charset="0"/>
              </a:rPr>
              <a:t>下文件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zh-CN" altLang="en-US" dirty="0">
                <a:latin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handle = open("test.txt", '</a:t>
            </a:r>
            <a:r>
              <a:rPr lang="en-US" altLang="zh-CN" dirty="0" err="1">
                <a:latin typeface="Times New Roman" panose="02020603050405020304" pitchFamily="18" charset="0"/>
              </a:rPr>
              <a:t>r',encoding</a:t>
            </a:r>
            <a:r>
              <a:rPr lang="en-US" altLang="zh-CN" dirty="0">
                <a:latin typeface="Times New Roman" panose="02020603050405020304" pitchFamily="18" charset="0"/>
              </a:rPr>
              <a:t>='utf-8')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</a:rPr>
              <a:t>文件关闭：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</a:t>
            </a:r>
            <a:r>
              <a:rPr lang="en-US" altLang="zh-CN" dirty="0" err="1">
                <a:latin typeface="Times New Roman" panose="02020603050405020304" pitchFamily="18" charset="0"/>
              </a:rPr>
              <a:t>handle.</a:t>
            </a:r>
            <a:r>
              <a:rPr lang="en-US" altLang="zh-CN" b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close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</a:rPr>
              <a:t>( 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)</a:t>
            </a:r>
            <a:endParaRPr lang="en-US" altLang="zh-CN" b="1" dirty="0" smtClean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</a:rPr>
              <a:t>with open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(‘test.txt’, ‘a’) 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</a:rPr>
              <a:t>as f</a:t>
            </a:r>
            <a:r>
              <a:rPr lang="en-US" altLang="zh-CN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: </a:t>
            </a:r>
            <a:r>
              <a:rPr lang="zh-CN" altLang="en-US" dirty="0" smtClean="0">
                <a:latin typeface="Times New Roman" panose="02020603050405020304" pitchFamily="18" charset="0"/>
              </a:rPr>
              <a:t>语句的用法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11125" y="518765"/>
            <a:ext cx="680176" cy="711395"/>
            <a:chOff x="3820548" y="-894825"/>
            <a:chExt cx="1257690" cy="1257690"/>
          </a:xfrm>
        </p:grpSpPr>
        <p:sp>
          <p:nvSpPr>
            <p:cNvPr id="6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7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sp>
        <p:nvSpPr>
          <p:cNvPr id="2" name="矩形 1"/>
          <p:cNvSpPr/>
          <p:nvPr/>
        </p:nvSpPr>
        <p:spPr>
          <a:xfrm>
            <a:off x="1059453" y="458963"/>
            <a:ext cx="59476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800" b="1" dirty="0">
                <a:cs typeface="+mn-ea"/>
              </a:rPr>
              <a:t>文件打开与关闭</a:t>
            </a:r>
            <a:endParaRPr lang="zh-CN" altLang="en-US" sz="4800" b="1" dirty="0">
              <a:cs typeface="+mn-ea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1148080" y="5588000"/>
            <a:ext cx="6705600" cy="629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7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7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7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7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7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7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8" grpId="0" bldLvl="5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66255" y="1860697"/>
          <a:ext cx="11376340" cy="3992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14730"/>
                <a:gridCol w="7861610"/>
              </a:tblGrid>
              <a:tr h="4100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chemeClr val="bg1"/>
                          </a:solidFill>
                        </a:rPr>
                        <a:t>模式</a:t>
                      </a:r>
                      <a:endParaRPr lang="zh-CN" altLang="en-US" sz="2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00" marB="45700">
                    <a:solidFill>
                      <a:srgbClr val="6193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chemeClr val="bg1"/>
                          </a:solidFill>
                        </a:rPr>
                        <a:t>说明</a:t>
                      </a:r>
                      <a:endParaRPr lang="zh-CN" altLang="en-US" sz="2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00" marB="45700">
                    <a:solidFill>
                      <a:srgbClr val="6193D4"/>
                    </a:solidFill>
                  </a:tcPr>
                </a:tc>
              </a:tr>
              <a:tr h="5790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</a:t>
                      </a:r>
                      <a:r>
                        <a:rPr lang="en-US" altLang="zh-CN" sz="3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altLang="zh-C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</a:t>
                      </a:r>
                      <a:endParaRPr lang="zh-CN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以只读方式打开文件（默认值）</a:t>
                      </a:r>
                      <a:endParaRPr lang="zh-CN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00" marB="45700"/>
                </a:tc>
              </a:tr>
              <a:tr h="5790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</a:t>
                      </a:r>
                      <a:r>
                        <a:rPr lang="en-US" altLang="zh-CN" sz="3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zh-C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</a:t>
                      </a:r>
                      <a:endParaRPr lang="zh-CN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800" dirty="0"/>
                        <a:t>以写方式打开</a:t>
                      </a:r>
                      <a:r>
                        <a:rPr lang="en-US" altLang="zh-CN" sz="2400" dirty="0"/>
                        <a:t>(</a:t>
                      </a:r>
                      <a:r>
                        <a:rPr lang="zh-CN" altLang="en-US" sz="2400" dirty="0"/>
                        <a:t>若已存在则覆盖原文件，否则新建文件</a:t>
                      </a:r>
                      <a:r>
                        <a:rPr lang="en-US" altLang="zh-CN" sz="2400" dirty="0"/>
                        <a:t>)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00" marB="45700"/>
                </a:tc>
              </a:tr>
              <a:tr h="5790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</a:t>
                      </a:r>
                      <a:r>
                        <a:rPr lang="en-US" altLang="zh-CN" sz="3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</a:t>
                      </a:r>
                      <a:endParaRPr lang="zh-CN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800" dirty="0"/>
                        <a:t>以写方式打开，写入内容追加在文件末尾</a:t>
                      </a:r>
                      <a:endParaRPr lang="zh-CN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00" marB="45700"/>
                </a:tc>
              </a:tr>
              <a:tr h="5790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en-US" altLang="zh-CN" sz="3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r+</a:t>
                      </a:r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zh-CN" altLang="en-US" sz="3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C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“w+”</a:t>
                      </a:r>
                      <a:r>
                        <a:rPr lang="zh-CN" alt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C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"a+"</a:t>
                      </a:r>
                      <a:endParaRPr lang="zh-CN" altLang="en-US" sz="3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800" dirty="0"/>
                        <a:t>以修改方式打开，支持读取和写入</a:t>
                      </a:r>
                      <a:endParaRPr lang="zh-CN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00" marB="45700"/>
                </a:tc>
              </a:tr>
              <a:tr h="5790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"b"</a:t>
                      </a:r>
                      <a:endParaRPr lang="zh-CN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800" dirty="0"/>
                        <a:t>表示二进制文件，添加在其它控制字符后面</a:t>
                      </a:r>
                      <a:endParaRPr lang="zh-CN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00" marB="45700"/>
                </a:tc>
              </a:tr>
              <a:tr h="5790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"t"</a:t>
                      </a:r>
                      <a:endParaRPr lang="zh-CN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800" dirty="0"/>
                        <a:t>表示文本文件，默认值</a:t>
                      </a:r>
                      <a:endParaRPr lang="zh-CN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00" marB="45700"/>
                </a:tc>
              </a:tr>
            </a:tbl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311125" y="518765"/>
            <a:ext cx="680176" cy="711395"/>
            <a:chOff x="3820548" y="-894825"/>
            <a:chExt cx="1257690" cy="1257690"/>
          </a:xfrm>
        </p:grpSpPr>
        <p:sp>
          <p:nvSpPr>
            <p:cNvPr id="6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7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sp>
        <p:nvSpPr>
          <p:cNvPr id="8" name="矩形 7"/>
          <p:cNvSpPr/>
          <p:nvPr/>
        </p:nvSpPr>
        <p:spPr>
          <a:xfrm>
            <a:off x="1059453" y="458963"/>
            <a:ext cx="59476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800" b="1" dirty="0">
                <a:cs typeface="+mn-ea"/>
              </a:rPr>
              <a:t>文件打开模式</a:t>
            </a:r>
            <a:endParaRPr lang="zh-CN" altLang="en-US" sz="4800" b="1" dirty="0">
              <a:cs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11125" y="518765"/>
            <a:ext cx="680176" cy="711395"/>
            <a:chOff x="3820548" y="-894825"/>
            <a:chExt cx="1257690" cy="1257690"/>
          </a:xfrm>
        </p:grpSpPr>
        <p:sp>
          <p:nvSpPr>
            <p:cNvPr id="6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7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sp>
        <p:nvSpPr>
          <p:cNvPr id="8" name="矩形 7"/>
          <p:cNvSpPr/>
          <p:nvPr/>
        </p:nvSpPr>
        <p:spPr>
          <a:xfrm>
            <a:off x="1059453" y="458963"/>
            <a:ext cx="59476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800" b="1" dirty="0">
                <a:cs typeface="+mn-ea"/>
              </a:rPr>
              <a:t>文件的读写</a:t>
            </a:r>
            <a:endParaRPr lang="zh-CN" altLang="en-US" sz="4800" b="1" dirty="0">
              <a:cs typeface="+mn-ea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922493" y="1453688"/>
            <a:ext cx="8839200" cy="1063256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200" b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handle.read</a:t>
            </a:r>
            <a:r>
              <a:rPr lang="en-US" altLang="zh-CN" sz="32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()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sz="3200" dirty="0">
                <a:latin typeface="Times New Roman" panose="02020603050405020304" pitchFamily="18" charset="0"/>
              </a:rPr>
              <a:t>读取整个文件内容到字符串中</a:t>
            </a:r>
            <a:endParaRPr lang="en-US" altLang="zh-CN" sz="3200" dirty="0">
              <a:latin typeface="Times New Roman" panose="02020603050405020304" pitchFamily="18" charset="0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922493" y="2752565"/>
            <a:ext cx="9966251" cy="882502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200" b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handle.readlines</a:t>
            </a:r>
            <a:r>
              <a:rPr lang="en-US" altLang="zh-CN" sz="32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()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sz="3200" dirty="0">
                <a:latin typeface="Times New Roman" panose="02020603050405020304" pitchFamily="18" charset="0"/>
              </a:rPr>
              <a:t>读取整个文件内容并存入列表</a:t>
            </a:r>
            <a:endParaRPr lang="en-US" altLang="zh-CN" sz="3200" dirty="0">
              <a:latin typeface="Times New Roman" panose="02020603050405020304" pitchFamily="18" charset="0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908742" y="2084073"/>
            <a:ext cx="9944428" cy="865742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3200" b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handle.readline</a:t>
            </a:r>
            <a:r>
              <a:rPr lang="en-US" altLang="zh-CN" sz="32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()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sz="3200" dirty="0">
                <a:latin typeface="Times New Roman" panose="02020603050405020304" pitchFamily="18" charset="0"/>
              </a:rPr>
              <a:t>读取一行内容到字符串中</a:t>
            </a:r>
            <a:endParaRPr lang="en-US" altLang="zh-CN" sz="3200" dirty="0">
              <a:latin typeface="Times New Roman" panose="02020603050405020304" pitchFamily="18" charset="0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732694" y="3919241"/>
            <a:ext cx="11154505" cy="1687887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200" b="1" dirty="0">
                <a:solidFill>
                  <a:srgbClr val="FFC000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3200" b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handle.write</a:t>
            </a:r>
            <a:r>
              <a:rPr lang="en-US" altLang="zh-CN" sz="32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()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 ：</a:t>
            </a:r>
            <a:r>
              <a:rPr lang="zh-CN" altLang="en-US" sz="3200" dirty="0">
                <a:latin typeface="Times New Roman" panose="02020603050405020304" pitchFamily="18" charset="0"/>
              </a:rPr>
              <a:t>一个字符串写入到文件中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marL="0" indent="0">
              <a:lnSpc>
                <a:spcPts val="25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32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2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3200" b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handle.writelines</a:t>
            </a:r>
            <a:r>
              <a:rPr lang="en-US" altLang="zh-CN" sz="32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()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sz="3200" dirty="0">
                <a:latin typeface="Times New Roman" panose="02020603050405020304" pitchFamily="18" charset="0"/>
              </a:rPr>
              <a:t>字符串或字符串列表按行写入文件中</a:t>
            </a:r>
            <a:r>
              <a:rPr lang="en-US" altLang="zh-CN" sz="3200" dirty="0">
                <a:latin typeface="Times New Roman" panose="02020603050405020304" pitchFamily="18" charset="0"/>
              </a:rPr>
              <a:t>   </a:t>
            </a:r>
            <a:endParaRPr lang="en-US" altLang="zh-CN" sz="3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0" grpId="0" build="p"/>
      <p:bldP spid="11" grpId="0" build="p"/>
      <p:bldP spid="12" grpId="0" bldLvl="5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75402" y="1346183"/>
            <a:ext cx="10752137" cy="4111625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FFC000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3200" b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handle.write</a:t>
            </a:r>
            <a:r>
              <a:rPr lang="en-US" altLang="zh-CN" sz="32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(string)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 ：</a:t>
            </a:r>
            <a:r>
              <a:rPr lang="zh-CN" altLang="en-US" sz="3200" dirty="0">
                <a:latin typeface="Times New Roman" panose="02020603050405020304" pitchFamily="18" charset="0"/>
              </a:rPr>
              <a:t>将字符串</a:t>
            </a:r>
            <a:r>
              <a:rPr lang="en-US" altLang="zh-CN" sz="3200" dirty="0">
                <a:latin typeface="Times New Roman" panose="02020603050405020304" pitchFamily="18" charset="0"/>
              </a:rPr>
              <a:t>string</a:t>
            </a:r>
            <a:r>
              <a:rPr lang="zh-CN" altLang="en-US" sz="3200" dirty="0">
                <a:latin typeface="Times New Roman" panose="02020603050405020304" pitchFamily="18" charset="0"/>
              </a:rPr>
              <a:t>的内容写到文件中，并返回写入的字符数。但不会自动换行，如果需要换行，则要使用换行符</a:t>
            </a:r>
            <a:r>
              <a:rPr lang="en-US" altLang="zh-CN" sz="3200" dirty="0">
                <a:latin typeface="Times New Roman" panose="02020603050405020304" pitchFamily="18" charset="0"/>
              </a:rPr>
              <a:t>'\n’</a:t>
            </a:r>
            <a:r>
              <a:rPr lang="zh-CN" altLang="en-US" sz="3200" dirty="0">
                <a:latin typeface="Times New Roman" panose="02020603050405020304" pitchFamily="18" charset="0"/>
              </a:rPr>
              <a:t>。</a:t>
            </a:r>
            <a:r>
              <a:rPr lang="en-US" altLang="zh-CN" sz="3200" dirty="0">
                <a:latin typeface="Times New Roman" panose="02020603050405020304" pitchFamily="18" charset="0"/>
              </a:rPr>
              <a:t>  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None/>
            </a:pPr>
            <a:endParaRPr lang="en-US" altLang="zh-CN" sz="3200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sz="3200" dirty="0">
                <a:latin typeface="Times New Roman" panose="02020603050405020304" pitchFamily="18" charset="0"/>
              </a:rPr>
              <a:t>string="This is Miss Zhang\n"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sz="3200" dirty="0" err="1">
                <a:latin typeface="Times New Roman" panose="02020603050405020304" pitchFamily="18" charset="0"/>
              </a:rPr>
              <a:t>handle.write</a:t>
            </a:r>
            <a:r>
              <a:rPr lang="en-US" altLang="zh-CN" sz="3200" dirty="0">
                <a:latin typeface="Times New Roman" panose="02020603050405020304" pitchFamily="18" charset="0"/>
              </a:rPr>
              <a:t>(string)</a:t>
            </a:r>
            <a:endParaRPr lang="en-US" altLang="zh-CN" sz="3200" dirty="0">
              <a:latin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11125" y="518765"/>
            <a:ext cx="680176" cy="711395"/>
            <a:chOff x="3820548" y="-894825"/>
            <a:chExt cx="1257690" cy="1257690"/>
          </a:xfrm>
        </p:grpSpPr>
        <p:sp>
          <p:nvSpPr>
            <p:cNvPr id="6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7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sp>
        <p:nvSpPr>
          <p:cNvPr id="8" name="矩形 7"/>
          <p:cNvSpPr/>
          <p:nvPr/>
        </p:nvSpPr>
        <p:spPr>
          <a:xfrm>
            <a:off x="1075402" y="465027"/>
            <a:ext cx="108376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800" b="1" dirty="0">
                <a:cs typeface="+mn-ea"/>
              </a:rPr>
              <a:t>文件写入方式（一）</a:t>
            </a:r>
            <a:endParaRPr lang="zh-CN" altLang="en-US" sz="4800" b="1" dirty="0">
              <a:cs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250710" y="5570930"/>
            <a:ext cx="85529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  <a:latin typeface="Times New Roman" panose="02020603050405020304" pitchFamily="18" charset="0"/>
              </a:rPr>
              <a:t>注意：</a:t>
            </a:r>
            <a:r>
              <a:rPr lang="zh-CN" altLang="en-US" sz="3200" dirty="0">
                <a:latin typeface="Times New Roman" panose="02020603050405020304" pitchFamily="18" charset="0"/>
              </a:rPr>
              <a:t>文件可通过</a:t>
            </a:r>
            <a:r>
              <a:rPr lang="en-US" altLang="zh-CN" sz="3200" dirty="0">
                <a:latin typeface="Times New Roman" panose="02020603050405020304" pitchFamily="18" charset="0"/>
              </a:rPr>
              <a:t>'r+' </a:t>
            </a:r>
            <a:r>
              <a:rPr lang="zh-CN" altLang="en-US" sz="3200" dirty="0">
                <a:latin typeface="Times New Roman" panose="02020603050405020304" pitchFamily="18" charset="0"/>
              </a:rPr>
              <a:t>、</a:t>
            </a:r>
            <a:r>
              <a:rPr lang="en-US" altLang="zh-CN" sz="3200" dirty="0">
                <a:latin typeface="Times New Roman" panose="02020603050405020304" pitchFamily="18" charset="0"/>
              </a:rPr>
              <a:t>'w'</a:t>
            </a:r>
            <a:r>
              <a:rPr lang="zh-CN" altLang="en-US" sz="3200" dirty="0">
                <a:latin typeface="Times New Roman" panose="02020603050405020304" pitchFamily="18" charset="0"/>
              </a:rPr>
              <a:t>或</a:t>
            </a:r>
            <a:r>
              <a:rPr lang="en-US" altLang="zh-CN" sz="3200" dirty="0">
                <a:latin typeface="Times New Roman" panose="02020603050405020304" pitchFamily="18" charset="0"/>
              </a:rPr>
              <a:t>'a'</a:t>
            </a:r>
            <a:r>
              <a:rPr lang="zh-CN" altLang="en-US" sz="3200" dirty="0">
                <a:latin typeface="Times New Roman" panose="02020603050405020304" pitchFamily="18" charset="0"/>
              </a:rPr>
              <a:t>等方式打开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7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8" grpId="0" bldLvl="5" build="p"/>
      <p:bldP spid="9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71475" y="1392238"/>
            <a:ext cx="11820525" cy="4113212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FFC000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3200" b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handle.writelines</a:t>
            </a:r>
            <a:r>
              <a:rPr lang="en-US" altLang="zh-CN" sz="32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3200" dirty="0">
                <a:latin typeface="Times New Roman" panose="02020603050405020304" pitchFamily="18" charset="0"/>
              </a:rPr>
              <a:t>sequence</a:t>
            </a:r>
            <a:r>
              <a:rPr lang="en-US" altLang="zh-CN" sz="32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字符串</a:t>
            </a:r>
            <a:r>
              <a:rPr lang="zh-CN" altLang="en-US" sz="3200" dirty="0">
                <a:latin typeface="Times New Roman" panose="02020603050405020304" pitchFamily="18" charset="0"/>
              </a:rPr>
              <a:t>或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字符列表</a:t>
            </a:r>
            <a:r>
              <a:rPr lang="zh-CN" altLang="en-US" sz="3200" dirty="0">
                <a:latin typeface="Times New Roman" panose="02020603050405020304" pitchFamily="18" charset="0"/>
              </a:rPr>
              <a:t>写入文件中</a:t>
            </a:r>
            <a:r>
              <a:rPr lang="en-US" altLang="zh-CN" sz="3200" dirty="0">
                <a:latin typeface="Times New Roman" panose="02020603050405020304" pitchFamily="18" charset="0"/>
              </a:rPr>
              <a:t>   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sz="3200" dirty="0">
                <a:latin typeface="Times New Roman" panose="02020603050405020304" pitchFamily="18" charset="0"/>
              </a:rPr>
              <a:t>  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sz="3200" dirty="0">
                <a:latin typeface="Times New Roman" panose="02020603050405020304" pitchFamily="18" charset="0"/>
              </a:rPr>
              <a:t>string="This is Miss Zhang\n"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sz="3200" dirty="0">
                <a:latin typeface="Times New Roman" panose="02020603050405020304" pitchFamily="18" charset="0"/>
              </a:rPr>
              <a:t>handle. </a:t>
            </a:r>
            <a:r>
              <a:rPr lang="en-US" altLang="zh-CN" sz="3200" dirty="0" err="1">
                <a:latin typeface="Times New Roman" panose="02020603050405020304" pitchFamily="18" charset="0"/>
              </a:rPr>
              <a:t>writelines</a:t>
            </a:r>
            <a:r>
              <a:rPr lang="en-US" altLang="zh-CN" sz="3200" dirty="0">
                <a:latin typeface="Times New Roman" panose="02020603050405020304" pitchFamily="18" charset="0"/>
              </a:rPr>
              <a:t>(string)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None/>
            </a:pPr>
            <a:endParaRPr lang="en-US" altLang="zh-CN" sz="3200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sz="3200" dirty="0">
                <a:latin typeface="Times New Roman" panose="02020603050405020304" pitchFamily="18" charset="0"/>
              </a:rPr>
              <a:t> words=["hello\</a:t>
            </a:r>
            <a:r>
              <a:rPr lang="en-US" altLang="zh-CN" sz="3200" dirty="0" err="1">
                <a:latin typeface="Times New Roman" panose="02020603050405020304" pitchFamily="18" charset="0"/>
              </a:rPr>
              <a:t>n","world</a:t>
            </a:r>
            <a:r>
              <a:rPr lang="en-US" altLang="zh-CN" sz="3200" dirty="0">
                <a:latin typeface="Times New Roman" panose="02020603050405020304" pitchFamily="18" charset="0"/>
              </a:rPr>
              <a:t>\n"]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dirty="0" err="1">
                <a:latin typeface="Times New Roman" panose="02020603050405020304" pitchFamily="18" charset="0"/>
              </a:rPr>
              <a:t>handle.writelines</a:t>
            </a:r>
            <a:r>
              <a:rPr lang="en-US" altLang="zh-CN" sz="3200" dirty="0">
                <a:latin typeface="Times New Roman" panose="02020603050405020304" pitchFamily="18" charset="0"/>
              </a:rPr>
              <a:t>(words)</a:t>
            </a:r>
            <a:endParaRPr lang="en-US" altLang="zh-CN" sz="3200" dirty="0">
              <a:latin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11125" y="518765"/>
            <a:ext cx="680176" cy="711395"/>
            <a:chOff x="3820548" y="-894825"/>
            <a:chExt cx="1257690" cy="1257690"/>
          </a:xfrm>
        </p:grpSpPr>
        <p:sp>
          <p:nvSpPr>
            <p:cNvPr id="6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7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sp>
        <p:nvSpPr>
          <p:cNvPr id="8" name="矩形 7"/>
          <p:cNvSpPr/>
          <p:nvPr/>
        </p:nvSpPr>
        <p:spPr>
          <a:xfrm>
            <a:off x="1075402" y="465027"/>
            <a:ext cx="108376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800" b="1" dirty="0">
                <a:cs typeface="+mn-ea"/>
              </a:rPr>
              <a:t>文件写入方式（二）</a:t>
            </a:r>
            <a:endParaRPr lang="zh-CN" altLang="en-US" sz="4800" b="1" dirty="0">
              <a:cs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7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7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7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7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8" grpId="0" bldLvl="5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11125" y="518765"/>
            <a:ext cx="680176" cy="711395"/>
            <a:chOff x="3820548" y="-894825"/>
            <a:chExt cx="1257690" cy="1257690"/>
          </a:xfrm>
        </p:grpSpPr>
        <p:sp>
          <p:nvSpPr>
            <p:cNvPr id="8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9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sp>
        <p:nvSpPr>
          <p:cNvPr id="10" name="矩形 9"/>
          <p:cNvSpPr/>
          <p:nvPr/>
        </p:nvSpPr>
        <p:spPr>
          <a:xfrm>
            <a:off x="896982" y="399163"/>
            <a:ext cx="1149202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800" b="1" dirty="0">
                <a:cs typeface="+mn-ea"/>
              </a:rPr>
              <a:t>文本文件数据分析</a:t>
            </a:r>
            <a:r>
              <a:rPr lang="en-US" altLang="zh-CN" sz="4800" b="1" dirty="0">
                <a:cs typeface="+mn-ea"/>
              </a:rPr>
              <a:t>-</a:t>
            </a:r>
            <a:r>
              <a:rPr lang="zh-CN" alt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由成绩，统计学科等级水平</a:t>
            </a:r>
            <a:endParaRPr lang="zh-CN" altLang="en-US" sz="4800" b="1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1" name="TextBox 1"/>
          <p:cNvSpPr txBox="1"/>
          <p:nvPr/>
        </p:nvSpPr>
        <p:spPr>
          <a:xfrm>
            <a:off x="836172" y="1420427"/>
            <a:ext cx="1030847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分析：某中学对学生的附加科目进行能力测试，并按以下标准统计学科等级水平。</a:t>
            </a: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）总分达到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260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分为优秀；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）总分达到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180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分为及格；</a:t>
            </a: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）总分不到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180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分为不及格。</a:t>
            </a: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编程要求：从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score.txt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文件中读取学生成绩数据，判定等级并写入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level.txt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文件中，并统计每个等级的人数，结果输出到屏幕。</a:t>
            </a: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40"/>
          <a:stretch>
            <a:fillRect/>
          </a:stretch>
        </p:blipFill>
        <p:spPr bwMode="auto">
          <a:xfrm>
            <a:off x="6999461" y="3699595"/>
            <a:ext cx="4145190" cy="3158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36100" y="1458274"/>
            <a:ext cx="11776988" cy="13716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algn="just">
              <a:lnSpc>
                <a:spcPct val="125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）读取文件</a:t>
            </a:r>
            <a:r>
              <a:rPr lang="en-US" altLang="zh-CN" sz="2400" dirty="0"/>
              <a:t>score.txt</a:t>
            </a:r>
            <a:r>
              <a:rPr lang="zh-CN" altLang="en-US" sz="2400" dirty="0"/>
              <a:t>数据到列表</a:t>
            </a:r>
            <a:r>
              <a:rPr lang="en-US" altLang="zh-CN" sz="2400" dirty="0"/>
              <a:t>L</a:t>
            </a:r>
            <a:r>
              <a:rPr lang="zh-CN" altLang="en-US" sz="2400" dirty="0" smtClean="0"/>
              <a:t>中</a:t>
            </a:r>
            <a:r>
              <a:rPr lang="en-US" altLang="zh-CN" sz="2400" dirty="0" smtClean="0"/>
              <a:t>(</a:t>
            </a:r>
            <a:r>
              <a:rPr lang="zh-CN" altLang="en-US" sz="2400" dirty="0" smtClean="0">
                <a:solidFill>
                  <a:srgbClr val="FF0000"/>
                </a:solidFill>
              </a:rPr>
              <a:t>如果数据存储在</a:t>
            </a:r>
            <a:r>
              <a:rPr lang="en-US" altLang="zh-CN" sz="2400" dirty="0" smtClean="0">
                <a:solidFill>
                  <a:srgbClr val="FF0000"/>
                </a:solidFill>
              </a:rPr>
              <a:t>csv</a:t>
            </a:r>
            <a:r>
              <a:rPr lang="zh-CN" altLang="en-US" sz="2400" dirty="0" smtClean="0">
                <a:solidFill>
                  <a:srgbClr val="FF0000"/>
                </a:solidFill>
              </a:rPr>
              <a:t>文件中的情况，自行练习</a:t>
            </a:r>
            <a:r>
              <a:rPr lang="en-US" altLang="zh-CN" sz="2400" dirty="0" smtClean="0"/>
              <a:t>)</a:t>
            </a:r>
            <a:endParaRPr lang="zh-CN" altLang="en-US" sz="2400" dirty="0"/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2400" dirty="0"/>
              <a:t>列表</a:t>
            </a:r>
            <a:r>
              <a:rPr lang="en-US" altLang="zh-CN" sz="2400" dirty="0"/>
              <a:t>L</a:t>
            </a:r>
            <a:r>
              <a:rPr lang="zh-CN" altLang="en-US" sz="2400" dirty="0"/>
              <a:t>中的数据项对应着文件中的每条学生记录，通过循环语句遍历</a:t>
            </a:r>
            <a:r>
              <a:rPr lang="en-US" altLang="zh-CN" sz="2400" dirty="0"/>
              <a:t>L</a:t>
            </a:r>
            <a:r>
              <a:rPr lang="zh-CN" altLang="en-US" sz="2400" dirty="0"/>
              <a:t>，提取需要的考号和三门课的成绩，并存放在列表</a:t>
            </a:r>
            <a:r>
              <a:rPr lang="en-US" altLang="zh-CN" sz="2400" dirty="0"/>
              <a:t>x</a:t>
            </a:r>
            <a:r>
              <a:rPr lang="zh-CN" altLang="en-US" sz="2400" dirty="0"/>
              <a:t>中。</a:t>
            </a:r>
            <a:endParaRPr lang="zh-CN" altLang="en-US" sz="2400" dirty="0"/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）判定学科等级，统计每个等级人数。</a:t>
            </a:r>
            <a:endParaRPr lang="zh-CN" altLang="en-US" sz="2400" dirty="0"/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2400" dirty="0"/>
              <a:t>列表</a:t>
            </a:r>
            <a:r>
              <a:rPr lang="en-US" altLang="zh-CN" sz="2400" dirty="0"/>
              <a:t>x</a:t>
            </a:r>
            <a:r>
              <a:rPr lang="zh-CN" altLang="en-US" sz="2400" dirty="0"/>
              <a:t>包含</a:t>
            </a:r>
            <a:r>
              <a:rPr lang="en-US" altLang="zh-CN" sz="2400" dirty="0"/>
              <a:t>4</a:t>
            </a:r>
            <a:r>
              <a:rPr lang="zh-CN" altLang="en-US" sz="2400" dirty="0"/>
              <a:t>个数据项，</a:t>
            </a:r>
            <a:r>
              <a:rPr lang="en-US" altLang="zh-CN" sz="2400" dirty="0"/>
              <a:t>x[0]</a:t>
            </a:r>
            <a:r>
              <a:rPr lang="zh-CN" altLang="en-US" sz="2400" dirty="0"/>
              <a:t>为考号，</a:t>
            </a:r>
            <a:r>
              <a:rPr lang="en-US" altLang="zh-CN" sz="2400" dirty="0"/>
              <a:t>x[1]</a:t>
            </a:r>
            <a:r>
              <a:rPr lang="zh-CN" altLang="en-US" sz="2400" dirty="0"/>
              <a:t>、</a:t>
            </a:r>
            <a:r>
              <a:rPr lang="en-US" altLang="zh-CN" sz="2400" dirty="0"/>
              <a:t>x[2]</a:t>
            </a:r>
            <a:r>
              <a:rPr lang="zh-CN" altLang="en-US" sz="2400" dirty="0"/>
              <a:t>和</a:t>
            </a:r>
            <a:r>
              <a:rPr lang="en-US" altLang="zh-CN" sz="2400" dirty="0"/>
              <a:t>x[3]</a:t>
            </a:r>
            <a:r>
              <a:rPr lang="zh-CN" altLang="en-US" sz="2400" dirty="0"/>
              <a:t>分别为“程序设计”、“生物”和“科学”三门课的成绩，需要转换为整数类型以便进行求和等数值运算。最后通过分支语句，将求得的等级结果存放在</a:t>
            </a:r>
            <a:r>
              <a:rPr lang="en-US" altLang="zh-CN" sz="2400" dirty="0"/>
              <a:t>key</a:t>
            </a:r>
            <a:r>
              <a:rPr lang="zh-CN" altLang="en-US" sz="2400" dirty="0"/>
              <a:t>变量中。相应等级的人数加</a:t>
            </a:r>
            <a:r>
              <a:rPr lang="en-US" altLang="zh-CN" sz="2400" dirty="0"/>
              <a:t>1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）将考号和等级结果按一定格式写入文件</a:t>
            </a:r>
            <a:r>
              <a:rPr lang="en-US" altLang="zh-CN" sz="2400" dirty="0"/>
              <a:t>level.txt</a:t>
            </a:r>
            <a:r>
              <a:rPr lang="zh-CN" altLang="en-US" sz="2400" dirty="0"/>
              <a:t>中。在屏幕输出等级人数。</a:t>
            </a:r>
            <a:endParaRPr lang="zh-CN" altLang="en-US" sz="2400" dirty="0"/>
          </a:p>
          <a:p>
            <a:pPr marL="0" indent="719455" algn="just">
              <a:lnSpc>
                <a:spcPct val="125000"/>
              </a:lnSpc>
              <a:buNone/>
            </a:pPr>
            <a:endParaRPr lang="zh-CN" altLang="en-US" sz="2400" dirty="0"/>
          </a:p>
        </p:txBody>
      </p:sp>
      <p:grpSp>
        <p:nvGrpSpPr>
          <p:cNvPr id="7" name="组合 6"/>
          <p:cNvGrpSpPr/>
          <p:nvPr/>
        </p:nvGrpSpPr>
        <p:grpSpPr>
          <a:xfrm>
            <a:off x="311125" y="518765"/>
            <a:ext cx="680176" cy="711395"/>
            <a:chOff x="3820548" y="-894825"/>
            <a:chExt cx="1257690" cy="1257690"/>
          </a:xfrm>
        </p:grpSpPr>
        <p:sp>
          <p:nvSpPr>
            <p:cNvPr id="8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9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sp>
        <p:nvSpPr>
          <p:cNvPr id="10" name="矩形 9"/>
          <p:cNvSpPr/>
          <p:nvPr/>
        </p:nvSpPr>
        <p:spPr>
          <a:xfrm>
            <a:off x="1075402" y="465027"/>
            <a:ext cx="108376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方案：</a:t>
            </a:r>
            <a:endParaRPr lang="zh-CN" altLang="en-US" sz="4800" b="1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5344160" y="1483988"/>
            <a:ext cx="6421120" cy="50260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11125" y="518765"/>
            <a:ext cx="680176" cy="711395"/>
            <a:chOff x="3820548" y="-894825"/>
            <a:chExt cx="1257690" cy="1257690"/>
          </a:xfrm>
        </p:grpSpPr>
        <p:sp>
          <p:nvSpPr>
            <p:cNvPr id="8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9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sp>
        <p:nvSpPr>
          <p:cNvPr id="13" name="TextBox 1"/>
          <p:cNvSpPr txBox="1"/>
          <p:nvPr/>
        </p:nvSpPr>
        <p:spPr>
          <a:xfrm>
            <a:off x="1086640" y="518765"/>
            <a:ext cx="11041227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handle = open("score.txt", 'r')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f=open('</a:t>
            </a:r>
            <a:r>
              <a:rPr lang="en-US" altLang="zh-CN" sz="3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level.txt','w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')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CN" sz="3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aList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=</a:t>
            </a:r>
            <a:r>
              <a:rPr lang="en-US" altLang="zh-CN" sz="3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handle.readlines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()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for line in </a:t>
            </a:r>
            <a:r>
              <a:rPr lang="en-US" altLang="zh-CN" sz="3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aList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[1:]: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x=</a:t>
            </a:r>
            <a:r>
              <a:rPr lang="en-US" altLang="zh-CN" sz="3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line.split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()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score=float(x[1])+float(x[2])+float(x[3])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if score&gt;=260: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key='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优秀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'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CN" sz="3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elif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score&gt;=180: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key='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及格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'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else: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key='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不及格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'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CN" sz="3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f.write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('%s\</a:t>
            </a:r>
            <a:r>
              <a:rPr lang="en-US" altLang="zh-CN" sz="3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t%s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\n'%(x[0],key))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CN" sz="3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f.close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 )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9080" y="2959424"/>
            <a:ext cx="4069080" cy="3872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644" y="490607"/>
            <a:ext cx="10377969" cy="79601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zh-CN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词频统计问题的</a:t>
            </a:r>
            <a:r>
              <a:rPr lang="en-US" altLang="zh-CN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IPO</a:t>
            </a:r>
            <a:r>
              <a:rPr lang="zh-CN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描述</a:t>
            </a:r>
            <a:endParaRPr lang="en-US" altLang="zh-CN" sz="48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176436" y="4121592"/>
            <a:ext cx="3994297" cy="1482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文中最常出现的若干个单词及出现的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次数</a:t>
            </a:r>
            <a:endParaRPr lang="en-US" altLang="zh-CN" sz="32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Oval 33"/>
          <p:cNvSpPr/>
          <p:nvPr/>
        </p:nvSpPr>
        <p:spPr>
          <a:xfrm>
            <a:off x="5037137" y="1805153"/>
            <a:ext cx="1826757" cy="1826757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处理</a:t>
            </a:r>
            <a:endParaRPr lang="bg-BG" sz="32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Oval 47"/>
          <p:cNvSpPr/>
          <p:nvPr/>
        </p:nvSpPr>
        <p:spPr>
          <a:xfrm>
            <a:off x="9147637" y="1760251"/>
            <a:ext cx="1826757" cy="182675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输出</a:t>
            </a:r>
            <a:endParaRPr lang="bg-BG" sz="32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Arc 26"/>
          <p:cNvSpPr/>
          <p:nvPr/>
        </p:nvSpPr>
        <p:spPr>
          <a:xfrm rot="8095012">
            <a:off x="3191154" y="2321943"/>
            <a:ext cx="1120333" cy="1152128"/>
          </a:xfrm>
          <a:prstGeom prst="arc">
            <a:avLst/>
          </a:prstGeom>
          <a:ln w="50800">
            <a:solidFill>
              <a:srgbClr val="0070C0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40" name="Arc 57"/>
          <p:cNvSpPr/>
          <p:nvPr/>
        </p:nvSpPr>
        <p:spPr>
          <a:xfrm rot="8095012">
            <a:off x="7333528" y="2384267"/>
            <a:ext cx="1120333" cy="1152128"/>
          </a:xfrm>
          <a:prstGeom prst="arc">
            <a:avLst/>
          </a:prstGeom>
          <a:ln w="50800">
            <a:solidFill>
              <a:srgbClr val="0070C0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2" name="Oval 47"/>
          <p:cNvSpPr/>
          <p:nvPr/>
        </p:nvSpPr>
        <p:spPr>
          <a:xfrm>
            <a:off x="1164563" y="1837685"/>
            <a:ext cx="1826757" cy="182675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输入</a:t>
            </a:r>
            <a:endParaRPr lang="bg-BG" sz="32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32008" y="4184095"/>
            <a:ext cx="311931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文件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中读取一篇待分析的文章</a:t>
            </a:r>
            <a:endParaRPr lang="en-US" altLang="zh-CN" sz="32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4033530" y="4146740"/>
            <a:ext cx="393025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采用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字典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数据结构统计词语出现的频率</a:t>
            </a:r>
            <a:endParaRPr lang="en-US" altLang="zh-CN" sz="32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96217" y="518765"/>
            <a:ext cx="680176" cy="711395"/>
            <a:chOff x="3820548" y="-894825"/>
            <a:chExt cx="1257690" cy="1257690"/>
          </a:xfrm>
        </p:grpSpPr>
        <p:sp>
          <p:nvSpPr>
            <p:cNvPr id="12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13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9" grpId="0" animBg="1"/>
      <p:bldP spid="34" grpId="0" animBg="1"/>
      <p:bldP spid="39" grpId="0" animBg="1"/>
      <p:bldP spid="40" grpId="0" animBg="1"/>
      <p:bldP spid="42" grpId="0" animBg="1"/>
      <p:bldP spid="5" grpId="0"/>
      <p:bldP spid="44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31523" y="475999"/>
            <a:ext cx="10379075" cy="796925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zh-CN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文本词频统计方法</a:t>
            </a:r>
            <a:endParaRPr lang="en-US" altLang="zh-CN" sz="48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87505" y="1250578"/>
            <a:ext cx="1038113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080808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对于一段英文文本，希望提取其中的单词，可以使用字符串处理的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split( )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方法即可。</a:t>
            </a:r>
            <a:endParaRPr lang="en-US" altLang="zh-CN" sz="32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例：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&gt;&gt;&gt;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"I am </a:t>
            </a:r>
            <a:r>
              <a:rPr lang="en-US" altLang="zh-CN" sz="32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Chinese".split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 )</a:t>
            </a:r>
            <a:endParaRPr lang="en-US" altLang="zh-CN" sz="32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['I', 'am', 'Chinese']</a:t>
            </a:r>
            <a:endParaRPr lang="en-US" altLang="zh-CN" sz="32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对于中文“我是中国人”，获得单词非常困难。</a:t>
            </a:r>
            <a:endParaRPr lang="en-US" altLang="zh-CN" sz="32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32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jieba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中一个重要的第三方中文分词函数库。</a:t>
            </a:r>
            <a:endParaRPr lang="en-US" altLang="zh-CN" sz="32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96217" y="518765"/>
            <a:ext cx="680176" cy="711395"/>
            <a:chOff x="3820548" y="-894825"/>
            <a:chExt cx="1257690" cy="1257690"/>
          </a:xfrm>
        </p:grpSpPr>
        <p:sp>
          <p:nvSpPr>
            <p:cNvPr id="5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6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644" y="501240"/>
            <a:ext cx="6393560" cy="79601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zh-CN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英文文本词频统计方法</a:t>
            </a:r>
            <a:endParaRPr lang="en-US" altLang="zh-CN" sz="48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87505" y="1250578"/>
            <a:ext cx="10749438" cy="5482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第一步：找寻英文文本文件，保存为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.txt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32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第二步：使用</a:t>
            </a:r>
            <a:r>
              <a:rPr lang="en-US" altLang="zh-CN" sz="3200" b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handle.read</a:t>
            </a:r>
            <a:r>
              <a:rPr lang="en-US" altLang="zh-CN" sz="32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()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sz="3200" dirty="0">
                <a:latin typeface="Times New Roman" panose="02020603050405020304" pitchFamily="18" charset="0"/>
              </a:rPr>
              <a:t>读取整个文件内容到字符串中，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分解并提取英文文章的单词：</a:t>
            </a:r>
            <a:endParaRPr lang="en-US" altLang="zh-CN" sz="32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66800" lvl="1" indent="-457200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通过</a:t>
            </a:r>
            <a:r>
              <a:rPr lang="en-US" altLang="zh-CN" sz="32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txt.lower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 )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函数统一字母为小写</a:t>
            </a:r>
            <a:endParaRPr lang="en-US" altLang="zh-CN" sz="32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66800" lvl="1" indent="-457200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32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txt.replace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 )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方法将英文单词的分隔符（空格、标点符号或者特殊符号）统一为空格，再提取单词。</a:t>
            </a:r>
            <a:endParaRPr lang="en-US" altLang="zh-CN" sz="32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66800" lvl="1" indent="-457200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32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txt.split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方法将英文文本分割为单词列表</a:t>
            </a:r>
            <a:endParaRPr lang="en-US" altLang="zh-CN" sz="32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96217" y="518765"/>
            <a:ext cx="680176" cy="711395"/>
            <a:chOff x="3820548" y="-894825"/>
            <a:chExt cx="1257690" cy="1257690"/>
          </a:xfrm>
        </p:grpSpPr>
        <p:sp>
          <p:nvSpPr>
            <p:cNvPr id="5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6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11125" y="518765"/>
            <a:ext cx="680176" cy="711395"/>
            <a:chOff x="3820548" y="-894825"/>
            <a:chExt cx="1257690" cy="1257690"/>
          </a:xfrm>
        </p:grpSpPr>
        <p:sp>
          <p:nvSpPr>
            <p:cNvPr id="7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8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sp>
        <p:nvSpPr>
          <p:cNvPr id="10" name="内容占位符 2"/>
          <p:cNvSpPr txBox="1"/>
          <p:nvPr/>
        </p:nvSpPr>
        <p:spPr>
          <a:xfrm>
            <a:off x="311125" y="1408987"/>
            <a:ext cx="11294820" cy="50229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b="1" dirty="0"/>
              <a:t>第三步：</a:t>
            </a:r>
            <a:r>
              <a:rPr lang="zh-CN" altLang="en-US" dirty="0"/>
              <a:t>利用字典对每个单词进行计数：设单词保存在变量</a:t>
            </a:r>
            <a:r>
              <a:rPr lang="en-US" altLang="zh-CN" dirty="0"/>
              <a:t>word</a:t>
            </a:r>
            <a:r>
              <a:rPr lang="zh-CN" altLang="en-US" dirty="0"/>
              <a:t>中，使用一个字典类型</a:t>
            </a:r>
            <a:r>
              <a:rPr lang="en-US" altLang="zh-CN" b="1" dirty="0">
                <a:solidFill>
                  <a:srgbClr val="FF0000"/>
                </a:solidFill>
              </a:rPr>
              <a:t>counts={&lt;</a:t>
            </a:r>
            <a:r>
              <a:rPr lang="zh-CN" altLang="en-US" b="1" dirty="0">
                <a:solidFill>
                  <a:srgbClr val="FF0000"/>
                </a:solidFill>
              </a:rPr>
              <a:t>单词</a:t>
            </a:r>
            <a:r>
              <a:rPr lang="en-US" altLang="zh-CN" b="1" dirty="0">
                <a:solidFill>
                  <a:srgbClr val="FF0000"/>
                </a:solidFill>
              </a:rPr>
              <a:t>&gt;</a:t>
            </a:r>
            <a:r>
              <a:rPr lang="zh-CN" altLang="en-US" b="1" dirty="0">
                <a:solidFill>
                  <a:srgbClr val="FF0000"/>
                </a:solidFill>
              </a:rPr>
              <a:t>：</a:t>
            </a:r>
            <a:r>
              <a:rPr lang="en-US" altLang="zh-CN" b="1" dirty="0">
                <a:solidFill>
                  <a:srgbClr val="FF0000"/>
                </a:solidFill>
              </a:rPr>
              <a:t>&lt;</a:t>
            </a:r>
            <a:r>
              <a:rPr lang="zh-CN" altLang="en-US" b="1" dirty="0">
                <a:solidFill>
                  <a:srgbClr val="FF0000"/>
                </a:solidFill>
              </a:rPr>
              <a:t>出现次数</a:t>
            </a:r>
            <a:r>
              <a:rPr lang="en-US" altLang="zh-CN" b="1" dirty="0">
                <a:solidFill>
                  <a:srgbClr val="FF0000"/>
                </a:solidFill>
              </a:rPr>
              <a:t>&gt; }</a:t>
            </a:r>
            <a:r>
              <a:rPr lang="zh-CN" altLang="en-US" b="1" dirty="0"/>
              <a:t>，</a:t>
            </a:r>
            <a:endParaRPr lang="en-US" altLang="zh-CN" b="1" dirty="0"/>
          </a:p>
          <a:p>
            <a:pPr marL="0" indent="0">
              <a:buNone/>
            </a:pPr>
            <a:r>
              <a:rPr lang="zh-CN" altLang="en-US" dirty="0"/>
              <a:t>无论词是否在字典中，加入字典</a:t>
            </a:r>
            <a:r>
              <a:rPr lang="en-US" altLang="zh-CN" dirty="0"/>
              <a:t>counts</a:t>
            </a:r>
            <a:r>
              <a:rPr lang="zh-CN" altLang="en-US" dirty="0"/>
              <a:t>中的处理逻辑可以统一表示为：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        counts[word]=</a:t>
            </a:r>
            <a:r>
              <a:rPr lang="en-US" altLang="zh-CN" b="1" dirty="0" err="1">
                <a:solidFill>
                  <a:srgbClr val="FF0000"/>
                </a:solidFill>
              </a:rPr>
              <a:t>counts.get</a:t>
            </a:r>
            <a:r>
              <a:rPr lang="en-US" altLang="zh-CN" b="1" dirty="0">
                <a:solidFill>
                  <a:srgbClr val="FF0000"/>
                </a:solidFill>
              </a:rPr>
              <a:t>(word,0)+1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b="0" i="0" dirty="0">
                <a:solidFill>
                  <a:srgbClr val="181E33"/>
                </a:solidFill>
                <a:effectLst/>
                <a:latin typeface="SF Pro Display"/>
              </a:rPr>
              <a:t>得到所有单词的词频字典。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b="1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第五步：</a:t>
            </a:r>
            <a:r>
              <a:rPr lang="zh-CN" altLang="en-US" dirty="0"/>
              <a:t>对单词的统计值从高到低进行排序，输出前若干个高频词语，并格式化打印输出。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11" name="文本框 10"/>
          <p:cNvSpPr txBox="1"/>
          <p:nvPr/>
        </p:nvSpPr>
        <p:spPr>
          <a:xfrm>
            <a:off x="1457738" y="412797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5400" b="1" dirty="0"/>
              <a:t>词频字典的使用</a:t>
            </a:r>
            <a:endParaRPr lang="zh-CN" altLang="en-US" sz="5400" b="1" dirty="0"/>
          </a:p>
        </p:txBody>
      </p:sp>
      <p:sp>
        <p:nvSpPr>
          <p:cNvPr id="9" name="TextBox 1"/>
          <p:cNvSpPr txBox="1"/>
          <p:nvPr/>
        </p:nvSpPr>
        <p:spPr>
          <a:xfrm>
            <a:off x="466255" y="3836494"/>
            <a:ext cx="1113969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zh-CN" altLang="en-US" sz="2800" b="1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第四步： </a:t>
            </a:r>
            <a:r>
              <a:rPr lang="zh-CN" altLang="en-US" sz="2800" dirty="0"/>
              <a:t>分析结果高频词汇中的冠词、代词、连接词等语法型词汇，并不能代表文章的含义。</a:t>
            </a:r>
            <a:endParaRPr lang="en-US" altLang="zh-CN" sz="2800" dirty="0"/>
          </a:p>
          <a:p>
            <a:r>
              <a:rPr lang="zh-CN" altLang="en-US" sz="2800" dirty="0"/>
              <a:t>        可以采用构建一个排除词汇库</a:t>
            </a:r>
            <a:r>
              <a:rPr lang="en-US" altLang="zh-CN" sz="2800" dirty="0"/>
              <a:t>excludes</a:t>
            </a:r>
            <a:r>
              <a:rPr lang="zh-CN" altLang="en-US" sz="2800" dirty="0"/>
              <a:t>，将语法型词汇排除。</a:t>
            </a:r>
            <a:endParaRPr lang="en-US" altLang="zh-CN" sz="2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11125" y="518765"/>
            <a:ext cx="680176" cy="711395"/>
            <a:chOff x="3820548" y="-894825"/>
            <a:chExt cx="1257690" cy="1257690"/>
          </a:xfrm>
        </p:grpSpPr>
        <p:sp>
          <p:nvSpPr>
            <p:cNvPr id="7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8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sp>
        <p:nvSpPr>
          <p:cNvPr id="11" name="文本框 10"/>
          <p:cNvSpPr txBox="1"/>
          <p:nvPr/>
        </p:nvSpPr>
        <p:spPr>
          <a:xfrm>
            <a:off x="1129729" y="412797"/>
            <a:ext cx="101900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5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中文文本词频统计方法</a:t>
            </a:r>
            <a:r>
              <a:rPr lang="en-US" altLang="zh-CN" sz="5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</a:t>
            </a:r>
            <a:r>
              <a:rPr lang="en-US" altLang="zh-CN" sz="5400" b="1" dirty="0" err="1"/>
              <a:t>jieba</a:t>
            </a:r>
            <a:r>
              <a:rPr lang="zh-CN" altLang="en-US" sz="5400" b="1" dirty="0"/>
              <a:t>库</a:t>
            </a:r>
            <a:endParaRPr lang="zh-CN" altLang="en-US" sz="54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991301" y="1616765"/>
            <a:ext cx="979596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zh-CN" altLang="en-US" sz="3600" dirty="0"/>
              <a:t>       英文词汇之间有天然的空格分隔，而</a:t>
            </a:r>
            <a:r>
              <a:rPr lang="zh-CN" altLang="en-US" sz="3600" b="1" dirty="0"/>
              <a:t>中文文章中字词之间没有分隔符号</a:t>
            </a:r>
            <a:r>
              <a:rPr lang="zh-CN" altLang="en-US" sz="3600" dirty="0"/>
              <a:t>，且字词长短不一，不同的组合语义差别很大。要进行中文词频分析，首先要解决中文词汇的分割问题。</a:t>
            </a:r>
            <a:endParaRPr lang="en-US" altLang="zh-CN" sz="3600" dirty="0"/>
          </a:p>
          <a:p>
            <a:pPr marL="0" indent="0">
              <a:buNone/>
            </a:pPr>
            <a:r>
              <a:rPr lang="en-US" altLang="zh-CN" sz="3600" dirty="0"/>
              <a:t>      Python</a:t>
            </a:r>
            <a:r>
              <a:rPr lang="zh-CN" altLang="en-US" sz="3600" dirty="0"/>
              <a:t>的第三方库</a:t>
            </a:r>
            <a:r>
              <a:rPr lang="en-US" altLang="zh-CN" sz="3600" b="1" dirty="0" err="1"/>
              <a:t>jieba</a:t>
            </a:r>
            <a:r>
              <a:rPr lang="zh-CN" altLang="en-US" sz="3600" dirty="0"/>
              <a:t>是一个用于中文词汇分割的函数库，运用</a:t>
            </a:r>
            <a:r>
              <a:rPr lang="en-US" altLang="zh-CN" sz="3600" b="1" dirty="0" err="1">
                <a:solidFill>
                  <a:srgbClr val="FF0000"/>
                </a:solidFill>
              </a:rPr>
              <a:t>jieba.lcut</a:t>
            </a:r>
            <a:r>
              <a:rPr lang="en-US" altLang="zh-CN" sz="3600" b="1" dirty="0">
                <a:solidFill>
                  <a:srgbClr val="FF0000"/>
                </a:solidFill>
              </a:rPr>
              <a:t>()</a:t>
            </a:r>
            <a:r>
              <a:rPr lang="zh-CN" altLang="en-US" sz="3600" b="1" dirty="0"/>
              <a:t>方法</a:t>
            </a:r>
            <a:r>
              <a:rPr lang="zh-CN" altLang="en-US" sz="3600" dirty="0"/>
              <a:t>可高效准确地将字符串中的中文词汇实现分割，精确返回词汇</a:t>
            </a:r>
            <a:r>
              <a:rPr lang="zh-CN" altLang="en-US" sz="3600" dirty="0">
                <a:solidFill>
                  <a:srgbClr val="FF0000"/>
                </a:solidFill>
              </a:rPr>
              <a:t>列表</a:t>
            </a:r>
            <a:r>
              <a:rPr lang="zh-CN" altLang="en-US" sz="3600" dirty="0"/>
              <a:t>。</a:t>
            </a:r>
            <a:endParaRPr lang="en-US" altLang="zh-CN" sz="3600" dirty="0"/>
          </a:p>
          <a:p>
            <a:endParaRPr lang="zh-CN" altLang="en-US" sz="36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11125" y="518765"/>
            <a:ext cx="680176" cy="711395"/>
            <a:chOff x="3820548" y="-894825"/>
            <a:chExt cx="1257690" cy="1257690"/>
          </a:xfrm>
        </p:grpSpPr>
        <p:sp>
          <p:nvSpPr>
            <p:cNvPr id="7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8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/>
        </p:nvSpPr>
        <p:spPr>
          <a:xfrm>
            <a:off x="1059453" y="458963"/>
            <a:ext cx="108376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800" b="1" dirty="0" err="1">
                <a:cs typeface="+mn-ea"/>
              </a:rPr>
              <a:t>wordcloud</a:t>
            </a:r>
            <a:r>
              <a:rPr lang="zh-CN" altLang="en-US" sz="4800" b="1" dirty="0">
                <a:cs typeface="+mn-ea"/>
              </a:rPr>
              <a:t>和词频可视化</a:t>
            </a:r>
            <a:endParaRPr lang="zh-CN" altLang="en-US" sz="4800" b="1" dirty="0">
              <a:cs typeface="+mn-ea"/>
            </a:endParaRPr>
          </a:p>
        </p:txBody>
      </p:sp>
      <p:sp>
        <p:nvSpPr>
          <p:cNvPr id="10" name="内容占位符 2"/>
          <p:cNvSpPr txBox="1"/>
          <p:nvPr/>
        </p:nvSpPr>
        <p:spPr>
          <a:xfrm>
            <a:off x="1457738" y="1808583"/>
            <a:ext cx="8947903" cy="28959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zh-CN" altLang="en-US" b="1" dirty="0"/>
              <a:t>词云可视化： </a:t>
            </a:r>
            <a:r>
              <a:rPr lang="en-US" altLang="zh-CN" dirty="0"/>
              <a:t>Python</a:t>
            </a:r>
            <a:r>
              <a:rPr lang="zh-CN" altLang="en-US" dirty="0"/>
              <a:t>的第三方库</a:t>
            </a:r>
            <a:r>
              <a:rPr lang="en-US" altLang="zh-CN" dirty="0" err="1"/>
              <a:t>wordcloud</a:t>
            </a:r>
            <a:r>
              <a:rPr lang="zh-CN" altLang="en-US" dirty="0"/>
              <a:t>是一种能将词语渲染成大小、颜色不一的可视化呈现形式“词云”的函数库。其效果能将枯燥呆板的文字以直观的艺术效果展示出来。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11125" y="518765"/>
            <a:ext cx="680176" cy="711395"/>
            <a:chOff x="3820548" y="-894825"/>
            <a:chExt cx="1257690" cy="1257690"/>
          </a:xfrm>
        </p:grpSpPr>
        <p:sp>
          <p:nvSpPr>
            <p:cNvPr id="7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8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/>
        </p:nvSpPr>
        <p:spPr>
          <a:xfrm>
            <a:off x="1059453" y="458963"/>
            <a:ext cx="108376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800" b="1" dirty="0">
                <a:cs typeface="+mn-ea"/>
              </a:rPr>
              <a:t>词云</a:t>
            </a:r>
            <a:endParaRPr lang="zh-CN" altLang="en-US" sz="4800" b="1" dirty="0">
              <a:cs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727" y="1502502"/>
            <a:ext cx="4869873" cy="45901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984" y="1502502"/>
            <a:ext cx="4973587" cy="45901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>
          <a:xfrm>
            <a:off x="2597425" y="583096"/>
            <a:ext cx="6274560" cy="70597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zh-CN" altLang="en-US" sz="5400" b="1" dirty="0"/>
              <a:t>词云相关库</a:t>
            </a:r>
            <a:endParaRPr lang="en-US" altLang="zh-CN" sz="54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2082248" y="1831220"/>
            <a:ext cx="8259417" cy="23585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450"/>
              </a:spcBef>
              <a:buClr>
                <a:srgbClr val="FF0000"/>
              </a:buClr>
            </a:pPr>
            <a:r>
              <a:rPr lang="en-US" altLang="zh-CN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matplotlib</a:t>
            </a:r>
            <a:r>
              <a:rPr lang="zh-CN" alt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用于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hlinkClick r:id="rId1"/>
              </a:rPr>
              <a:t>绘图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的第三方库</a:t>
            </a:r>
            <a:endParaRPr lang="en-US" altLang="zh-CN"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50"/>
              </a:spcBef>
              <a:buClr>
                <a:srgbClr val="FF0000"/>
              </a:buClr>
            </a:pPr>
            <a:r>
              <a:rPr lang="en-US" altLang="zh-CN" sz="3200" b="1" dirty="0" err="1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wordcloud</a:t>
            </a:r>
            <a:r>
              <a:rPr lang="zh-CN" alt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用于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hlinkClick r:id="rId2"/>
              </a:rPr>
              <a:t>词云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展示的第三方库</a:t>
            </a:r>
            <a:endParaRPr lang="en-US" altLang="zh-CN"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50"/>
              </a:spcBef>
              <a:buClr>
                <a:srgbClr val="FF0000"/>
              </a:buClr>
            </a:pPr>
            <a:r>
              <a:rPr lang="en-US" altLang="zh-CN" sz="3200" b="1" dirty="0" err="1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imageio</a:t>
            </a:r>
            <a:r>
              <a:rPr lang="zh-CN" alt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 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读取和写入各种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hlinkClick r:id="rId3"/>
              </a:rPr>
              <a:t>图像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的第三方库</a:t>
            </a:r>
            <a:endParaRPr lang="en-US" altLang="zh-CN"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11125" y="518765"/>
            <a:ext cx="680176" cy="711395"/>
            <a:chOff x="3820548" y="-894825"/>
            <a:chExt cx="1257690" cy="1257690"/>
          </a:xfrm>
        </p:grpSpPr>
        <p:sp>
          <p:nvSpPr>
            <p:cNvPr id="5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6" name="图形 2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28033" y="428599"/>
            <a:ext cx="6840310" cy="79601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 fontScale="90000"/>
          </a:bodyPr>
          <a:lstStyle/>
          <a:p>
            <a:pPr>
              <a:spcBef>
                <a:spcPct val="50000"/>
              </a:spcBef>
            </a:pPr>
            <a:r>
              <a:rPr lang="zh-CN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使用</a:t>
            </a:r>
            <a:r>
              <a:rPr lang="en-US" altLang="zh-CN" sz="4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wordcloud</a:t>
            </a:r>
            <a:r>
              <a:rPr lang="zh-CN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库生成词云</a:t>
            </a:r>
            <a:endParaRPr lang="zh-CN" altLang="en-US" sz="48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96217" y="518765"/>
            <a:ext cx="680176" cy="711395"/>
            <a:chOff x="3820548" y="-894825"/>
            <a:chExt cx="1257690" cy="1257690"/>
          </a:xfrm>
        </p:grpSpPr>
        <p:sp>
          <p:nvSpPr>
            <p:cNvPr id="5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6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sp>
        <p:nvSpPr>
          <p:cNvPr id="7" name="TextBox 1"/>
          <p:cNvSpPr txBox="1"/>
          <p:nvPr/>
        </p:nvSpPr>
        <p:spPr>
          <a:xfrm>
            <a:off x="976393" y="1224610"/>
            <a:ext cx="10515635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IDLE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32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wordcloud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库的安装</a:t>
            </a:r>
            <a:endParaRPr lang="en-US" altLang="zh-CN" sz="32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打开</a:t>
            </a:r>
            <a:r>
              <a:rPr lang="en-US" altLang="zh-CN" sz="28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窗口通过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pip</a:t>
            </a: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指令安装：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pip install </a:t>
            </a:r>
            <a:r>
              <a:rPr lang="en-US" altLang="zh-CN" sz="28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wordcloud</a:t>
            </a:r>
            <a:endParaRPr lang="en-US" altLang="zh-CN" sz="28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、调用函数：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w=</a:t>
            </a:r>
            <a:r>
              <a:rPr lang="en-US" altLang="zh-CN" sz="32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wordcloud.</a:t>
            </a:r>
            <a:r>
              <a:rPr lang="en-US" altLang="zh-CN" sz="3200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WordCloud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altLang="zh-CN" sz="32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8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WordCloud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函数生成了一个</a:t>
            </a:r>
            <a:r>
              <a:rPr lang="en-US" altLang="zh-CN" sz="28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WordCloud</a:t>
            </a: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对象，之后我们对词云的一系列操作都是建立在这个对象的基础上的。</a:t>
            </a:r>
            <a:endParaRPr lang="en-US" altLang="zh-CN" sz="28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、另外三个函数：</a:t>
            </a:r>
            <a:endParaRPr lang="en-US" altLang="zh-CN" sz="32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32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w.</a:t>
            </a:r>
            <a:r>
              <a:rPr lang="en-US" altLang="zh-CN" sz="3200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generate_from_frequencies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dic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  #</a:t>
            </a:r>
            <a:r>
              <a:rPr lang="zh-CN" altLang="en-US" dirty="0"/>
              <a:t>用于根据给定的</a:t>
            </a:r>
            <a:r>
              <a:rPr lang="zh-CN" altLang="en-US" b="1" dirty="0">
                <a:solidFill>
                  <a:srgbClr val="FF0000"/>
                </a:solidFill>
              </a:rPr>
              <a:t>词频字典</a:t>
            </a:r>
            <a:r>
              <a:rPr lang="zh-CN" altLang="en-US" dirty="0"/>
              <a:t>生成词云图</a:t>
            </a:r>
            <a:endParaRPr lang="en-US" altLang="zh-CN" dirty="0"/>
          </a:p>
          <a:p>
            <a:pPr>
              <a:lnSpc>
                <a:spcPct val="125000"/>
              </a:lnSpc>
            </a:pP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32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w.</a:t>
            </a:r>
            <a:r>
              <a:rPr lang="en-US" altLang="zh-CN" sz="3200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generate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(str)  #</a:t>
            </a:r>
            <a:r>
              <a:rPr lang="zh-CN" altLang="en-US" dirty="0"/>
              <a:t>用于根据给定的</a:t>
            </a:r>
            <a:r>
              <a:rPr lang="zh-CN" altLang="en-US" b="1" dirty="0">
                <a:solidFill>
                  <a:srgbClr val="FF0000"/>
                </a:solidFill>
              </a:rPr>
              <a:t>文本字符串</a:t>
            </a:r>
            <a:r>
              <a:rPr lang="zh-CN" altLang="en-US" dirty="0"/>
              <a:t>生成词云图</a:t>
            </a:r>
            <a:endParaRPr lang="en-US" altLang="zh-CN" dirty="0"/>
          </a:p>
          <a:p>
            <a:pPr>
              <a:lnSpc>
                <a:spcPct val="125000"/>
              </a:lnSpc>
            </a:pP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32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w.</a:t>
            </a:r>
            <a:r>
              <a:rPr lang="en-US" altLang="zh-CN" sz="3200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to_file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(filename)    #</a:t>
            </a:r>
            <a:r>
              <a:rPr lang="zh-CN" altLang="en-US" dirty="0"/>
              <a:t>将生成的词云文件输入到一个文件中，完成词云文件的保存</a:t>
            </a:r>
            <a:endParaRPr lang="en-US" altLang="zh-CN" dirty="0"/>
          </a:p>
        </p:txBody>
      </p:sp>
      <p:sp>
        <p:nvSpPr>
          <p:cNvPr id="3" name="圆角矩形 2"/>
          <p:cNvSpPr/>
          <p:nvPr/>
        </p:nvSpPr>
        <p:spPr>
          <a:xfrm>
            <a:off x="1442720" y="5974080"/>
            <a:ext cx="10170160" cy="72895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6393" y="549504"/>
            <a:ext cx="7112718" cy="79601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50000"/>
              </a:spcBef>
            </a:pPr>
            <a:r>
              <a:rPr lang="en-US" altLang="zh-CN" sz="4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WordCloud</a:t>
            </a:r>
            <a:r>
              <a:rPr lang="en-US" altLang="zh-CN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()</a:t>
            </a:r>
            <a:r>
              <a:rPr lang="zh-CN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函数的参数</a:t>
            </a:r>
            <a:endParaRPr lang="zh-CN" altLang="en-US" sz="48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96217" y="518765"/>
            <a:ext cx="680176" cy="711395"/>
            <a:chOff x="3820548" y="-894825"/>
            <a:chExt cx="1257690" cy="1257690"/>
          </a:xfrm>
        </p:grpSpPr>
        <p:sp>
          <p:nvSpPr>
            <p:cNvPr id="5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6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sp>
        <p:nvSpPr>
          <p:cNvPr id="7" name="TextBox 1"/>
          <p:cNvSpPr txBox="1"/>
          <p:nvPr/>
        </p:nvSpPr>
        <p:spPr>
          <a:xfrm>
            <a:off x="821264" y="1345515"/>
            <a:ext cx="11308552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font_path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：字体路径	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，如</a:t>
            </a:r>
            <a:r>
              <a:rPr lang="en-US" altLang="zh-CN" sz="24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font_path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='</a:t>
            </a:r>
            <a:r>
              <a:rPr lang="en-US" altLang="zh-CN" sz="24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msyh.ttc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endParaRPr lang="en-US" altLang="zh-CN" sz="24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mask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：绘制的词云形状，如果 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mask 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非空，设置的宽高值将被忽略。</a:t>
            </a:r>
            <a:endParaRPr lang="en-US" altLang="zh-CN" sz="24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8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：画布宽度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default=400</a:t>
            </a:r>
            <a:endParaRPr lang="en-US" altLang="zh-CN" sz="24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8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height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：画布高度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default=200</a:t>
            </a:r>
            <a:endParaRPr lang="en-US" altLang="zh-CN" sz="24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800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background_color</a:t>
            </a:r>
            <a:r>
              <a:rPr lang="zh-CN" altLang="en-US" sz="28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：背景颜色，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default="</a:t>
            </a:r>
            <a:r>
              <a:rPr lang="en-US" altLang="zh-CN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black“</a:t>
            </a:r>
            <a:endParaRPr lang="en-US" altLang="zh-CN" sz="2400" dirty="0" smtClean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zh-CN" altLang="en-US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zh-CN" alt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如果背景要设置为透明，则需</a:t>
            </a:r>
            <a:r>
              <a:rPr lang="en-US" altLang="zh-CN" sz="2400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background_color</a:t>
            </a:r>
            <a:r>
              <a:rPr lang="en-US" altLang="zh-CN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=None 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和 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mode='RGBA'</a:t>
            </a:r>
            <a:r>
              <a:rPr lang="zh-CN" altLang="en-US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800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max_words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：词的最大个数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default=200</a:t>
            </a:r>
            <a:endParaRPr lang="en-US" altLang="zh-CN" sz="24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8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scale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：按照比例进行放大画布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default=1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，若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1.5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则长和宽都是原来画布的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1.5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倍</a:t>
            </a:r>
            <a:endParaRPr lang="zh-CN" alt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800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min_font_size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：显示最小字体大小，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default=4</a:t>
            </a:r>
            <a:endParaRPr lang="en-US" altLang="zh-CN" sz="24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800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max_font_size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：显示最大字体大小，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int/</a:t>
            </a:r>
            <a:r>
              <a:rPr lang="en-US" altLang="zh-CN" sz="24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None,default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=None</a:t>
            </a:r>
            <a:endParaRPr lang="en-US" altLang="zh-CN" sz="24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821264" y="4033520"/>
            <a:ext cx="9928016" cy="50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821264" y="4541520"/>
            <a:ext cx="6372016" cy="50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11125" y="518765"/>
            <a:ext cx="680176" cy="711395"/>
            <a:chOff x="3820548" y="-894825"/>
            <a:chExt cx="1257690" cy="1257690"/>
          </a:xfrm>
        </p:grpSpPr>
        <p:sp>
          <p:nvSpPr>
            <p:cNvPr id="7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8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/>
        </p:nvSpPr>
        <p:spPr>
          <a:xfrm>
            <a:off x="1059453" y="458963"/>
            <a:ext cx="108376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800" b="1" dirty="0">
                <a:cs typeface="+mn-ea"/>
              </a:rPr>
              <a:t>学生考勤词云</a:t>
            </a:r>
            <a:endParaRPr lang="zh-CN" altLang="en-US" sz="4800" b="1" dirty="0">
              <a:cs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11125" y="1289960"/>
            <a:ext cx="11767461" cy="435119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b="1" dirty="0"/>
              <a:t>import </a:t>
            </a:r>
            <a:r>
              <a:rPr lang="en-US" altLang="zh-CN" sz="2800" b="1" dirty="0">
                <a:solidFill>
                  <a:srgbClr val="C00000"/>
                </a:solidFill>
              </a:rPr>
              <a:t>matplotlib. </a:t>
            </a:r>
            <a:r>
              <a:rPr lang="en-US" altLang="zh-CN" sz="2800" b="1" dirty="0" err="1">
                <a:solidFill>
                  <a:srgbClr val="C00000"/>
                </a:solidFill>
              </a:rPr>
              <a:t>pyplot</a:t>
            </a:r>
            <a:r>
              <a:rPr lang="en-US" altLang="zh-CN" sz="2800" b="1" dirty="0">
                <a:solidFill>
                  <a:srgbClr val="C00000"/>
                </a:solidFill>
              </a:rPr>
              <a:t> </a:t>
            </a:r>
            <a:r>
              <a:rPr lang="en-US" altLang="zh-CN" sz="2800" b="1" dirty="0"/>
              <a:t>as </a:t>
            </a:r>
            <a:r>
              <a:rPr lang="en-US" altLang="zh-CN" sz="2800" b="1" dirty="0" err="1"/>
              <a:t>plt</a:t>
            </a:r>
            <a:endParaRPr lang="en-US" altLang="zh-CN" sz="2800" b="1" dirty="0"/>
          </a:p>
          <a:p>
            <a:pPr>
              <a:lnSpc>
                <a:spcPct val="125000"/>
              </a:lnSpc>
            </a:pPr>
            <a:r>
              <a:rPr lang="en-US" altLang="zh-CN" sz="2800" b="1" dirty="0"/>
              <a:t>from </a:t>
            </a:r>
            <a:r>
              <a:rPr lang="en-US" altLang="zh-CN" sz="2800" b="1" dirty="0" err="1">
                <a:solidFill>
                  <a:srgbClr val="C00000"/>
                </a:solidFill>
              </a:rPr>
              <a:t>wordcloud</a:t>
            </a:r>
            <a:r>
              <a:rPr lang="en-US" altLang="zh-CN" sz="2800" b="1" dirty="0"/>
              <a:t> import </a:t>
            </a:r>
            <a:r>
              <a:rPr lang="en-US" altLang="zh-CN" sz="2800" b="1" dirty="0" err="1">
                <a:solidFill>
                  <a:srgbClr val="C00000"/>
                </a:solidFill>
              </a:rPr>
              <a:t>WordCloud</a:t>
            </a:r>
            <a:endParaRPr lang="en-US" altLang="zh-CN" sz="2800" b="1" dirty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sz="2800" b="1" dirty="0"/>
              <a:t>from </a:t>
            </a:r>
            <a:r>
              <a:rPr lang="en-US" altLang="zh-CN" sz="2800" b="1" dirty="0" err="1">
                <a:solidFill>
                  <a:srgbClr val="C00000"/>
                </a:solidFill>
              </a:rPr>
              <a:t>imageio</a:t>
            </a:r>
            <a:r>
              <a:rPr lang="en-US" altLang="zh-CN" sz="2800" b="1" dirty="0"/>
              <a:t> import </a:t>
            </a:r>
            <a:r>
              <a:rPr lang="en-US" altLang="zh-CN" sz="2800" b="1" dirty="0" err="1">
                <a:solidFill>
                  <a:srgbClr val="C00000"/>
                </a:solidFill>
              </a:rPr>
              <a:t>imread</a:t>
            </a:r>
            <a:endParaRPr lang="en-US" altLang="zh-CN" sz="2800" b="1" dirty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sz="2800" b="1" dirty="0"/>
              <a:t>pic = </a:t>
            </a:r>
            <a:r>
              <a:rPr lang="en-US" altLang="zh-CN" sz="2800" b="1" dirty="0" err="1"/>
              <a:t>imread</a:t>
            </a:r>
            <a:r>
              <a:rPr lang="en-US" altLang="zh-CN" sz="2800" b="1" dirty="0"/>
              <a:t>('love.png')</a:t>
            </a:r>
            <a:endParaRPr lang="en-US" altLang="zh-CN" sz="2800" b="1" dirty="0"/>
          </a:p>
          <a:p>
            <a:pPr>
              <a:lnSpc>
                <a:spcPct val="125000"/>
              </a:lnSpc>
            </a:pPr>
            <a:r>
              <a:rPr lang="en-US" altLang="zh-CN" sz="2800" b="1" dirty="0"/>
              <a:t>counts={"</a:t>
            </a:r>
            <a:r>
              <a:rPr lang="zh-CN" altLang="en-US" sz="2800" b="1" dirty="0"/>
              <a:t>李鼎文</a:t>
            </a:r>
            <a:r>
              <a:rPr lang="en-US" altLang="zh-CN" sz="2800" b="1" dirty="0"/>
              <a:t>":20,"</a:t>
            </a:r>
            <a:r>
              <a:rPr lang="zh-CN" altLang="en-US" sz="2800" b="1" dirty="0"/>
              <a:t>何润喆</a:t>
            </a:r>
            <a:r>
              <a:rPr lang="en-US" altLang="zh-CN" sz="2800" b="1" dirty="0"/>
              <a:t>":5,"</a:t>
            </a:r>
            <a:r>
              <a:rPr lang="zh-CN" altLang="en-US" sz="2800" b="1" dirty="0"/>
              <a:t>林诗怡</a:t>
            </a:r>
            <a:r>
              <a:rPr lang="en-US" altLang="zh-CN" sz="2800" b="1" dirty="0"/>
              <a:t>":10,"</a:t>
            </a:r>
            <a:r>
              <a:rPr lang="zh-CN" altLang="en-US" sz="2800" b="1" dirty="0"/>
              <a:t>田书翰</a:t>
            </a:r>
            <a:r>
              <a:rPr lang="en-US" altLang="zh-CN" sz="2800" b="1" dirty="0"/>
              <a:t>":18,"</a:t>
            </a:r>
            <a:r>
              <a:rPr lang="zh-CN" altLang="en-US" sz="2800" b="1" dirty="0"/>
              <a:t>袁立豪</a:t>
            </a:r>
            <a:r>
              <a:rPr lang="en-US" altLang="zh-CN" sz="2800" b="1" dirty="0"/>
              <a:t>":15,\</a:t>
            </a:r>
            <a:endParaRPr lang="en-US" altLang="zh-CN" sz="2800" b="1" dirty="0"/>
          </a:p>
          <a:p>
            <a:pPr>
              <a:lnSpc>
                <a:spcPct val="125000"/>
              </a:lnSpc>
            </a:pPr>
            <a:r>
              <a:rPr lang="en-US" altLang="zh-CN" sz="2800" b="1" dirty="0"/>
              <a:t>        "</a:t>
            </a:r>
            <a:r>
              <a:rPr lang="zh-CN" altLang="en-US" sz="2800" b="1" dirty="0"/>
              <a:t>周涛</a:t>
            </a:r>
            <a:r>
              <a:rPr lang="en-US" altLang="zh-CN" sz="2800" b="1" dirty="0"/>
              <a:t>":12,"</a:t>
            </a:r>
            <a:r>
              <a:rPr lang="zh-CN" altLang="en-US" sz="2800" b="1" dirty="0"/>
              <a:t>成飞飞</a:t>
            </a:r>
            <a:r>
              <a:rPr lang="en-US" altLang="zh-CN" sz="2800" b="1" dirty="0"/>
              <a:t>":16,"</a:t>
            </a:r>
            <a:r>
              <a:rPr lang="zh-CN" altLang="en-US" sz="2800" b="1" dirty="0"/>
              <a:t>赵楼</a:t>
            </a:r>
            <a:r>
              <a:rPr lang="en-US" altLang="zh-CN" sz="2800" b="1" dirty="0"/>
              <a:t>":22,"</a:t>
            </a:r>
            <a:r>
              <a:rPr lang="zh-CN" altLang="en-US" sz="2800" b="1" dirty="0"/>
              <a:t>鲁云</a:t>
            </a:r>
            <a:r>
              <a:rPr lang="en-US" altLang="zh-CN" sz="2800" b="1" dirty="0"/>
              <a:t>":	12,"</a:t>
            </a:r>
            <a:r>
              <a:rPr lang="zh-CN" altLang="en-US" sz="2800" b="1" dirty="0"/>
              <a:t>吴少峰</a:t>
            </a:r>
            <a:r>
              <a:rPr lang="en-US" altLang="zh-CN" sz="2800" b="1" dirty="0"/>
              <a:t>":2,\</a:t>
            </a:r>
            <a:endParaRPr lang="en-US" altLang="zh-CN" sz="2800" b="1" dirty="0"/>
          </a:p>
          <a:p>
            <a:pPr>
              <a:lnSpc>
                <a:spcPct val="125000"/>
              </a:lnSpc>
            </a:pPr>
            <a:r>
              <a:rPr lang="en-US" altLang="zh-CN" sz="2800" b="1" dirty="0"/>
              <a:t>        "</a:t>
            </a:r>
            <a:r>
              <a:rPr lang="zh-CN" altLang="en-US" sz="2800" b="1" dirty="0"/>
              <a:t>李文</a:t>
            </a:r>
            <a:r>
              <a:rPr lang="en-US" altLang="zh-CN" sz="2800" b="1" dirty="0"/>
              <a:t>":6,"</a:t>
            </a:r>
            <a:r>
              <a:rPr lang="zh-CN" altLang="en-US" sz="2800" b="1" dirty="0"/>
              <a:t>何喆</a:t>
            </a:r>
            <a:r>
              <a:rPr lang="en-US" altLang="zh-CN" sz="2800" b="1" dirty="0"/>
              <a:t>":11,"</a:t>
            </a:r>
            <a:r>
              <a:rPr lang="zh-CN" altLang="en-US" sz="2800" b="1" dirty="0"/>
              <a:t>林怡</a:t>
            </a:r>
            <a:r>
              <a:rPr lang="en-US" altLang="zh-CN" sz="2800" b="1" dirty="0"/>
              <a:t>":9,"</a:t>
            </a:r>
            <a:r>
              <a:rPr lang="zh-CN" altLang="en-US" sz="2800" b="1" dirty="0"/>
              <a:t>田书</a:t>
            </a:r>
            <a:r>
              <a:rPr lang="en-US" altLang="zh-CN" sz="2800" b="1" dirty="0"/>
              <a:t>":8,"</a:t>
            </a:r>
            <a:r>
              <a:rPr lang="zh-CN" altLang="en-US" sz="2800" b="1" dirty="0"/>
              <a:t>袁豪</a:t>
            </a:r>
            <a:r>
              <a:rPr lang="en-US" altLang="zh-CN" sz="2800" b="1" dirty="0"/>
              <a:t>":15}</a:t>
            </a:r>
            <a:endParaRPr lang="en-US" altLang="zh-CN" sz="2800" b="1" dirty="0"/>
          </a:p>
          <a:p>
            <a:pPr>
              <a:lnSpc>
                <a:spcPct val="125000"/>
              </a:lnSpc>
            </a:pPr>
            <a:r>
              <a:rPr lang="en-US" altLang="zh-CN" sz="2800" b="1" dirty="0"/>
              <a:t>#</a:t>
            </a:r>
            <a:r>
              <a:rPr lang="zh-CN" altLang="en-US" sz="2800" b="1" dirty="0"/>
              <a:t>创建一个字典</a:t>
            </a:r>
            <a:endParaRPr lang="zh-CN" altLang="en-US" sz="2800" b="1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3"/>
          <a:srcRect l="18910" t="15572" r="16207" b="16465"/>
          <a:stretch>
            <a:fillRect/>
          </a:stretch>
        </p:blipFill>
        <p:spPr>
          <a:xfrm>
            <a:off x="9017337" y="223283"/>
            <a:ext cx="3061249" cy="311324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uiExpand="1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55562" y="160124"/>
            <a:ext cx="11880875" cy="653775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 err="1"/>
              <a:t>wc</a:t>
            </a:r>
            <a:r>
              <a:rPr lang="en-US" altLang="zh-CN" sz="3200" b="1" dirty="0"/>
              <a:t>=</a:t>
            </a:r>
            <a:r>
              <a:rPr lang="en-US" altLang="zh-CN" sz="3200" b="1" dirty="0" err="1">
                <a:solidFill>
                  <a:srgbClr val="C00000"/>
                </a:solidFill>
              </a:rPr>
              <a:t>WordCloud</a:t>
            </a:r>
            <a:r>
              <a:rPr lang="en-US" altLang="zh-CN" sz="3200" b="1" dirty="0"/>
              <a:t>(</a:t>
            </a:r>
            <a:r>
              <a:rPr lang="en-US" altLang="zh-CN" sz="3200" b="1" dirty="0">
                <a:solidFill>
                  <a:srgbClr val="0070C0"/>
                </a:solidFill>
              </a:rPr>
              <a:t>mask</a:t>
            </a:r>
            <a:r>
              <a:rPr lang="en-US" altLang="zh-CN" sz="3200" b="1" dirty="0"/>
              <a:t>=</a:t>
            </a:r>
            <a:r>
              <a:rPr lang="en-US" altLang="zh-CN" sz="3200" b="1" dirty="0">
                <a:solidFill>
                  <a:srgbClr val="0070C0"/>
                </a:solidFill>
              </a:rPr>
              <a:t>pic</a:t>
            </a:r>
            <a:r>
              <a:rPr lang="en-US" altLang="zh-CN" sz="3200" b="1" dirty="0"/>
              <a:t>, </a:t>
            </a:r>
            <a:endParaRPr lang="en-US" altLang="zh-CN" sz="3200" b="1" dirty="0"/>
          </a:p>
          <a:p>
            <a:pPr>
              <a:lnSpc>
                <a:spcPct val="120000"/>
              </a:lnSpc>
            </a:pPr>
            <a:r>
              <a:rPr lang="en-US" altLang="zh-CN" sz="3200" b="1" dirty="0"/>
              <a:t>            </a:t>
            </a:r>
            <a:r>
              <a:rPr lang="en-US" altLang="zh-CN" sz="3200" b="1" dirty="0" err="1"/>
              <a:t>font_path</a:t>
            </a:r>
            <a:r>
              <a:rPr lang="en-US" altLang="zh-CN" sz="3200" b="1" dirty="0"/>
              <a:t>='</a:t>
            </a:r>
            <a:r>
              <a:rPr lang="en-US" altLang="zh-CN" sz="3200" b="1" dirty="0" err="1"/>
              <a:t>msyh.ttc</a:t>
            </a:r>
            <a:r>
              <a:rPr lang="en-US" altLang="zh-CN" sz="3200" b="1" dirty="0"/>
              <a:t>',                 #</a:t>
            </a:r>
            <a:r>
              <a:rPr lang="zh-CN" altLang="en-US" sz="3200" b="1" dirty="0"/>
              <a:t>中文字体为微软雅黑</a:t>
            </a:r>
            <a:endParaRPr lang="zh-CN" altLang="en-US" sz="3200" b="1" dirty="0"/>
          </a:p>
          <a:p>
            <a:pPr>
              <a:lnSpc>
                <a:spcPct val="120000"/>
              </a:lnSpc>
            </a:pPr>
            <a:r>
              <a:rPr lang="zh-CN" altLang="en-US" sz="3200" b="1" dirty="0"/>
              <a:t>             </a:t>
            </a:r>
            <a:r>
              <a:rPr lang="en-US" altLang="zh-CN" sz="3200" b="1" dirty="0" err="1"/>
              <a:t>background_color</a:t>
            </a:r>
            <a:r>
              <a:rPr lang="en-US" altLang="zh-CN" sz="3200" b="1" dirty="0"/>
              <a:t>='white',       #</a:t>
            </a:r>
            <a:r>
              <a:rPr lang="zh-CN" altLang="en-US" sz="3200" b="1" dirty="0"/>
              <a:t>设置背景颜色</a:t>
            </a:r>
            <a:endParaRPr lang="zh-CN" altLang="en-US" sz="3200" b="1" dirty="0"/>
          </a:p>
          <a:p>
            <a:pPr>
              <a:lnSpc>
                <a:spcPct val="120000"/>
              </a:lnSpc>
            </a:pPr>
            <a:r>
              <a:rPr lang="zh-CN" altLang="en-US" sz="3200" b="1" dirty="0"/>
              <a:t>             </a:t>
            </a:r>
            <a:r>
              <a:rPr lang="en-US" altLang="zh-CN" sz="3200" b="1" dirty="0" err="1"/>
              <a:t>max_words</a:t>
            </a:r>
            <a:r>
              <a:rPr lang="en-US" altLang="zh-CN" sz="3200" b="1" dirty="0"/>
              <a:t>=15,                         #</a:t>
            </a:r>
            <a:r>
              <a:rPr lang="zh-CN" altLang="en-US" sz="3200" b="1" dirty="0"/>
              <a:t>设置最大词数</a:t>
            </a:r>
            <a:endParaRPr lang="zh-CN" altLang="en-US" sz="3200" b="1" dirty="0"/>
          </a:p>
          <a:p>
            <a:pPr>
              <a:lnSpc>
                <a:spcPct val="120000"/>
              </a:lnSpc>
            </a:pPr>
            <a:r>
              <a:rPr lang="zh-CN" altLang="en-US" sz="3200" b="1" dirty="0"/>
              <a:t>             </a:t>
            </a:r>
            <a:r>
              <a:rPr lang="en-US" altLang="zh-CN" sz="3200" b="1" dirty="0" err="1"/>
              <a:t>max_font_size</a:t>
            </a:r>
            <a:r>
              <a:rPr lang="en-US" altLang="zh-CN" sz="3200" b="1" dirty="0"/>
              <a:t>=1000,     </a:t>
            </a:r>
            <a:endParaRPr lang="en-US" altLang="zh-CN" sz="3200" b="1" dirty="0"/>
          </a:p>
          <a:p>
            <a:pPr>
              <a:lnSpc>
                <a:spcPct val="120000"/>
              </a:lnSpc>
            </a:pPr>
            <a:r>
              <a:rPr lang="en-US" altLang="zh-CN" sz="3200" b="1" dirty="0"/>
              <a:t>             </a:t>
            </a:r>
            <a:r>
              <a:rPr lang="en-US" altLang="zh-CN" sz="3200" b="1" dirty="0" err="1"/>
              <a:t>min_font_size</a:t>
            </a:r>
            <a:r>
              <a:rPr lang="en-US" altLang="zh-CN" sz="3200" b="1" dirty="0"/>
              <a:t>=10,</a:t>
            </a:r>
            <a:endParaRPr lang="en-US" altLang="zh-CN" sz="3200" b="1" dirty="0"/>
          </a:p>
          <a:p>
            <a:pPr>
              <a:lnSpc>
                <a:spcPct val="120000"/>
              </a:lnSpc>
            </a:pPr>
            <a:r>
              <a:rPr lang="en-US" altLang="zh-CN" sz="3200" b="1" dirty="0"/>
              <a:t>             scale=1)                                     #</a:t>
            </a:r>
            <a:r>
              <a:rPr lang="zh-CN" altLang="en-US" sz="3200" b="1" dirty="0"/>
              <a:t>按照比例进行放大画布</a:t>
            </a:r>
            <a:endParaRPr lang="zh-CN" altLang="en-US" sz="3200" b="1" dirty="0"/>
          </a:p>
          <a:p>
            <a:pPr>
              <a:lnSpc>
                <a:spcPct val="120000"/>
              </a:lnSpc>
            </a:pPr>
            <a:r>
              <a:rPr lang="en-US" altLang="zh-CN" sz="3200" b="1" dirty="0" err="1"/>
              <a:t>wc.</a:t>
            </a:r>
            <a:r>
              <a:rPr lang="en-US" altLang="zh-CN" sz="3200" b="1" dirty="0" err="1">
                <a:solidFill>
                  <a:srgbClr val="C00000"/>
                </a:solidFill>
              </a:rPr>
              <a:t>generate_from_frequencies</a:t>
            </a:r>
            <a:r>
              <a:rPr lang="en-US" altLang="zh-CN" sz="3200" b="1" dirty="0"/>
              <a:t>(</a:t>
            </a:r>
            <a:r>
              <a:rPr lang="en-US" altLang="zh-CN" sz="3200" b="1" dirty="0">
                <a:solidFill>
                  <a:srgbClr val="0070C0"/>
                </a:solidFill>
              </a:rPr>
              <a:t>counts</a:t>
            </a:r>
            <a:r>
              <a:rPr lang="en-US" altLang="zh-CN" sz="3200" b="1" dirty="0"/>
              <a:t>)</a:t>
            </a:r>
            <a:endParaRPr lang="en-US" altLang="zh-CN" sz="3200" b="1" dirty="0"/>
          </a:p>
          <a:p>
            <a:pPr>
              <a:lnSpc>
                <a:spcPct val="120000"/>
              </a:lnSpc>
            </a:pPr>
            <a:r>
              <a:rPr lang="en-US" altLang="zh-CN" sz="3200" b="1" dirty="0" err="1"/>
              <a:t>wc.</a:t>
            </a:r>
            <a:r>
              <a:rPr lang="en-US" altLang="zh-CN" sz="3200" b="1" dirty="0" err="1">
                <a:solidFill>
                  <a:srgbClr val="C00000"/>
                </a:solidFill>
              </a:rPr>
              <a:t>to_file</a:t>
            </a:r>
            <a:r>
              <a:rPr lang="en-US" altLang="zh-CN" sz="3200" b="1" dirty="0"/>
              <a:t>('resulte.png')</a:t>
            </a:r>
            <a:endParaRPr lang="en-US" altLang="zh-CN" sz="3200" b="1" dirty="0"/>
          </a:p>
          <a:p>
            <a:pPr>
              <a:lnSpc>
                <a:spcPct val="120000"/>
              </a:lnSpc>
            </a:pPr>
            <a:r>
              <a:rPr lang="en-US" altLang="zh-CN" sz="3200" b="1" dirty="0" err="1"/>
              <a:t>plt.</a:t>
            </a:r>
            <a:r>
              <a:rPr lang="en-US" altLang="zh-CN" sz="3200" b="1" dirty="0" err="1">
                <a:solidFill>
                  <a:srgbClr val="C00000"/>
                </a:solidFill>
              </a:rPr>
              <a:t>imshow</a:t>
            </a:r>
            <a:r>
              <a:rPr lang="en-US" altLang="zh-CN" sz="3200" b="1" dirty="0"/>
              <a:t>(</a:t>
            </a:r>
            <a:r>
              <a:rPr lang="en-US" altLang="zh-CN" sz="3200" b="1" dirty="0" err="1"/>
              <a:t>wc</a:t>
            </a:r>
            <a:r>
              <a:rPr lang="en-US" altLang="zh-CN" sz="3200" b="1" dirty="0"/>
              <a:t>)                              #</a:t>
            </a:r>
            <a:r>
              <a:rPr lang="zh-CN" altLang="en-US" sz="3200" b="1" dirty="0"/>
              <a:t>对图像进行处理</a:t>
            </a:r>
            <a:r>
              <a:rPr lang="en-US" altLang="zh-CN" sz="3200" b="1" dirty="0"/>
              <a:t>,</a:t>
            </a:r>
            <a:r>
              <a:rPr lang="zh-CN" altLang="en-US" sz="3200" b="1" dirty="0"/>
              <a:t>但不能显示</a:t>
            </a:r>
            <a:endParaRPr lang="zh-CN" altLang="en-US" sz="3200" b="1" dirty="0"/>
          </a:p>
          <a:p>
            <a:pPr>
              <a:lnSpc>
                <a:spcPct val="120000"/>
              </a:lnSpc>
            </a:pPr>
            <a:r>
              <a:rPr lang="en-US" altLang="zh-CN" sz="3200" b="1" dirty="0" err="1"/>
              <a:t>plt.</a:t>
            </a:r>
            <a:r>
              <a:rPr lang="en-US" altLang="zh-CN" sz="3200" b="1" dirty="0" err="1">
                <a:solidFill>
                  <a:srgbClr val="C00000"/>
                </a:solidFill>
              </a:rPr>
              <a:t>show</a:t>
            </a:r>
            <a:r>
              <a:rPr lang="en-US" altLang="zh-CN" sz="3200" b="1" dirty="0"/>
              <a:t>()</a:t>
            </a:r>
            <a:endParaRPr lang="en-US" altLang="zh-CN" sz="32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296" y="1540566"/>
            <a:ext cx="6601239" cy="405875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6" name="组合 5"/>
          <p:cNvGrpSpPr/>
          <p:nvPr/>
        </p:nvGrpSpPr>
        <p:grpSpPr>
          <a:xfrm>
            <a:off x="311125" y="518765"/>
            <a:ext cx="680176" cy="711395"/>
            <a:chOff x="3820548" y="-894825"/>
            <a:chExt cx="1257690" cy="1257690"/>
          </a:xfrm>
        </p:grpSpPr>
        <p:sp>
          <p:nvSpPr>
            <p:cNvPr id="7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pic>
          <p:nvPicPr>
            <p:cNvPr id="9" name="图形 2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sp>
        <p:nvSpPr>
          <p:cNvPr id="10" name="矩形 9"/>
          <p:cNvSpPr/>
          <p:nvPr/>
        </p:nvSpPr>
        <p:spPr>
          <a:xfrm>
            <a:off x="1075402" y="465027"/>
            <a:ext cx="548939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ea"/>
              </a:rPr>
              <a:t>Matplotlib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ea"/>
              </a:rPr>
              <a:t>官网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/>
              <a:ea typeface="微软雅黑" panose="020B0503020204020204" charset="-122"/>
              <a:cs typeface="+mn-ea"/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2771246" y="5714652"/>
            <a:ext cx="694933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库导入：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import </a:t>
            </a:r>
            <a:r>
              <a:rPr kumimoji="0" lang="en-US" altLang="zh-CN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matplotlib.pyplot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as </a:t>
            </a:r>
            <a:r>
              <a:rPr kumimoji="0" lang="en-US" altLang="zh-CN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plt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96217" y="518765"/>
            <a:ext cx="680176" cy="711395"/>
            <a:chOff x="3820548" y="-894825"/>
            <a:chExt cx="1257690" cy="1257690"/>
          </a:xfrm>
        </p:grpSpPr>
        <p:sp>
          <p:nvSpPr>
            <p:cNvPr id="7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8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sp>
        <p:nvSpPr>
          <p:cNvPr id="12" name="矩形 11"/>
          <p:cNvSpPr/>
          <p:nvPr/>
        </p:nvSpPr>
        <p:spPr>
          <a:xfrm>
            <a:off x="1061730" y="437911"/>
            <a:ext cx="984690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200" b="1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Matplotlib</a:t>
            </a:r>
            <a:r>
              <a:rPr lang="zh-CN" altLang="en-US" sz="42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常用函数</a:t>
            </a:r>
            <a:endParaRPr lang="en-US" altLang="zh-CN" sz="42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2350441" y="1331742"/>
          <a:ext cx="7391400" cy="51507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14600"/>
                <a:gridCol w="4876800"/>
              </a:tblGrid>
              <a:tr h="27427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chemeClr val="bg1"/>
                          </a:solidFill>
                        </a:rPr>
                        <a:t>函数名称</a:t>
                      </a:r>
                      <a:endParaRPr lang="zh-CN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marT="45700" marB="45700">
                    <a:solidFill>
                      <a:srgbClr val="6193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chemeClr val="bg1"/>
                          </a:solidFill>
                        </a:rPr>
                        <a:t>函数作用</a:t>
                      </a:r>
                      <a:endParaRPr lang="zh-CN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marT="45700" marB="45700">
                    <a:solidFill>
                      <a:srgbClr val="6193D4"/>
                    </a:solidFill>
                  </a:tcPr>
                </a:tc>
              </a:tr>
              <a:tr h="57907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altLang="en-US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zh-CN" sz="2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00" marB="45700"/>
                </a:tc>
              </a:tr>
              <a:tr h="57907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3200" b="0" kern="12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42" marR="51442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42" marR="51442" marT="0" marB="0" anchor="ctr"/>
                </a:tc>
              </a:tr>
              <a:tr h="57907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3200" b="0" kern="12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42" marR="51442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42" marR="51442" marT="0" marB="0" anchor="ctr"/>
                </a:tc>
              </a:tr>
              <a:tr h="57907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42" marR="51442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42" marR="51442" marT="0" marB="0" anchor="ctr"/>
                </a:tc>
              </a:tr>
              <a:tr h="57907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42" marR="51442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42" marR="51442" marT="0" marB="0" anchor="ctr"/>
                </a:tc>
              </a:tr>
              <a:tr h="57907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42" marR="51442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42" marR="51442" marT="0" marB="0" anchor="ctr"/>
                </a:tc>
              </a:tr>
              <a:tr h="57907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42" marR="51442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42" marR="51442" marT="0" marB="0" anchor="ctr"/>
                </a:tc>
              </a:tr>
              <a:tr h="57907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42" marR="51442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42" marR="51442" marT="0" marB="0" anchor="ctr"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356017" y="1853761"/>
          <a:ext cx="7391400" cy="579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14600"/>
                <a:gridCol w="4876800"/>
              </a:tblGrid>
              <a:tr h="5790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200" b="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  <a:sym typeface="+mn-ea"/>
                        </a:rPr>
                        <a:t>  figure()</a:t>
                      </a:r>
                      <a:endParaRPr lang="zh-CN" altLang="en-US" sz="3200" b="0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3200" b="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  <a:sym typeface="+mn-ea"/>
                        </a:rPr>
                        <a:t>  创建一个新的图形对象</a:t>
                      </a:r>
                      <a:endParaRPr lang="zh-CN" altLang="zh-CN" sz="3200" b="0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00" marB="45700"/>
                </a:tc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2356017" y="3592563"/>
          <a:ext cx="7391400" cy="5790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14600"/>
                <a:gridCol w="4876800"/>
              </a:tblGrid>
              <a:tr h="57907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3200" b="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   plot()</a:t>
                      </a:r>
                      <a:endParaRPr lang="zh-CN" sz="3200" b="0" kern="12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42" marR="51442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3200" b="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   绘图折线图</a:t>
                      </a:r>
                      <a:endParaRPr lang="en-US" altLang="zh-CN" sz="3200" b="0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42" marR="51442" marT="0" marB="0" anchor="ctr"/>
                </a:tc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2350441" y="3013488"/>
          <a:ext cx="7391400" cy="5790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14600"/>
                <a:gridCol w="4876800"/>
              </a:tblGrid>
              <a:tr h="57907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3200" b="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   show()</a:t>
                      </a:r>
                      <a:endParaRPr lang="zh-CN" sz="3200" b="0" kern="12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42" marR="51442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200" b="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zh-CN" altLang="zh-CN" sz="3200" b="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在本机显示图形</a:t>
                      </a:r>
                      <a:endParaRPr lang="en-US" altLang="zh-CN" sz="3200" b="0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42" marR="51442" marT="0" marB="0" anchor="ctr"/>
                </a:tc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2356017" y="2419813"/>
          <a:ext cx="7391400" cy="5790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14600"/>
                <a:gridCol w="4876800"/>
              </a:tblGrid>
              <a:tr h="5790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200" b="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  <a:sym typeface="+mn-ea"/>
                        </a:rPr>
                        <a:t>   bar()</a:t>
                      </a:r>
                      <a:endParaRPr lang="zh-CN" sz="3200" b="0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42" marR="51442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3200" b="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  <a:sym typeface="+mn-ea"/>
                        </a:rPr>
                        <a:t>   绘制垂直条形</a:t>
                      </a:r>
                      <a:r>
                        <a:rPr lang="en-US" altLang="zh-CN" sz="3200" b="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  <a:sym typeface="+mn-ea"/>
                        </a:rPr>
                        <a:t>/</a:t>
                      </a:r>
                      <a:r>
                        <a:rPr lang="zh-CN" altLang="en-US" sz="3200" b="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  <a:sym typeface="+mn-ea"/>
                        </a:rPr>
                        <a:t>柱形图</a:t>
                      </a:r>
                      <a:endParaRPr lang="en-US" altLang="zh-CN" sz="3200" b="0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42" marR="51442" marT="0" marB="0" anchor="ctr"/>
                </a:tc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2350441" y="4166166"/>
          <a:ext cx="7391400" cy="5790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14600"/>
                <a:gridCol w="4876800"/>
              </a:tblGrid>
              <a:tr h="57907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3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pie()</a:t>
                      </a:r>
                      <a:endParaRPr lang="zh-CN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42" marR="51442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3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绘制饼图</a:t>
                      </a:r>
                      <a:endParaRPr lang="en-US" altLang="zh-CN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42" marR="51442" marT="0" marB="0" anchor="ctr"/>
                </a:tc>
              </a:tr>
            </a:tbl>
          </a:graphicData>
        </a:graphic>
      </p:graphicFrame>
      <p:graphicFrame>
        <p:nvGraphicFramePr>
          <p:cNvPr id="22" name="表格 21"/>
          <p:cNvGraphicFramePr>
            <a:graphicFrameLocks noGrp="1"/>
          </p:cNvGraphicFramePr>
          <p:nvPr/>
        </p:nvGraphicFramePr>
        <p:xfrm>
          <a:off x="2350441" y="4743291"/>
          <a:ext cx="7391400" cy="5790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14600"/>
                <a:gridCol w="4876800"/>
              </a:tblGrid>
              <a:tr h="57907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3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scatter()</a:t>
                      </a:r>
                      <a:endParaRPr lang="zh-CN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42" marR="51442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3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绘制散点图</a:t>
                      </a:r>
                      <a:endParaRPr lang="en-US" altLang="zh-CN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42" marR="51442" marT="0" marB="0" anchor="ctr"/>
                </a:tc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/>
        </p:nvGraphicFramePr>
        <p:xfrm>
          <a:off x="2350441" y="5331438"/>
          <a:ext cx="7391400" cy="5790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14600"/>
                <a:gridCol w="4876800"/>
              </a:tblGrid>
              <a:tr h="57907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3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zh-CN" sz="32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hist</a:t>
                      </a:r>
                      <a:r>
                        <a:rPr lang="en-US" altLang="zh-CN" sz="3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zh-CN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42" marR="51442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3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绘制直方图</a:t>
                      </a:r>
                      <a:endParaRPr lang="en-US" altLang="zh-CN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42" marR="51442" marT="0" marB="0" anchor="ctr"/>
                </a:tc>
              </a:tr>
            </a:tbl>
          </a:graphicData>
        </a:graphic>
      </p:graphicFrame>
      <p:graphicFrame>
        <p:nvGraphicFramePr>
          <p:cNvPr id="24" name="表格 23"/>
          <p:cNvGraphicFramePr>
            <a:graphicFrameLocks noGrp="1"/>
          </p:cNvGraphicFramePr>
          <p:nvPr/>
        </p:nvGraphicFramePr>
        <p:xfrm>
          <a:off x="2350441" y="5893327"/>
          <a:ext cx="7391400" cy="5790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14600"/>
                <a:gridCol w="4876800"/>
              </a:tblGrid>
              <a:tr h="57907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3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subplot() </a:t>
                      </a:r>
                      <a:endParaRPr lang="zh-CN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42" marR="51442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3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绘制子图</a:t>
                      </a:r>
                      <a:endParaRPr lang="en-US" altLang="zh-CN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42" marR="51442" marT="0" marB="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灯片编号占位符 5"/>
          <p:cNvSpPr txBox="1">
            <a:spLocks noGrp="1" noChangeArrowheads="1"/>
          </p:cNvSpPr>
          <p:nvPr/>
        </p:nvSpPr>
        <p:spPr bwMode="auto">
          <a:xfrm>
            <a:off x="807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A0A12603-74EE-4C31-BAF7-9F6B560E49D6}" type="slidenum">
              <a:rPr lang="en-US" altLang="zh-CN" sz="1200">
                <a:latin typeface="Garamond" panose="02020404030301010803" pitchFamily="18" charset="0"/>
              </a:rPr>
            </a:fld>
            <a:endParaRPr lang="en-US" altLang="zh-CN" sz="1200">
              <a:latin typeface="Garamond" panose="02020404030301010803" pitchFamily="18" charset="0"/>
            </a:endParaRPr>
          </a:p>
        </p:txBody>
      </p:sp>
      <p:sp>
        <p:nvSpPr>
          <p:cNvPr id="58373" name="Rectangle 3"/>
          <p:cNvSpPr>
            <a:spLocks noChangeArrowheads="1"/>
          </p:cNvSpPr>
          <p:nvPr/>
        </p:nvSpPr>
        <p:spPr bwMode="auto">
          <a:xfrm>
            <a:off x="1524001" y="43397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zh-CN"/>
          </a:p>
        </p:txBody>
      </p:sp>
      <p:sp>
        <p:nvSpPr>
          <p:cNvPr id="58374" name="Rectangle 4"/>
          <p:cNvSpPr>
            <a:spLocks noChangeArrowheads="1"/>
          </p:cNvSpPr>
          <p:nvPr/>
        </p:nvSpPr>
        <p:spPr bwMode="auto">
          <a:xfrm>
            <a:off x="1524001" y="11726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zh-CN"/>
          </a:p>
        </p:txBody>
      </p:sp>
      <p:sp>
        <p:nvSpPr>
          <p:cNvPr id="58375" name="Rectangle 5"/>
          <p:cNvSpPr>
            <a:spLocks noChangeArrowheads="1"/>
          </p:cNvSpPr>
          <p:nvPr/>
        </p:nvSpPr>
        <p:spPr bwMode="auto">
          <a:xfrm>
            <a:off x="1524001" y="37253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zh-CN"/>
          </a:p>
        </p:txBody>
      </p:sp>
      <p:sp>
        <p:nvSpPr>
          <p:cNvPr id="58376" name="Rectangle 3"/>
          <p:cNvSpPr>
            <a:spLocks noChangeArrowheads="1"/>
          </p:cNvSpPr>
          <p:nvPr/>
        </p:nvSpPr>
        <p:spPr bwMode="auto">
          <a:xfrm>
            <a:off x="1524001" y="15774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zh-CN"/>
          </a:p>
        </p:txBody>
      </p:sp>
      <p:sp>
        <p:nvSpPr>
          <p:cNvPr id="3" name="矩形 2"/>
          <p:cNvSpPr/>
          <p:nvPr/>
        </p:nvSpPr>
        <p:spPr>
          <a:xfrm>
            <a:off x="1115837" y="1794049"/>
            <a:ext cx="10532326" cy="34317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/>
            </a:pPr>
            <a:r>
              <a:rPr lang="en-US" altLang="zh-CN" sz="3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plt.plot</a:t>
            </a:r>
            <a:r>
              <a:rPr lang="en-US" altLang="zh-C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(x, y, s):</a:t>
            </a:r>
            <a:endParaRPr lang="en-US" altLang="zh-CN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defRPr/>
            </a:pPr>
            <a:r>
              <a:rPr lang="zh-CN" alt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坐标</a:t>
            </a: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altLang="zh-CN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坐标</a:t>
            </a: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altLang="zh-C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s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指定线条颜色（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'r'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‘y'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'g'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、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b'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等）、线条样式（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'-'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'--'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等）和数据点形状（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 o '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 s '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）的字符串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96217" y="518765"/>
            <a:ext cx="680176" cy="711395"/>
            <a:chOff x="3820548" y="-894825"/>
            <a:chExt cx="1257690" cy="1257690"/>
          </a:xfrm>
        </p:grpSpPr>
        <p:sp>
          <p:nvSpPr>
            <p:cNvPr id="11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12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sp>
        <p:nvSpPr>
          <p:cNvPr id="14" name="矩形 13"/>
          <p:cNvSpPr/>
          <p:nvPr/>
        </p:nvSpPr>
        <p:spPr>
          <a:xfrm>
            <a:off x="1061730" y="474674"/>
            <a:ext cx="984690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800" b="1" dirty="0" err="1">
                <a:solidFill>
                  <a:prstClr val="black"/>
                </a:solidFill>
                <a:latin typeface="Segoe UI" panose="020B0502040204020203"/>
                <a:ea typeface="微软雅黑" panose="020B0503020204020204" charset="-122"/>
                <a:cs typeface="+mn-ea"/>
              </a:rPr>
              <a:t>Matplotlib</a:t>
            </a:r>
            <a:r>
              <a:rPr lang="zh-CN" altLang="en-US" sz="4800" b="1" dirty="0">
                <a:solidFill>
                  <a:prstClr val="black"/>
                </a:solidFill>
                <a:latin typeface="Segoe UI" panose="020B0502040204020203"/>
                <a:ea typeface="微软雅黑" panose="020B0503020204020204" charset="-122"/>
                <a:cs typeface="+mn-ea"/>
              </a:rPr>
              <a:t>折线图函数</a:t>
            </a:r>
            <a:endParaRPr lang="zh-CN" altLang="en-US" sz="4800" b="1" dirty="0">
              <a:solidFill>
                <a:prstClr val="black"/>
              </a:solidFill>
              <a:latin typeface="Segoe UI" panose="020B0502040204020203"/>
              <a:ea typeface="微软雅黑" panose="020B0503020204020204" charset="-122"/>
              <a:cs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2"/>
          <p:cNvSpPr txBox="1"/>
          <p:nvPr/>
        </p:nvSpPr>
        <p:spPr>
          <a:xfrm>
            <a:off x="1651819" y="4630994"/>
            <a:ext cx="8229600" cy="10471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  <a:p>
            <a:pPr lvl="1"/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</p:txBody>
      </p:sp>
      <p:sp>
        <p:nvSpPr>
          <p:cNvPr id="13" name="内容占位符 2"/>
          <p:cNvSpPr txBox="1"/>
          <p:nvPr/>
        </p:nvSpPr>
        <p:spPr>
          <a:xfrm>
            <a:off x="821264" y="1522896"/>
            <a:ext cx="10820400" cy="454336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accent1"/>
              </a:buClr>
              <a:buNone/>
            </a:pPr>
            <a:r>
              <a:rPr lang="zh-CN" altLang="en-US" dirty="0"/>
              <a:t>功能强大的科学计算库</a:t>
            </a:r>
            <a:r>
              <a:rPr lang="en-US" altLang="zh-CN" dirty="0"/>
              <a:t>,</a:t>
            </a:r>
            <a:r>
              <a:rPr lang="zh-CN" altLang="en-US" dirty="0"/>
              <a:t> 提供大量的数学函数库。</a:t>
            </a:r>
            <a:endParaRPr lang="zh-CN" altLang="en-US" dirty="0"/>
          </a:p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p"/>
            </a:pPr>
            <a:r>
              <a:rPr lang="zh-CN" altLang="en-US" sz="2800" dirty="0"/>
              <a:t>函数</a:t>
            </a:r>
            <a:r>
              <a:rPr lang="en-US" altLang="zh-CN" sz="2800" dirty="0" err="1">
                <a:solidFill>
                  <a:srgbClr val="FF0000"/>
                </a:solidFill>
              </a:rPr>
              <a:t>arange</a:t>
            </a:r>
            <a:r>
              <a:rPr lang="en-US" altLang="zh-CN" sz="2800" dirty="0"/>
              <a:t> (start, stop, step )</a:t>
            </a:r>
            <a:endParaRPr lang="en-US" altLang="zh-CN" sz="2800" dirty="0"/>
          </a:p>
          <a:p>
            <a:pPr marL="457200" lvl="1" indent="0" defTabSz="987425">
              <a:buNone/>
            </a:pPr>
            <a:r>
              <a:rPr lang="en-US" altLang="zh-CN" sz="2800" dirty="0">
                <a:latin typeface="+mn-ea"/>
                <a:cs typeface="Arial" panose="020B0604020202020204" pitchFamily="34" charset="0"/>
              </a:rPr>
              <a:t>      </a:t>
            </a:r>
            <a:r>
              <a:rPr lang="en-US" altLang="zh-CN" sz="2800" dirty="0" err="1">
                <a:latin typeface="+mn-ea"/>
                <a:cs typeface="Arial" panose="020B0604020202020204" pitchFamily="34" charset="0"/>
              </a:rPr>
              <a:t>np.arange</a:t>
            </a:r>
            <a:r>
              <a:rPr lang="en-US" altLang="zh-CN" sz="2800" dirty="0">
                <a:latin typeface="+mn-ea"/>
                <a:cs typeface="Arial" panose="020B0604020202020204" pitchFamily="34" charset="0"/>
              </a:rPr>
              <a:t>(3,7,0.5)          #[3. 3.5 4. 4.5 5. 5.5 6. 6.5]</a:t>
            </a:r>
            <a:endParaRPr lang="en-US" altLang="zh-CN" sz="2800" dirty="0">
              <a:latin typeface="+mn-ea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p"/>
            </a:pPr>
            <a:r>
              <a:rPr lang="zh-CN" altLang="en-US" sz="2800" dirty="0"/>
              <a:t>函数</a:t>
            </a:r>
            <a:r>
              <a:rPr lang="en-US" altLang="zh-CN" sz="2800" dirty="0" err="1">
                <a:solidFill>
                  <a:srgbClr val="FF0000"/>
                </a:solidFill>
              </a:rPr>
              <a:t>linspace</a:t>
            </a:r>
            <a:r>
              <a:rPr lang="en-US" altLang="zh-CN" sz="2800" dirty="0"/>
              <a:t> (</a:t>
            </a:r>
            <a:r>
              <a:rPr lang="en-US" altLang="zh-CN" sz="2800" dirty="0" err="1"/>
              <a:t>start,stop</a:t>
            </a:r>
            <a:r>
              <a:rPr lang="en-US" altLang="zh-CN" sz="2800" dirty="0"/>
              <a:t>, number)</a:t>
            </a:r>
            <a:endParaRPr lang="en-US" altLang="zh-CN" sz="2800" dirty="0"/>
          </a:p>
          <a:p>
            <a:pPr marL="457200" lvl="1" indent="0" defTabSz="987425">
              <a:buClr>
                <a:schemeClr val="accent1"/>
              </a:buClr>
              <a:buNone/>
            </a:pPr>
            <a:r>
              <a:rPr lang="en-US" altLang="zh-CN" sz="2800" dirty="0">
                <a:latin typeface="+mn-ea"/>
                <a:cs typeface="Arial" panose="020B0604020202020204" pitchFamily="34" charset="0"/>
              </a:rPr>
              <a:t>      </a:t>
            </a:r>
            <a:r>
              <a:rPr lang="en-US" altLang="zh-CN" sz="2800" dirty="0" err="1">
                <a:latin typeface="+mn-ea"/>
                <a:cs typeface="Arial" panose="020B0604020202020204" pitchFamily="34" charset="0"/>
              </a:rPr>
              <a:t>np.linspace</a:t>
            </a:r>
            <a:r>
              <a:rPr lang="en-US" altLang="zh-CN" sz="2800" dirty="0">
                <a:latin typeface="+mn-ea"/>
                <a:cs typeface="Arial" panose="020B0604020202020204" pitchFamily="34" charset="0"/>
              </a:rPr>
              <a:t>(-1,1, 5)        #[-1. , -0.5,  0. ,  0.5,  1. ]</a:t>
            </a:r>
            <a:endParaRPr lang="en-US" altLang="zh-CN" sz="2800" dirty="0">
              <a:latin typeface="+mn-ea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p"/>
            </a:pPr>
            <a:r>
              <a:rPr lang="en-US" altLang="zh-CN" sz="2800" dirty="0"/>
              <a:t>sin()</a:t>
            </a:r>
            <a:r>
              <a:rPr lang="zh-CN" altLang="en-US" sz="2800" dirty="0"/>
              <a:t>、</a:t>
            </a:r>
            <a:r>
              <a:rPr lang="en-US" altLang="zh-CN" sz="2800" dirty="0"/>
              <a:t>cos()</a:t>
            </a:r>
            <a:r>
              <a:rPr lang="zh-CN" altLang="en-US" sz="2800" dirty="0"/>
              <a:t>、</a:t>
            </a:r>
            <a:r>
              <a:rPr lang="en-US" altLang="zh-CN" sz="2800" dirty="0" err="1"/>
              <a:t>sqrt</a:t>
            </a:r>
            <a:r>
              <a:rPr lang="en-US" altLang="zh-CN" sz="2800" dirty="0"/>
              <a:t>()</a:t>
            </a:r>
            <a:r>
              <a:rPr lang="zh-CN" altLang="en-US" sz="2800" dirty="0"/>
              <a:t>、</a:t>
            </a:r>
            <a:r>
              <a:rPr lang="en-US" altLang="zh-CN" sz="2800" dirty="0"/>
              <a:t>log()……</a:t>
            </a:r>
            <a:endParaRPr lang="en-US" altLang="zh-CN" sz="2800" dirty="0"/>
          </a:p>
          <a:p>
            <a:pPr lvl="1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p"/>
            </a:pPr>
            <a:r>
              <a:rPr lang="zh-CN" altLang="en-US" sz="3200" dirty="0"/>
              <a:t>常量</a:t>
            </a:r>
            <a:r>
              <a:rPr lang="en-US" altLang="zh-CN" sz="3200" dirty="0"/>
              <a:t>pi</a:t>
            </a:r>
            <a:endParaRPr lang="en-US" altLang="zh-CN" sz="3200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131809" y="512466"/>
            <a:ext cx="9648537" cy="54008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500" b="1" dirty="0" err="1">
                <a:latin typeface="+mn-ea"/>
                <a:ea typeface="+mn-ea"/>
              </a:rPr>
              <a:t>numpy</a:t>
            </a:r>
            <a:r>
              <a:rPr lang="zh-CN" altLang="en-US" sz="4500" b="1" dirty="0">
                <a:latin typeface="+mn-ea"/>
                <a:ea typeface="+mn-ea"/>
              </a:rPr>
              <a:t>库</a:t>
            </a:r>
            <a:endParaRPr lang="zh-CN" altLang="en-US" sz="4500" b="1" dirty="0">
              <a:latin typeface="+mn-ea"/>
              <a:ea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96217" y="518765"/>
            <a:ext cx="680176" cy="711395"/>
            <a:chOff x="3820548" y="-894825"/>
            <a:chExt cx="1257690" cy="1257690"/>
          </a:xfrm>
        </p:grpSpPr>
        <p:sp>
          <p:nvSpPr>
            <p:cNvPr id="7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8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96217" y="518765"/>
            <a:ext cx="680176" cy="711395"/>
            <a:chOff x="3820548" y="-894825"/>
            <a:chExt cx="1257690" cy="1257690"/>
          </a:xfrm>
        </p:grpSpPr>
        <p:sp>
          <p:nvSpPr>
            <p:cNvPr id="7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8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sp>
        <p:nvSpPr>
          <p:cNvPr id="12" name="矩形 11"/>
          <p:cNvSpPr/>
          <p:nvPr/>
        </p:nvSpPr>
        <p:spPr>
          <a:xfrm>
            <a:off x="1061730" y="437911"/>
            <a:ext cx="984690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800" b="1" dirty="0" err="1">
                <a:solidFill>
                  <a:prstClr val="black"/>
                </a:solidFill>
                <a:latin typeface="Segoe UI" panose="020B0502040204020203"/>
                <a:ea typeface="微软雅黑" panose="020B0503020204020204" charset="-122"/>
                <a:cs typeface="+mn-ea"/>
              </a:rPr>
              <a:t>Matplotlib</a:t>
            </a:r>
            <a:r>
              <a:rPr lang="zh-CN" altLang="en-US" sz="4800" b="1" dirty="0">
                <a:solidFill>
                  <a:prstClr val="black"/>
                </a:solidFill>
                <a:latin typeface="Segoe UI" panose="020B0502040204020203"/>
                <a:ea typeface="微软雅黑" panose="020B0503020204020204" charset="-122"/>
                <a:cs typeface="+mn-ea"/>
              </a:rPr>
              <a:t>常用函数</a:t>
            </a:r>
            <a:endParaRPr lang="en-US" altLang="zh-CN" sz="4800" b="1" dirty="0">
              <a:solidFill>
                <a:prstClr val="black"/>
              </a:solidFill>
              <a:latin typeface="Segoe UI" panose="020B0502040204020203"/>
              <a:ea typeface="微软雅黑" panose="020B0503020204020204" charset="-122"/>
              <a:cs typeface="+mn-ea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908825" y="1421779"/>
          <a:ext cx="10086278" cy="50665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32262"/>
                <a:gridCol w="8254016"/>
              </a:tblGrid>
              <a:tr h="50744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chemeClr val="bg1"/>
                          </a:solidFill>
                        </a:rPr>
                        <a:t>函数名称</a:t>
                      </a:r>
                      <a:endParaRPr lang="zh-CN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marT="45700" marB="45700">
                    <a:solidFill>
                      <a:srgbClr val="6193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chemeClr val="bg1"/>
                          </a:solidFill>
                        </a:rPr>
                        <a:t>函数作用</a:t>
                      </a:r>
                      <a:endParaRPr lang="zh-CN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marT="45700" marB="45700">
                    <a:solidFill>
                      <a:srgbClr val="6193D4"/>
                    </a:solidFill>
                  </a:tcPr>
                </a:tc>
              </a:tr>
              <a:tr h="5671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altLang="en-US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zh-CN" sz="2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00" marB="45700"/>
                </a:tc>
              </a:tr>
              <a:tr h="56705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3200" b="0" kern="12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42" marR="51442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42" marR="51442" marT="0" marB="0" anchor="ctr"/>
                </a:tc>
              </a:tr>
              <a:tr h="56705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3200" b="0" kern="12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42" marR="51442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42" marR="51442" marT="0" marB="0" anchor="ctr"/>
                </a:tc>
              </a:tr>
              <a:tr h="56705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42" marR="51442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42" marR="51442" marT="0" marB="0" anchor="ctr"/>
                </a:tc>
              </a:tr>
              <a:tr h="56705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42" marR="51442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42" marR="51442" marT="0" marB="0" anchor="ctr"/>
                </a:tc>
              </a:tr>
              <a:tr h="56705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42" marR="51442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42" marR="51442" marT="0" marB="0" anchor="ctr"/>
                </a:tc>
              </a:tr>
              <a:tr h="56705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42" marR="51442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42" marR="51442" marT="0" marB="0" anchor="ctr"/>
                </a:tc>
              </a:tr>
              <a:tr h="56705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42" marR="51442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42" marR="51442" marT="0" marB="0" anchor="ctr"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908825" y="1921294"/>
          <a:ext cx="10080702" cy="5933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0"/>
                <a:gridCol w="8251902"/>
              </a:tblGrid>
              <a:tr h="59330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2800" kern="100" dirty="0" err="1">
                          <a:solidFill>
                            <a:srgbClr val="C00000"/>
                          </a:solidFill>
                          <a:effectLst/>
                        </a:rPr>
                        <a:t>plt.title</a:t>
                      </a:r>
                      <a:r>
                        <a:rPr lang="en-US" sz="2800" kern="100" dirty="0">
                          <a:solidFill>
                            <a:srgbClr val="C00000"/>
                          </a:solidFill>
                          <a:effectLst/>
                        </a:rPr>
                        <a:t>()</a:t>
                      </a:r>
                      <a:endParaRPr lang="zh-CN" sz="2800" b="1" kern="1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20971" marR="20971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effectLst/>
                        </a:rPr>
                        <a:t>添加标题，可指定名称、位置、颜色、</a:t>
                      </a:r>
                      <a:r>
                        <a:rPr lang="zh-CN" altLang="en-US" sz="2800" kern="100" dirty="0">
                          <a:effectLst/>
                        </a:rPr>
                        <a:t>字体</a:t>
                      </a:r>
                      <a:r>
                        <a:rPr lang="zh-CN" sz="2800" kern="100" dirty="0">
                          <a:effectLst/>
                        </a:rPr>
                        <a:t>大小等</a:t>
                      </a:r>
                      <a:endParaRPr lang="zh-CN" sz="2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20971" marR="20971" marT="0" marB="0" anchor="ctr"/>
                </a:tc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914400" y="2514605"/>
          <a:ext cx="10075127" cy="5631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3224"/>
                <a:gridCol w="8251903"/>
              </a:tblGrid>
              <a:tr h="5631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kern="100" dirty="0" err="1">
                          <a:solidFill>
                            <a:srgbClr val="C00000"/>
                          </a:solidFill>
                          <a:effectLst/>
                        </a:rPr>
                        <a:t>plt.xlabel</a:t>
                      </a:r>
                      <a:r>
                        <a:rPr lang="en-US" altLang="zh-CN" sz="2800" kern="100" dirty="0">
                          <a:solidFill>
                            <a:srgbClr val="C00000"/>
                          </a:solidFill>
                          <a:effectLst/>
                        </a:rPr>
                        <a:t>()</a:t>
                      </a:r>
                      <a:endParaRPr lang="zh-CN" altLang="zh-CN" sz="2800" b="1" kern="1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0971" marR="20971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zh-CN" sz="2800" kern="100" dirty="0">
                          <a:effectLst/>
                        </a:rPr>
                        <a:t>添加</a:t>
                      </a:r>
                      <a:r>
                        <a:rPr lang="en-US" altLang="zh-CN" sz="2800" kern="100" dirty="0">
                          <a:effectLst/>
                        </a:rPr>
                        <a:t>x</a:t>
                      </a:r>
                      <a:r>
                        <a:rPr lang="zh-CN" altLang="zh-CN" sz="2800" kern="100" dirty="0">
                          <a:effectLst/>
                        </a:rPr>
                        <a:t>轴名称，可以指定位置、颜色、</a:t>
                      </a:r>
                      <a:r>
                        <a:rPr lang="zh-CN" altLang="en-US" sz="2800" kern="100" dirty="0">
                          <a:effectLst/>
                        </a:rPr>
                        <a:t>字体</a:t>
                      </a:r>
                      <a:r>
                        <a:rPr lang="zh-CN" altLang="zh-CN" sz="2800" kern="100" dirty="0">
                          <a:effectLst/>
                        </a:rPr>
                        <a:t>大小等</a:t>
                      </a:r>
                      <a:endParaRPr lang="zh-CN" altLang="zh-CN" sz="2800" kern="10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0971" marR="20971" marT="0" marB="0" anchor="ctr"/>
                </a:tc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/>
        </p:nvGraphicFramePr>
        <p:xfrm>
          <a:off x="908825" y="3079595"/>
          <a:ext cx="10080702" cy="5631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34375"/>
                <a:gridCol w="8246327"/>
              </a:tblGrid>
              <a:tr h="563137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2800" kern="100" dirty="0" err="1">
                          <a:solidFill>
                            <a:srgbClr val="C00000"/>
                          </a:solidFill>
                          <a:effectLst/>
                        </a:rPr>
                        <a:t>plt.ylabel</a:t>
                      </a:r>
                      <a:r>
                        <a:rPr lang="en-US" altLang="zh-CN" sz="2800" kern="100" dirty="0">
                          <a:solidFill>
                            <a:srgbClr val="C00000"/>
                          </a:solidFill>
                          <a:effectLst/>
                        </a:rPr>
                        <a:t>()</a:t>
                      </a:r>
                      <a:endParaRPr lang="zh-CN" sz="2800" b="1" kern="1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20971" marR="20971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effectLst/>
                        </a:rPr>
                        <a:t>添加</a:t>
                      </a:r>
                      <a:r>
                        <a:rPr lang="en-US" sz="2800" kern="100" dirty="0">
                          <a:effectLst/>
                        </a:rPr>
                        <a:t>y</a:t>
                      </a:r>
                      <a:r>
                        <a:rPr lang="zh-CN" sz="2800" kern="100" dirty="0">
                          <a:effectLst/>
                        </a:rPr>
                        <a:t>轴名称，可以指定位置、颜色、</a:t>
                      </a:r>
                      <a:r>
                        <a:rPr lang="zh-CN" altLang="en-US" sz="2800" kern="100" dirty="0">
                          <a:effectLst/>
                        </a:rPr>
                        <a:t>字体</a:t>
                      </a:r>
                      <a:r>
                        <a:rPr lang="zh-CN" altLang="zh-CN" sz="2800" kern="100" dirty="0">
                          <a:effectLst/>
                        </a:rPr>
                        <a:t>大小等</a:t>
                      </a:r>
                      <a:endParaRPr lang="zh-CN" altLang="zh-CN" sz="2800" kern="10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0971" marR="20971" marT="0" marB="0" anchor="ctr"/>
                </a:tc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/>
        </p:nvGraphicFramePr>
        <p:xfrm>
          <a:off x="903249" y="3656765"/>
          <a:ext cx="10091853" cy="5631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34375"/>
                <a:gridCol w="8257478"/>
              </a:tblGrid>
              <a:tr h="563137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2800" kern="100" dirty="0" err="1">
                          <a:effectLst/>
                        </a:rPr>
                        <a:t>plt.xlim</a:t>
                      </a:r>
                      <a:r>
                        <a:rPr lang="en-US" sz="2800" kern="100" dirty="0">
                          <a:effectLst/>
                        </a:rPr>
                        <a:t>()</a:t>
                      </a:r>
                      <a:endParaRPr lang="zh-CN" sz="2800" b="1" kern="100" dirty="0"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20971" marR="20971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effectLst/>
                        </a:rPr>
                        <a:t>指定</a:t>
                      </a:r>
                      <a:r>
                        <a:rPr lang="en-US" sz="2800" kern="100" dirty="0">
                          <a:effectLst/>
                        </a:rPr>
                        <a:t>x</a:t>
                      </a:r>
                      <a:r>
                        <a:rPr lang="zh-CN" sz="2800" kern="100" dirty="0">
                          <a:effectLst/>
                        </a:rPr>
                        <a:t>轴的范围，确定一个数值区间</a:t>
                      </a:r>
                      <a:endParaRPr lang="zh-CN" sz="2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20971" marR="20971" marT="0" marB="0" anchor="ctr"/>
                </a:tc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/>
        </p:nvGraphicFramePr>
        <p:xfrm>
          <a:off x="903248" y="4205036"/>
          <a:ext cx="10088132" cy="5631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34376"/>
                <a:gridCol w="8253756"/>
              </a:tblGrid>
              <a:tr h="563137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2800" kern="100" dirty="0" err="1">
                          <a:effectLst/>
                        </a:rPr>
                        <a:t>plt.ylim</a:t>
                      </a:r>
                      <a:r>
                        <a:rPr lang="en-US" sz="2800" kern="100" dirty="0">
                          <a:effectLst/>
                        </a:rPr>
                        <a:t>()</a:t>
                      </a:r>
                      <a:endParaRPr lang="zh-CN" sz="2800" b="1" kern="100" dirty="0"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20971" marR="20971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effectLst/>
                        </a:rPr>
                        <a:t>指定</a:t>
                      </a:r>
                      <a:r>
                        <a:rPr lang="en-US" sz="2800" kern="100" dirty="0">
                          <a:effectLst/>
                        </a:rPr>
                        <a:t>y</a:t>
                      </a:r>
                      <a:r>
                        <a:rPr lang="zh-CN" sz="2800" kern="100" dirty="0">
                          <a:effectLst/>
                        </a:rPr>
                        <a:t>轴的范围，确定一个数值区间</a:t>
                      </a:r>
                      <a:endParaRPr lang="zh-CN" sz="2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20971" marR="20971" marT="0" marB="0" anchor="ctr"/>
                </a:tc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/>
        </p:nvGraphicFramePr>
        <p:xfrm>
          <a:off x="914400" y="4776624"/>
          <a:ext cx="10069551" cy="5631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0"/>
                <a:gridCol w="8240751"/>
              </a:tblGrid>
              <a:tr h="563137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2800" kern="100" dirty="0" err="1">
                          <a:effectLst/>
                        </a:rPr>
                        <a:t>plt.xticks</a:t>
                      </a:r>
                      <a:r>
                        <a:rPr lang="en-US" sz="2800" kern="100" dirty="0">
                          <a:effectLst/>
                        </a:rPr>
                        <a:t>()</a:t>
                      </a:r>
                      <a:endParaRPr lang="zh-CN" sz="2800" b="1" kern="100" dirty="0"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20971" marR="20971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effectLst/>
                        </a:rPr>
                        <a:t>指定</a:t>
                      </a:r>
                      <a:r>
                        <a:rPr lang="en-US" sz="2800" kern="100" dirty="0">
                          <a:effectLst/>
                        </a:rPr>
                        <a:t>x</a:t>
                      </a:r>
                      <a:r>
                        <a:rPr lang="zh-CN" sz="2800" kern="100" dirty="0">
                          <a:effectLst/>
                        </a:rPr>
                        <a:t>轴刻度的数目与取值</a:t>
                      </a:r>
                      <a:endParaRPr lang="zh-CN" sz="2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20971" marR="20971" marT="0" marB="0" anchor="ctr"/>
                </a:tc>
              </a:tr>
            </a:tbl>
          </a:graphicData>
        </a:graphic>
      </p:graphicFrame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908824" y="5346689"/>
          <a:ext cx="10080703" cy="5631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34376"/>
                <a:gridCol w="8246327"/>
              </a:tblGrid>
              <a:tr h="563137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2800" kern="100" dirty="0" err="1">
                          <a:effectLst/>
                        </a:rPr>
                        <a:t>plt.yticks</a:t>
                      </a:r>
                      <a:r>
                        <a:rPr lang="en-US" sz="2800" kern="100" dirty="0">
                          <a:effectLst/>
                        </a:rPr>
                        <a:t>()</a:t>
                      </a:r>
                      <a:endParaRPr lang="zh-CN" sz="2800" b="1" kern="100" dirty="0"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20971" marR="20971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effectLst/>
                        </a:rPr>
                        <a:t>指定</a:t>
                      </a:r>
                      <a:r>
                        <a:rPr lang="en-US" sz="2800" kern="100" dirty="0">
                          <a:effectLst/>
                        </a:rPr>
                        <a:t>y</a:t>
                      </a:r>
                      <a:r>
                        <a:rPr lang="zh-CN" sz="2800" kern="100" dirty="0">
                          <a:effectLst/>
                        </a:rPr>
                        <a:t>轴刻度的数目与取值</a:t>
                      </a:r>
                      <a:endParaRPr lang="zh-CN" sz="2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20971" marR="20971" marT="0" marB="0" anchor="ctr"/>
                </a:tc>
              </a:tr>
            </a:tbl>
          </a:graphicData>
        </a:graphic>
      </p:graphicFrame>
      <p:graphicFrame>
        <p:nvGraphicFramePr>
          <p:cNvPr id="30" name="表格 29"/>
          <p:cNvGraphicFramePr>
            <a:graphicFrameLocks noGrp="1"/>
          </p:cNvGraphicFramePr>
          <p:nvPr/>
        </p:nvGraphicFramePr>
        <p:xfrm>
          <a:off x="903248" y="5909826"/>
          <a:ext cx="10080704" cy="5631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1104"/>
                <a:gridCol w="8229600"/>
              </a:tblGrid>
              <a:tr h="563137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2800" kern="100" dirty="0" err="1">
                          <a:solidFill>
                            <a:srgbClr val="C00000"/>
                          </a:solidFill>
                          <a:effectLst/>
                        </a:rPr>
                        <a:t>plt.legend</a:t>
                      </a:r>
                      <a:r>
                        <a:rPr lang="en-US" sz="2800" kern="100" dirty="0">
                          <a:solidFill>
                            <a:srgbClr val="C00000"/>
                          </a:solidFill>
                          <a:effectLst/>
                        </a:rPr>
                        <a:t>(</a:t>
                      </a:r>
                      <a:r>
                        <a:rPr lang="en-US" sz="2800" kern="100" dirty="0">
                          <a:solidFill>
                            <a:srgbClr val="FF0000"/>
                          </a:solidFill>
                          <a:effectLst/>
                        </a:rPr>
                        <a:t>)</a:t>
                      </a:r>
                      <a:endParaRPr lang="zh-CN" sz="28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20971" marR="20971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effectLst/>
                        </a:rPr>
                        <a:t>指定图例，可以指定图例的大小、位置、标签</a:t>
                      </a:r>
                      <a:endParaRPr lang="zh-CN" sz="2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20971" marR="20971" marT="0" marB="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96217" y="518765"/>
            <a:ext cx="680176" cy="711395"/>
            <a:chOff x="3820548" y="-894825"/>
            <a:chExt cx="1257690" cy="1257690"/>
          </a:xfrm>
        </p:grpSpPr>
        <p:sp>
          <p:nvSpPr>
            <p:cNvPr id="7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8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143286" y="1170241"/>
            <a:ext cx="6528354" cy="3724674"/>
          </a:xfrm>
          <a:prstGeom prst="rect">
            <a:avLst/>
          </a:prstGeom>
          <a:solidFill>
            <a:srgbClr val="6193D4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3200" dirty="0">
                <a:solidFill>
                  <a:schemeClr val="bg1"/>
                </a:solidFill>
              </a:rPr>
              <a:t>import </a:t>
            </a:r>
            <a:r>
              <a:rPr lang="en-US" altLang="zh-CN" sz="3200" dirty="0" err="1">
                <a:solidFill>
                  <a:schemeClr val="bg1"/>
                </a:solidFill>
              </a:rPr>
              <a:t>matplotlib.pyplot</a:t>
            </a:r>
            <a:r>
              <a:rPr lang="en-US" altLang="zh-CN" sz="3200" dirty="0">
                <a:solidFill>
                  <a:schemeClr val="bg1"/>
                </a:solidFill>
              </a:rPr>
              <a:t> as </a:t>
            </a:r>
            <a:r>
              <a:rPr lang="en-US" altLang="zh-CN" sz="3200" dirty="0" err="1">
                <a:solidFill>
                  <a:schemeClr val="bg1"/>
                </a:solidFill>
              </a:rPr>
              <a:t>plt</a:t>
            </a:r>
            <a:endParaRPr lang="en-US" altLang="zh-CN" sz="3200" dirty="0">
              <a:solidFill>
                <a:schemeClr val="bg1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sz="3200" dirty="0">
                <a:solidFill>
                  <a:schemeClr val="bg1"/>
                </a:solidFill>
              </a:rPr>
              <a:t>import </a:t>
            </a:r>
            <a:r>
              <a:rPr lang="en-US" altLang="zh-CN" sz="3200" dirty="0" err="1">
                <a:solidFill>
                  <a:schemeClr val="bg1"/>
                </a:solidFill>
              </a:rPr>
              <a:t>numpy</a:t>
            </a:r>
            <a:r>
              <a:rPr lang="en-US" altLang="zh-CN" sz="3200" dirty="0">
                <a:solidFill>
                  <a:schemeClr val="bg1"/>
                </a:solidFill>
              </a:rPr>
              <a:t> as np</a:t>
            </a:r>
            <a:endParaRPr lang="en-US" altLang="zh-CN" sz="3200" dirty="0">
              <a:solidFill>
                <a:schemeClr val="bg1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sz="3200" dirty="0">
                <a:solidFill>
                  <a:schemeClr val="bg1"/>
                </a:solidFill>
              </a:rPr>
              <a:t>x=</a:t>
            </a:r>
            <a:r>
              <a:rPr lang="en-US" altLang="zh-CN" sz="3200" dirty="0" err="1">
                <a:solidFill>
                  <a:schemeClr val="bg1"/>
                </a:solidFill>
              </a:rPr>
              <a:t>np.</a:t>
            </a:r>
            <a:r>
              <a:rPr lang="en-US" altLang="zh-CN" sz="3200" dirty="0" err="1">
                <a:solidFill>
                  <a:srgbClr val="FF0000"/>
                </a:solidFill>
              </a:rPr>
              <a:t>arange</a:t>
            </a:r>
            <a:r>
              <a:rPr lang="en-US" altLang="zh-CN" sz="3200" dirty="0">
                <a:solidFill>
                  <a:schemeClr val="bg1"/>
                </a:solidFill>
              </a:rPr>
              <a:t>(0,1,0.01)</a:t>
            </a:r>
            <a:endParaRPr lang="en-US" altLang="zh-CN" sz="3200" dirty="0">
              <a:solidFill>
                <a:schemeClr val="bg1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sz="3200" dirty="0">
                <a:solidFill>
                  <a:schemeClr val="bg1"/>
                </a:solidFill>
              </a:rPr>
              <a:t>y= x**2 </a:t>
            </a:r>
            <a:endParaRPr lang="en-US" altLang="zh-CN" sz="3200" dirty="0">
              <a:solidFill>
                <a:schemeClr val="bg1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sz="3200" dirty="0" err="1">
                <a:solidFill>
                  <a:schemeClr val="bg1"/>
                </a:solidFill>
              </a:rPr>
              <a:t>plt.plot</a:t>
            </a:r>
            <a:r>
              <a:rPr lang="en-US" altLang="zh-CN" sz="3200" dirty="0">
                <a:solidFill>
                  <a:schemeClr val="bg1"/>
                </a:solidFill>
              </a:rPr>
              <a:t>(</a:t>
            </a:r>
            <a:r>
              <a:rPr lang="en-US" altLang="zh-CN" sz="3200" dirty="0" err="1">
                <a:solidFill>
                  <a:schemeClr val="bg1"/>
                </a:solidFill>
              </a:rPr>
              <a:t>x,y,’b</a:t>
            </a:r>
            <a:r>
              <a:rPr lang="en-US" altLang="zh-CN" sz="3200" dirty="0">
                <a:solidFill>
                  <a:schemeClr val="bg1"/>
                </a:solidFill>
              </a:rPr>
              <a:t>’)</a:t>
            </a:r>
            <a:endParaRPr lang="en-US" altLang="zh-CN" sz="3200" dirty="0">
              <a:solidFill>
                <a:schemeClr val="bg1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sz="3200" dirty="0" err="1">
                <a:solidFill>
                  <a:schemeClr val="bg1"/>
                </a:solidFill>
              </a:rPr>
              <a:t>plt.plot</a:t>
            </a:r>
            <a:r>
              <a:rPr lang="en-US" altLang="zh-CN" sz="3200" dirty="0">
                <a:solidFill>
                  <a:schemeClr val="bg1"/>
                </a:solidFill>
              </a:rPr>
              <a:t>(</a:t>
            </a:r>
            <a:r>
              <a:rPr lang="en-US" altLang="zh-CN" sz="3200" dirty="0" err="1">
                <a:solidFill>
                  <a:schemeClr val="bg1"/>
                </a:solidFill>
              </a:rPr>
              <a:t>x,x</a:t>
            </a:r>
            <a:r>
              <a:rPr lang="en-US" altLang="zh-CN" sz="3200" dirty="0">
                <a:solidFill>
                  <a:schemeClr val="bg1"/>
                </a:solidFill>
              </a:rPr>
              <a:t>**3)</a:t>
            </a:r>
            <a:endParaRPr lang="en-US" altLang="zh-CN" sz="3200" dirty="0">
              <a:solidFill>
                <a:schemeClr val="bg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61730" y="491496"/>
            <a:ext cx="984690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200" b="1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Matplotlib</a:t>
            </a:r>
            <a:r>
              <a:rPr lang="zh-CN" altLang="en-US" sz="42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折线图示例</a:t>
            </a:r>
            <a:endParaRPr lang="zh-CN" altLang="en-US" sz="42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299123" y="2462813"/>
            <a:ext cx="5391803" cy="4340227"/>
          </a:xfrm>
          <a:prstGeom prst="rect">
            <a:avLst/>
          </a:prstGeom>
          <a:solidFill>
            <a:srgbClr val="6193D4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3200" dirty="0" err="1">
                <a:solidFill>
                  <a:srgbClr val="FF0000"/>
                </a:solidFill>
              </a:rPr>
              <a:t>plt.title</a:t>
            </a:r>
            <a:r>
              <a:rPr lang="en-US" altLang="zh-CN" sz="3200" dirty="0">
                <a:solidFill>
                  <a:schemeClr val="bg1"/>
                </a:solidFill>
              </a:rPr>
              <a:t>('math example')</a:t>
            </a:r>
            <a:endParaRPr lang="en-US" altLang="zh-CN" sz="3200" dirty="0">
              <a:solidFill>
                <a:schemeClr val="bg1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sz="3200" dirty="0" err="1">
                <a:solidFill>
                  <a:srgbClr val="FF0000"/>
                </a:solidFill>
              </a:rPr>
              <a:t>plt.xlim</a:t>
            </a:r>
            <a:r>
              <a:rPr lang="en-US" altLang="zh-CN" sz="3200" dirty="0">
                <a:solidFill>
                  <a:schemeClr val="bg1"/>
                </a:solidFill>
              </a:rPr>
              <a:t>(0,1)</a:t>
            </a:r>
            <a:endParaRPr lang="en-US" altLang="zh-CN" sz="3200" dirty="0">
              <a:solidFill>
                <a:schemeClr val="bg1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sz="3200" dirty="0" err="1">
                <a:solidFill>
                  <a:srgbClr val="FF0000"/>
                </a:solidFill>
              </a:rPr>
              <a:t>plt.ylim</a:t>
            </a:r>
            <a:r>
              <a:rPr lang="en-US" altLang="zh-CN" sz="3200" dirty="0">
                <a:solidFill>
                  <a:schemeClr val="bg1"/>
                </a:solidFill>
              </a:rPr>
              <a:t>(0,1)</a:t>
            </a:r>
            <a:endParaRPr lang="en-US" altLang="zh-CN" sz="3200" dirty="0">
              <a:solidFill>
                <a:schemeClr val="bg1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sz="3200" dirty="0" err="1">
                <a:solidFill>
                  <a:srgbClr val="FF0000"/>
                </a:solidFill>
              </a:rPr>
              <a:t>plt.ylabel</a:t>
            </a:r>
            <a:r>
              <a:rPr lang="en-US" altLang="zh-CN" sz="3200" dirty="0">
                <a:solidFill>
                  <a:schemeClr val="bg1"/>
                </a:solidFill>
              </a:rPr>
              <a:t>('Y')</a:t>
            </a:r>
            <a:endParaRPr lang="en-US" altLang="zh-CN" sz="3200" dirty="0">
              <a:solidFill>
                <a:schemeClr val="bg1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sz="3200" dirty="0" err="1">
                <a:solidFill>
                  <a:srgbClr val="FF0000"/>
                </a:solidFill>
              </a:rPr>
              <a:t>plt.xticks</a:t>
            </a:r>
            <a:r>
              <a:rPr lang="en-US" altLang="zh-CN" sz="3200" dirty="0">
                <a:solidFill>
                  <a:schemeClr val="bg1"/>
                </a:solidFill>
              </a:rPr>
              <a:t>([0,0.25,0.5,0.75,1.0])</a:t>
            </a:r>
            <a:endParaRPr lang="en-US" altLang="zh-CN" sz="3200" dirty="0">
              <a:solidFill>
                <a:schemeClr val="bg1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sz="3200" dirty="0" err="1">
                <a:solidFill>
                  <a:srgbClr val="FF0000"/>
                </a:solidFill>
              </a:rPr>
              <a:t>plt.legend</a:t>
            </a:r>
            <a:r>
              <a:rPr lang="en-US" altLang="zh-CN" sz="3200" dirty="0">
                <a:solidFill>
                  <a:schemeClr val="bg1"/>
                </a:solidFill>
              </a:rPr>
              <a:t>(['y=x^2','y=x^3'])</a:t>
            </a:r>
            <a:endParaRPr lang="en-US" altLang="zh-CN" sz="3200" dirty="0">
              <a:solidFill>
                <a:schemeClr val="bg1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sz="3200" dirty="0" err="1">
                <a:solidFill>
                  <a:schemeClr val="bg1"/>
                </a:solidFill>
              </a:rPr>
              <a:t>plt.show</a:t>
            </a:r>
            <a:r>
              <a:rPr lang="en-US" altLang="zh-CN" sz="3200" dirty="0">
                <a:solidFill>
                  <a:schemeClr val="bg1"/>
                </a:solidFill>
              </a:rPr>
              <a:t>()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351" y="5023952"/>
            <a:ext cx="2583067" cy="17133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build="p"/>
      <p:bldP spid="4" grpId="0" animBg="1" build="p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5" name="Rectangle 4"/>
          <p:cNvSpPr>
            <a:spLocks noChangeArrowheads="1"/>
          </p:cNvSpPr>
          <p:nvPr/>
        </p:nvSpPr>
        <p:spPr bwMode="auto">
          <a:xfrm>
            <a:off x="1600201" y="11726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zh-CN"/>
          </a:p>
        </p:txBody>
      </p:sp>
      <p:sp>
        <p:nvSpPr>
          <p:cNvPr id="66567" name="Rectangle 3"/>
          <p:cNvSpPr>
            <a:spLocks noChangeArrowheads="1"/>
          </p:cNvSpPr>
          <p:nvPr/>
        </p:nvSpPr>
        <p:spPr bwMode="auto">
          <a:xfrm>
            <a:off x="1524001" y="15774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zh-CN"/>
          </a:p>
        </p:txBody>
      </p:sp>
      <p:grpSp>
        <p:nvGrpSpPr>
          <p:cNvPr id="10" name="组合 9"/>
          <p:cNvGrpSpPr/>
          <p:nvPr/>
        </p:nvGrpSpPr>
        <p:grpSpPr>
          <a:xfrm>
            <a:off x="296217" y="518765"/>
            <a:ext cx="680176" cy="711395"/>
            <a:chOff x="3820548" y="-894825"/>
            <a:chExt cx="1257690" cy="1257690"/>
          </a:xfrm>
        </p:grpSpPr>
        <p:sp>
          <p:nvSpPr>
            <p:cNvPr id="11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12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sp>
        <p:nvSpPr>
          <p:cNvPr id="13" name="矩形 12"/>
          <p:cNvSpPr/>
          <p:nvPr/>
        </p:nvSpPr>
        <p:spPr>
          <a:xfrm>
            <a:off x="1061730" y="437911"/>
            <a:ext cx="984690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800" b="1" dirty="0">
                <a:solidFill>
                  <a:prstClr val="black"/>
                </a:solidFill>
                <a:latin typeface="Segoe UI" panose="020B0502040204020203"/>
                <a:ea typeface="微软雅黑" panose="020B0503020204020204" charset="-122"/>
                <a:cs typeface="+mn-ea"/>
              </a:rPr>
              <a:t>课堂练习</a:t>
            </a:r>
            <a:endParaRPr lang="en-US" altLang="zh-CN" sz="4800" b="1" dirty="0">
              <a:solidFill>
                <a:prstClr val="black"/>
              </a:solidFill>
              <a:latin typeface="Segoe UI" panose="020B0502040204020203"/>
              <a:ea typeface="微软雅黑" panose="020B0503020204020204" charset="-122"/>
              <a:cs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59561" y="1378795"/>
            <a:ext cx="10929840" cy="32983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indent="266700" algn="just" defTabSz="91440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</a:pPr>
            <a:r>
              <a:rPr lang="en-US" altLang="zh-CN" sz="3200" kern="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zh-CN" altLang="zh-CN" sz="3200" dirty="0"/>
              <a:t>创建</a:t>
            </a:r>
            <a:r>
              <a:rPr lang="en-US" altLang="zh-CN" sz="3200" dirty="0"/>
              <a:t>6*6</a:t>
            </a:r>
            <a:r>
              <a:rPr lang="zh-CN" altLang="zh-CN" sz="3200" dirty="0"/>
              <a:t>的画布，以画布中心为原点画出坐标轴，并按以下公式绘制函数曲线</a:t>
            </a:r>
            <a:r>
              <a:rPr lang="zh-CN" altLang="en-US" sz="3200" dirty="0"/>
              <a:t>（</a:t>
            </a:r>
            <a:r>
              <a:rPr lang="en-US" altLang="zh-CN" sz="3200" dirty="0"/>
              <a:t> </a:t>
            </a:r>
            <a:r>
              <a:rPr lang="zh-CN" altLang="zh-CN" sz="3200" dirty="0"/>
              <a:t>其中</a:t>
            </a:r>
            <a:r>
              <a:rPr lang="en-US" altLang="zh-CN" sz="3200" dirty="0" err="1"/>
              <a:t>wh</a:t>
            </a:r>
            <a:r>
              <a:rPr lang="zh-CN" altLang="zh-CN" sz="3200" dirty="0"/>
              <a:t>、</a:t>
            </a:r>
            <a:r>
              <a:rPr lang="en-US" altLang="zh-CN" sz="3200" dirty="0" err="1"/>
              <a:t>hh</a:t>
            </a:r>
            <a:r>
              <a:rPr lang="zh-CN" altLang="zh-CN" sz="3200" dirty="0"/>
              <a:t>的取值分别为画布的半宽和半高，</a:t>
            </a:r>
            <a:r>
              <a:rPr lang="en-US" altLang="zh-CN" sz="3200" dirty="0"/>
              <a:t>t</a:t>
            </a:r>
            <a:r>
              <a:rPr lang="zh-CN" altLang="zh-CN" sz="3200" dirty="0"/>
              <a:t>的取值范围为</a:t>
            </a:r>
            <a:r>
              <a:rPr lang="en-US" altLang="zh-CN" sz="3200" dirty="0"/>
              <a:t>0</a:t>
            </a:r>
            <a:r>
              <a:rPr lang="zh-CN" altLang="zh-CN" sz="3200" dirty="0"/>
              <a:t>至</a:t>
            </a:r>
            <a:r>
              <a:rPr lang="en-US" altLang="zh-CN" sz="3200" dirty="0"/>
              <a:t>4</a:t>
            </a:r>
            <a:r>
              <a:rPr lang="zh-CN" altLang="zh-CN" sz="3200" dirty="0"/>
              <a:t>π，</a:t>
            </a:r>
            <a:r>
              <a:rPr lang="en-US" altLang="zh-CN" sz="32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</a:rPr>
              <a:t>100</a:t>
            </a:r>
            <a:r>
              <a:rPr lang="zh-CN" altLang="en-US" sz="3200" dirty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</a:rPr>
              <a:t>个采样点</a:t>
            </a:r>
            <a:r>
              <a:rPr lang="zh-CN" altLang="en-US" sz="3200" dirty="0"/>
              <a:t>）。</a:t>
            </a:r>
            <a:r>
              <a:rPr lang="zh-CN" altLang="zh-CN" sz="3200" dirty="0"/>
              <a:t> </a:t>
            </a:r>
            <a:endParaRPr lang="zh-CN" altLang="zh-CN" sz="3200" dirty="0"/>
          </a:p>
          <a:p>
            <a:pPr lvl="1" indent="301625" algn="just" defTabSz="914400">
              <a:lnSpc>
                <a:spcPct val="125000"/>
              </a:lnSpc>
              <a:spcBef>
                <a:spcPts val="500"/>
              </a:spcBef>
              <a:buClr>
                <a:srgbClr val="0070C0"/>
              </a:buClr>
            </a:pPr>
            <a:r>
              <a:rPr lang="en-US" altLang="zh-CN" sz="3200" dirty="0"/>
              <a:t>     x = (</a:t>
            </a:r>
            <a:r>
              <a:rPr lang="en-US" altLang="zh-CN" sz="3200" dirty="0" err="1"/>
              <a:t>wh</a:t>
            </a:r>
            <a:r>
              <a:rPr lang="en-US" altLang="zh-CN" sz="3200" dirty="0"/>
              <a:t> / 4) * (sin(2t) + 2 * cos(t))</a:t>
            </a:r>
            <a:endParaRPr lang="zh-CN" altLang="zh-CN" sz="3200" dirty="0"/>
          </a:p>
          <a:p>
            <a:pPr lvl="1" indent="301625" algn="just" defTabSz="914400">
              <a:lnSpc>
                <a:spcPct val="125000"/>
              </a:lnSpc>
              <a:spcBef>
                <a:spcPts val="500"/>
              </a:spcBef>
              <a:buClr>
                <a:srgbClr val="0070C0"/>
              </a:buClr>
            </a:pPr>
            <a:r>
              <a:rPr lang="en-US" altLang="zh-CN" sz="3200" dirty="0"/>
              <a:t>     y = (</a:t>
            </a:r>
            <a:r>
              <a:rPr lang="en-US" altLang="zh-CN" sz="3200" dirty="0" err="1"/>
              <a:t>hh</a:t>
            </a:r>
            <a:r>
              <a:rPr lang="en-US" altLang="zh-CN" sz="3200" dirty="0"/>
              <a:t> / 4) * (cos(2t) + 2 * sin(t))</a:t>
            </a:r>
            <a:endParaRPr lang="zh-CN" altLang="zh-CN" sz="3200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3"/>
          <a:srcRect l="5615" t="17687" r="6186" b="5359"/>
          <a:stretch>
            <a:fillRect/>
          </a:stretch>
        </p:blipFill>
        <p:spPr>
          <a:xfrm>
            <a:off x="8309018" y="3559810"/>
            <a:ext cx="2552956" cy="245442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4" name="Rectangle 5"/>
          <p:cNvSpPr>
            <a:spLocks noChangeArrowheads="1"/>
          </p:cNvSpPr>
          <p:nvPr/>
        </p:nvSpPr>
        <p:spPr bwMode="auto">
          <a:xfrm>
            <a:off x="1524001" y="37253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zh-CN"/>
          </a:p>
        </p:txBody>
      </p:sp>
      <p:sp>
        <p:nvSpPr>
          <p:cNvPr id="68615" name="Rectangle 3"/>
          <p:cNvSpPr>
            <a:spLocks noChangeArrowheads="1"/>
          </p:cNvSpPr>
          <p:nvPr/>
        </p:nvSpPr>
        <p:spPr bwMode="auto">
          <a:xfrm>
            <a:off x="1524001" y="15774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zh-CN"/>
          </a:p>
        </p:txBody>
      </p:sp>
      <p:sp>
        <p:nvSpPr>
          <p:cNvPr id="2" name="矩形 1"/>
          <p:cNvSpPr/>
          <p:nvPr/>
        </p:nvSpPr>
        <p:spPr>
          <a:xfrm>
            <a:off x="806356" y="1448940"/>
            <a:ext cx="6259839" cy="517064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</a:pPr>
            <a:r>
              <a:rPr lang="en-US" altLang="zh-CN" sz="3200" b="1" dirty="0"/>
              <a:t>import </a:t>
            </a:r>
            <a:r>
              <a:rPr lang="en-US" altLang="zh-CN" sz="3200" b="1" dirty="0" err="1"/>
              <a:t>matplotlib.pyplot</a:t>
            </a:r>
            <a:r>
              <a:rPr lang="en-US" altLang="zh-CN" sz="3200" b="1" dirty="0"/>
              <a:t> as </a:t>
            </a:r>
            <a:r>
              <a:rPr lang="en-US" altLang="zh-CN" sz="3200" b="1" dirty="0" err="1"/>
              <a:t>plt</a:t>
            </a:r>
            <a:endParaRPr lang="en-US" altLang="zh-CN" sz="3200" b="1" dirty="0"/>
          </a:p>
          <a:p>
            <a:pPr>
              <a:lnSpc>
                <a:spcPts val="3600"/>
              </a:lnSpc>
            </a:pPr>
            <a:r>
              <a:rPr lang="en-US" altLang="zh-CN" sz="3200" b="1" dirty="0"/>
              <a:t>from </a:t>
            </a:r>
            <a:r>
              <a:rPr lang="en-US" altLang="zh-CN" sz="3200" b="1" dirty="0" err="1"/>
              <a:t>numpy</a:t>
            </a:r>
            <a:r>
              <a:rPr lang="en-US" altLang="zh-CN" sz="3200" b="1" dirty="0"/>
              <a:t> import *</a:t>
            </a:r>
            <a:endParaRPr lang="en-US" altLang="zh-CN" sz="3200" b="1" dirty="0"/>
          </a:p>
          <a:p>
            <a:pPr>
              <a:lnSpc>
                <a:spcPts val="3600"/>
              </a:lnSpc>
            </a:pPr>
            <a:r>
              <a:rPr lang="en-US" altLang="zh-CN" sz="3200" b="1" dirty="0" err="1"/>
              <a:t>plt.figure</a:t>
            </a:r>
            <a:r>
              <a:rPr lang="en-US" altLang="zh-CN" sz="3200" b="1" dirty="0"/>
              <a:t>(</a:t>
            </a:r>
            <a:r>
              <a:rPr lang="en-US" altLang="zh-CN" sz="3200" b="1" dirty="0" err="1"/>
              <a:t>figsize</a:t>
            </a:r>
            <a:r>
              <a:rPr lang="en-US" altLang="zh-CN" sz="3200" b="1" dirty="0"/>
              <a:t>=(6, 6))</a:t>
            </a:r>
            <a:endParaRPr lang="en-US" altLang="zh-CN" sz="3200" b="1" dirty="0"/>
          </a:p>
          <a:p>
            <a:pPr>
              <a:lnSpc>
                <a:spcPts val="3600"/>
              </a:lnSpc>
            </a:pPr>
            <a:r>
              <a:rPr lang="en-US" altLang="zh-CN" sz="3200" b="1" dirty="0" err="1"/>
              <a:t>wh</a:t>
            </a:r>
            <a:r>
              <a:rPr lang="en-US" altLang="zh-CN" sz="3200" b="1" dirty="0"/>
              <a:t> = </a:t>
            </a:r>
            <a:r>
              <a:rPr lang="en-US" altLang="zh-CN" sz="3200" b="1" dirty="0" err="1"/>
              <a:t>hh</a:t>
            </a:r>
            <a:r>
              <a:rPr lang="en-US" altLang="zh-CN" sz="3200" b="1" dirty="0"/>
              <a:t> = 6/2</a:t>
            </a:r>
            <a:endParaRPr lang="en-US" altLang="zh-CN" sz="3200" b="1" dirty="0"/>
          </a:p>
          <a:p>
            <a:pPr>
              <a:lnSpc>
                <a:spcPts val="3600"/>
              </a:lnSpc>
            </a:pPr>
            <a:r>
              <a:rPr lang="en-US" altLang="zh-CN" sz="3200" b="1" dirty="0" err="1">
                <a:solidFill>
                  <a:srgbClr val="FF0000"/>
                </a:solidFill>
              </a:rPr>
              <a:t>plt.plot</a:t>
            </a:r>
            <a:r>
              <a:rPr lang="en-US" altLang="zh-CN" sz="3200" b="1" dirty="0">
                <a:solidFill>
                  <a:srgbClr val="FF0000"/>
                </a:solidFill>
              </a:rPr>
              <a:t>([-3,3],[0,0],c='r')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>
              <a:lnSpc>
                <a:spcPts val="3600"/>
              </a:lnSpc>
            </a:pPr>
            <a:r>
              <a:rPr lang="en-US" altLang="zh-CN" sz="3200" b="1" dirty="0" err="1">
                <a:solidFill>
                  <a:srgbClr val="FF0000"/>
                </a:solidFill>
              </a:rPr>
              <a:t>plt.plot</a:t>
            </a:r>
            <a:r>
              <a:rPr lang="en-US" altLang="zh-CN" sz="3200" b="1" dirty="0">
                <a:solidFill>
                  <a:srgbClr val="FF0000"/>
                </a:solidFill>
              </a:rPr>
              <a:t>([0,0],[-3,3],c='r')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>
              <a:lnSpc>
                <a:spcPts val="3600"/>
              </a:lnSpc>
            </a:pPr>
            <a:r>
              <a:rPr lang="fr-FR" altLang="zh-CN" sz="3200" b="1" dirty="0"/>
              <a:t>t = linspace(0, 4*pi, 100) </a:t>
            </a:r>
            <a:r>
              <a:rPr lang="en-US" altLang="zh-CN" sz="3200" b="1" dirty="0"/>
              <a:t>x=(</a:t>
            </a:r>
            <a:r>
              <a:rPr lang="en-US" altLang="zh-CN" sz="3200" b="1" dirty="0" err="1"/>
              <a:t>wh</a:t>
            </a:r>
            <a:r>
              <a:rPr lang="en-US" altLang="zh-CN" sz="3200" b="1" dirty="0"/>
              <a:t>/4)*(sin(2*t)+2*cos(t))</a:t>
            </a:r>
            <a:endParaRPr lang="en-US" altLang="zh-CN" sz="3200" b="1" dirty="0"/>
          </a:p>
          <a:p>
            <a:pPr>
              <a:lnSpc>
                <a:spcPts val="3600"/>
              </a:lnSpc>
            </a:pPr>
            <a:r>
              <a:rPr lang="en-US" altLang="zh-CN" sz="3200" b="1" dirty="0"/>
              <a:t>y=(</a:t>
            </a:r>
            <a:r>
              <a:rPr lang="en-US" altLang="zh-CN" sz="3200" b="1" dirty="0" err="1"/>
              <a:t>hh</a:t>
            </a:r>
            <a:r>
              <a:rPr lang="en-US" altLang="zh-CN" sz="3200" b="1" dirty="0"/>
              <a:t>/4)*(cos(2*t)+2*sin(t))</a:t>
            </a:r>
            <a:endParaRPr lang="en-US" altLang="zh-CN" sz="3200" b="1" dirty="0"/>
          </a:p>
          <a:p>
            <a:pPr>
              <a:lnSpc>
                <a:spcPts val="3600"/>
              </a:lnSpc>
            </a:pPr>
            <a:r>
              <a:rPr lang="en-US" altLang="zh-CN" sz="3200" b="1" dirty="0" err="1"/>
              <a:t>plt.plot</a:t>
            </a:r>
            <a:r>
              <a:rPr lang="en-US" altLang="zh-CN" sz="3200" b="1" dirty="0"/>
              <a:t>(x, </a:t>
            </a:r>
            <a:r>
              <a:rPr lang="en-US" altLang="zh-CN" sz="3200" b="1" dirty="0" err="1"/>
              <a:t>y,c</a:t>
            </a:r>
            <a:r>
              <a:rPr lang="en-US" altLang="zh-CN" sz="3200" b="1" dirty="0"/>
              <a:t>='b')</a:t>
            </a:r>
            <a:endParaRPr lang="en-US" altLang="zh-CN" sz="3200" b="1" dirty="0"/>
          </a:p>
          <a:p>
            <a:pPr>
              <a:lnSpc>
                <a:spcPts val="3600"/>
              </a:lnSpc>
            </a:pPr>
            <a:r>
              <a:rPr lang="en-US" altLang="zh-CN" sz="3200" b="1" dirty="0" err="1"/>
              <a:t>plt.show</a:t>
            </a:r>
            <a:r>
              <a:rPr lang="en-US" altLang="zh-CN" sz="3200" b="1" dirty="0"/>
              <a:t>()</a:t>
            </a:r>
            <a:endParaRPr lang="en-US" altLang="zh-CN" sz="3200" b="1" dirty="0"/>
          </a:p>
        </p:txBody>
      </p:sp>
      <p:grpSp>
        <p:nvGrpSpPr>
          <p:cNvPr id="10" name="组合 9"/>
          <p:cNvGrpSpPr/>
          <p:nvPr/>
        </p:nvGrpSpPr>
        <p:grpSpPr>
          <a:xfrm>
            <a:off x="281309" y="518765"/>
            <a:ext cx="680176" cy="711395"/>
            <a:chOff x="3820548" y="-894825"/>
            <a:chExt cx="1257690" cy="1257690"/>
          </a:xfrm>
        </p:grpSpPr>
        <p:sp>
          <p:nvSpPr>
            <p:cNvPr id="11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12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sp>
        <p:nvSpPr>
          <p:cNvPr id="13" name="矩形 12"/>
          <p:cNvSpPr/>
          <p:nvPr/>
        </p:nvSpPr>
        <p:spPr>
          <a:xfrm>
            <a:off x="1046822" y="437911"/>
            <a:ext cx="984690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800" b="1" dirty="0">
                <a:solidFill>
                  <a:prstClr val="black"/>
                </a:solidFill>
                <a:latin typeface="Segoe UI" panose="020B0502040204020203"/>
                <a:ea typeface="微软雅黑" panose="020B0503020204020204" charset="-122"/>
                <a:cs typeface="+mn-ea"/>
              </a:rPr>
              <a:t>课堂练习</a:t>
            </a:r>
            <a:endParaRPr lang="en-US" altLang="zh-CN" sz="4800" b="1" dirty="0">
              <a:solidFill>
                <a:prstClr val="black"/>
              </a:solidFill>
              <a:latin typeface="Segoe UI" panose="020B0502040204020203"/>
              <a:ea typeface="微软雅黑" panose="020B0503020204020204" charset="-122"/>
              <a:cs typeface="+mn-ea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3"/>
          <a:srcRect l="5615" t="17687" r="6186" b="5359"/>
          <a:stretch>
            <a:fillRect/>
          </a:stretch>
        </p:blipFill>
        <p:spPr>
          <a:xfrm>
            <a:off x="7267716" y="156545"/>
            <a:ext cx="4432300" cy="4261229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7181572" y="4470707"/>
            <a:ext cx="455985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</a:pPr>
            <a:r>
              <a:rPr lang="zh-CN" altLang="en-US" sz="3200" b="1" dirty="0"/>
              <a:t>坐标轴：</a:t>
            </a:r>
            <a:br>
              <a:rPr lang="zh-CN" altLang="en-US" sz="3200" b="1" dirty="0"/>
            </a:br>
            <a:r>
              <a:rPr lang="en-US" altLang="zh-CN" sz="3200" b="1" dirty="0"/>
              <a:t>plot([</a:t>
            </a:r>
            <a:r>
              <a:rPr lang="en-US" altLang="zh-CN" sz="3200" b="1" dirty="0">
                <a:solidFill>
                  <a:srgbClr val="C00000"/>
                </a:solidFill>
              </a:rPr>
              <a:t>x1</a:t>
            </a:r>
            <a:r>
              <a:rPr lang="en-US" altLang="zh-CN" sz="3200" b="1" dirty="0"/>
              <a:t>,x2],[</a:t>
            </a:r>
            <a:r>
              <a:rPr lang="en-US" altLang="zh-CN" sz="3200" b="1" dirty="0">
                <a:solidFill>
                  <a:srgbClr val="C00000"/>
                </a:solidFill>
              </a:rPr>
              <a:t>y1</a:t>
            </a:r>
            <a:r>
              <a:rPr lang="en-US" altLang="zh-CN" sz="3200" b="1" dirty="0"/>
              <a:t>,y2])</a:t>
            </a:r>
            <a:br>
              <a:rPr lang="en-US" altLang="zh-CN" sz="3200" b="1" dirty="0"/>
            </a:br>
            <a:r>
              <a:rPr lang="zh-CN" altLang="en-US" sz="3200" b="1" dirty="0"/>
              <a:t>其中（</a:t>
            </a:r>
            <a:r>
              <a:rPr lang="en-US" altLang="zh-CN" sz="3200" b="1" dirty="0">
                <a:solidFill>
                  <a:srgbClr val="FF0000"/>
                </a:solidFill>
              </a:rPr>
              <a:t>x1,y1</a:t>
            </a:r>
            <a:r>
              <a:rPr lang="zh-CN" altLang="en-US" sz="3200" b="1" dirty="0"/>
              <a:t>）是起点</a:t>
            </a:r>
            <a:endParaRPr lang="en-US" altLang="zh-CN" sz="3200" b="1" dirty="0"/>
          </a:p>
          <a:p>
            <a:pPr>
              <a:lnSpc>
                <a:spcPts val="3600"/>
              </a:lnSpc>
            </a:pPr>
            <a:r>
              <a:rPr lang="en-US" altLang="zh-CN" sz="3200" b="1" dirty="0"/>
              <a:t>       </a:t>
            </a:r>
            <a:r>
              <a:rPr lang="zh-CN" altLang="en-US" sz="3200" b="1" dirty="0"/>
              <a:t>（</a:t>
            </a:r>
            <a:r>
              <a:rPr lang="en-US" altLang="zh-CN" sz="3200" b="1" dirty="0"/>
              <a:t>x2,y2</a:t>
            </a:r>
            <a:r>
              <a:rPr lang="zh-CN" altLang="en-US" sz="3200" b="1" dirty="0"/>
              <a:t>）是终点。</a:t>
            </a:r>
            <a:endParaRPr lang="zh-CN" altLang="en-US" sz="32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build="p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557777" y="3354920"/>
            <a:ext cx="307648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4</a:t>
            </a:r>
            <a:r>
              <a:rPr lang="zh-CN" alt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  网络爬虫</a:t>
            </a:r>
            <a:endParaRPr lang="en-US" sz="44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511800" y="1955759"/>
            <a:ext cx="1168400" cy="1168400"/>
            <a:chOff x="4838310" y="2343675"/>
            <a:chExt cx="1257690" cy="1257690"/>
          </a:xfrm>
        </p:grpSpPr>
        <p:sp>
          <p:nvSpPr>
            <p:cNvPr id="2" name="圆形 15"/>
            <p:cNvSpPr/>
            <p:nvPr/>
          </p:nvSpPr>
          <p:spPr>
            <a:xfrm>
              <a:off x="4838310" y="234367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4" name="图形 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125155" y="2630520"/>
              <a:ext cx="684000" cy="6840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灯片编号占位符 5"/>
          <p:cNvSpPr txBox="1">
            <a:spLocks noGrp="1" noChangeArrowheads="1"/>
          </p:cNvSpPr>
          <p:nvPr/>
        </p:nvSpPr>
        <p:spPr bwMode="auto">
          <a:xfrm>
            <a:off x="8256588" y="623728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Wingdings" panose="05000000000000000000" pitchFamily="2" charset="2"/>
              <a:buChar char="l"/>
              <a:defRPr sz="4000" b="1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3F41464C-EF43-4880-BA7F-514EE665FDC1}" type="slidenum">
              <a:rPr lang="en-US" altLang="zh-CN" sz="12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fld>
            <a:endParaRPr lang="en-US" altLang="zh-CN" sz="12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61731" y="437910"/>
            <a:ext cx="50362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rPr>
              <a:t>网络爬虫</a:t>
            </a:r>
            <a:endParaRPr lang="zh-CN" altLang="en-US" sz="48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96217" y="518765"/>
            <a:ext cx="680176" cy="711395"/>
            <a:chOff x="3820548" y="-894825"/>
            <a:chExt cx="1257690" cy="1257690"/>
          </a:xfrm>
        </p:grpSpPr>
        <p:sp>
          <p:nvSpPr>
            <p:cNvPr id="8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9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sp>
        <p:nvSpPr>
          <p:cNvPr id="11" name="矩形 2"/>
          <p:cNvSpPr>
            <a:spLocks noChangeArrowheads="1"/>
          </p:cNvSpPr>
          <p:nvPr/>
        </p:nvSpPr>
        <p:spPr bwMode="auto">
          <a:xfrm>
            <a:off x="1061731" y="1304027"/>
            <a:ext cx="10557510" cy="3739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dirty="0"/>
              <a:t>网络爬虫（又被称为网页蜘蛛，网络机器人）：是一种按照一定的规则自动地抓取万维网信息的程序或者脚本。</a:t>
            </a:r>
            <a:endParaRPr lang="en-US" altLang="zh-CN" sz="3200" dirty="0"/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dirty="0"/>
              <a:t>     </a:t>
            </a:r>
            <a:r>
              <a:rPr lang="zh-CN" altLang="en-US" dirty="0"/>
              <a:t>第三方的</a:t>
            </a:r>
            <a:r>
              <a:rPr lang="en-US" altLang="zh-CN" dirty="0">
                <a:solidFill>
                  <a:srgbClr val="FF0000"/>
                </a:solidFill>
              </a:rPr>
              <a:t>requests</a:t>
            </a:r>
            <a:r>
              <a:rPr lang="zh-CN" altLang="en-US" dirty="0"/>
              <a:t>模块，需要安装</a:t>
            </a:r>
            <a:r>
              <a:rPr lang="en-US" altLang="zh-CN" dirty="0"/>
              <a:t>pip install</a:t>
            </a:r>
            <a:r>
              <a:rPr lang="en-US" altLang="zh-CN" dirty="0">
                <a:solidFill>
                  <a:srgbClr val="FF0000"/>
                </a:solidFill>
              </a:rPr>
              <a:t> requests</a:t>
            </a:r>
            <a:endParaRPr lang="en-US" altLang="zh-CN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dirty="0"/>
              <a:t>     结合正则表达式应用，可简单实现对静态网页信息的自动下载。</a:t>
            </a:r>
            <a:endParaRPr lang="zh-CN" altLang="en-US" sz="32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296217" y="518765"/>
            <a:ext cx="680176" cy="711395"/>
            <a:chOff x="3820548" y="-894825"/>
            <a:chExt cx="1257690" cy="1257690"/>
          </a:xfrm>
        </p:grpSpPr>
        <p:sp>
          <p:nvSpPr>
            <p:cNvPr id="8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9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sp>
        <p:nvSpPr>
          <p:cNvPr id="10" name="标题 1"/>
          <p:cNvSpPr txBox="1"/>
          <p:nvPr/>
        </p:nvSpPr>
        <p:spPr>
          <a:xfrm>
            <a:off x="976393" y="518765"/>
            <a:ext cx="10764260" cy="71139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/>
              <a:t>简单爬虫程序的基本步骤</a:t>
            </a:r>
            <a:endParaRPr lang="zh-CN" altLang="en-US" dirty="0"/>
          </a:p>
        </p:txBody>
      </p:sp>
      <p:sp>
        <p:nvSpPr>
          <p:cNvPr id="11" name="内容占位符 3"/>
          <p:cNvSpPr txBox="1"/>
          <p:nvPr/>
        </p:nvSpPr>
        <p:spPr>
          <a:xfrm>
            <a:off x="636305" y="1676400"/>
            <a:ext cx="9634830" cy="3505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z="3200" dirty="0"/>
              <a:t>获取网页源代码</a:t>
            </a:r>
            <a:endParaRPr lang="en-US" altLang="zh-CN" sz="3200" dirty="0"/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z="3200" dirty="0"/>
              <a:t>根据关注目标所在链接的特点写出正则表达式</a:t>
            </a:r>
            <a:endParaRPr lang="en-US" altLang="zh-CN" sz="3200" dirty="0"/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z="3200" dirty="0"/>
              <a:t>用正则表达式匹配获取目标链接</a:t>
            </a:r>
            <a:endParaRPr lang="en-US" altLang="zh-CN" sz="3200" dirty="0"/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z="3200" dirty="0"/>
              <a:t>用循环结构遍历目标链接并自动下载信息</a:t>
            </a:r>
            <a:endParaRPr lang="en-US" altLang="zh-CN" sz="32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296217" y="518765"/>
            <a:ext cx="680176" cy="711395"/>
            <a:chOff x="3820548" y="-894825"/>
            <a:chExt cx="1257690" cy="1257690"/>
          </a:xfrm>
        </p:grpSpPr>
        <p:sp>
          <p:nvSpPr>
            <p:cNvPr id="8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9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sp>
        <p:nvSpPr>
          <p:cNvPr id="10" name="标题 1"/>
          <p:cNvSpPr txBox="1"/>
          <p:nvPr/>
        </p:nvSpPr>
        <p:spPr>
          <a:xfrm>
            <a:off x="976393" y="518765"/>
            <a:ext cx="10764260" cy="71139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 err="1"/>
              <a:t>requests.get</a:t>
            </a:r>
            <a:r>
              <a:rPr lang="en-US" altLang="zh-CN" b="1" dirty="0"/>
              <a:t>()</a:t>
            </a:r>
            <a:r>
              <a:rPr lang="zh-CN" altLang="en-US" b="1" dirty="0"/>
              <a:t>方法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12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413" y="2270259"/>
            <a:ext cx="8439150" cy="251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内容占位符 2"/>
          <p:cNvSpPr txBox="1"/>
          <p:nvPr/>
        </p:nvSpPr>
        <p:spPr>
          <a:xfrm>
            <a:off x="976393" y="4976802"/>
            <a:ext cx="10476467" cy="1755467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spcBef>
                <a:spcPct val="20000"/>
              </a:spcBef>
              <a:buClr>
                <a:schemeClr val="accent5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：拟获取页面的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链接</a:t>
            </a: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ct val="20000"/>
              </a:spcBef>
              <a:buClr>
                <a:schemeClr val="accent5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params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中的额外参数（字典或字节流格式），可选</a:t>
            </a: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ct val="20000"/>
              </a:spcBef>
              <a:buClr>
                <a:schemeClr val="accent5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对象，包含爬虫返回的内容</a:t>
            </a: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76393" y="1454046"/>
            <a:ext cx="89877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accent5"/>
              </a:buClr>
              <a:defRPr/>
            </a:pP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r=</a:t>
            </a:r>
            <a:r>
              <a:rPr lang="en-US" altLang="zh-C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requests.get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params=None)</a:t>
            </a: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296217" y="518765"/>
            <a:ext cx="680176" cy="711395"/>
            <a:chOff x="3820548" y="-894825"/>
            <a:chExt cx="1257690" cy="1257690"/>
          </a:xfrm>
        </p:grpSpPr>
        <p:sp>
          <p:nvSpPr>
            <p:cNvPr id="8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9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sp>
        <p:nvSpPr>
          <p:cNvPr id="10" name="标题 1"/>
          <p:cNvSpPr txBox="1"/>
          <p:nvPr/>
        </p:nvSpPr>
        <p:spPr>
          <a:xfrm>
            <a:off x="976393" y="518765"/>
            <a:ext cx="10764260" cy="71139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/>
              <a:t>Response</a:t>
            </a:r>
            <a:r>
              <a:rPr lang="zh-CN" altLang="en-US" b="1" dirty="0"/>
              <a:t>对象的属性</a:t>
            </a:r>
            <a:endParaRPr lang="zh-CN" altLang="en-US" dirty="0"/>
          </a:p>
          <a:p>
            <a:endParaRPr lang="zh-CN" altLang="en-US" dirty="0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451347" y="1615183"/>
          <a:ext cx="11498580" cy="399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7570"/>
                <a:gridCol w="8081010"/>
              </a:tblGrid>
              <a:tr h="593457"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属性</a:t>
                      </a:r>
                      <a:endParaRPr lang="zh-CN" altLang="en-US" sz="2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说明</a:t>
                      </a:r>
                      <a:endParaRPr lang="zh-CN" altLang="en-US" sz="2800" dirty="0"/>
                    </a:p>
                  </a:txBody>
                  <a:tcPr marT="45713" marB="45713"/>
                </a:tc>
              </a:tr>
              <a:tr h="1024467">
                <a:tc>
                  <a:txBody>
                    <a:bodyPr/>
                    <a:lstStyle/>
                    <a:p>
                      <a:r>
                        <a:rPr lang="en-US" altLang="zh-CN" sz="2800" dirty="0" err="1"/>
                        <a:t>r.status_code</a:t>
                      </a:r>
                      <a:endParaRPr lang="zh-CN" altLang="en-US" sz="2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HTTP</a:t>
                      </a:r>
                      <a:r>
                        <a:rPr lang="zh-CN" altLang="en-US" sz="2800" dirty="0"/>
                        <a:t>请求的返回状态，</a:t>
                      </a:r>
                      <a:r>
                        <a:rPr lang="en-US" altLang="zh-CN" sz="2800" dirty="0"/>
                        <a:t>200</a:t>
                      </a:r>
                      <a:r>
                        <a:rPr lang="zh-CN" altLang="en-US" sz="2800" dirty="0"/>
                        <a:t>表示连接成功，</a:t>
                      </a:r>
                      <a:r>
                        <a:rPr lang="en-US" altLang="zh-CN" sz="2800" dirty="0"/>
                        <a:t>404</a:t>
                      </a:r>
                      <a:r>
                        <a:rPr lang="zh-CN" altLang="en-US" sz="2800" dirty="0"/>
                        <a:t>表示失败</a:t>
                      </a:r>
                      <a:endParaRPr lang="zh-CN" altLang="en-US" sz="2800" dirty="0"/>
                    </a:p>
                  </a:txBody>
                  <a:tcPr marT="45713" marB="45713"/>
                </a:tc>
              </a:tr>
              <a:tr h="593457">
                <a:tc>
                  <a:txBody>
                    <a:bodyPr/>
                    <a:lstStyle/>
                    <a:p>
                      <a:r>
                        <a:rPr lang="en-US" altLang="zh-CN" sz="2800" dirty="0" err="1"/>
                        <a:t>r.text</a:t>
                      </a:r>
                      <a:endParaRPr lang="zh-CN" altLang="en-US" sz="2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HTTP</a:t>
                      </a:r>
                      <a:r>
                        <a:rPr lang="zh-CN" altLang="en-US" sz="2800" dirty="0"/>
                        <a:t>响应内容的</a:t>
                      </a:r>
                      <a:r>
                        <a:rPr lang="zh-CN" altLang="en-US" sz="2800" dirty="0">
                          <a:solidFill>
                            <a:srgbClr val="FF0000"/>
                          </a:solidFill>
                        </a:rPr>
                        <a:t>字符串</a:t>
                      </a:r>
                      <a:r>
                        <a:rPr lang="zh-CN" altLang="en-US" sz="2800" dirty="0"/>
                        <a:t>形式</a:t>
                      </a:r>
                      <a:r>
                        <a:rPr lang="en-US" altLang="zh-CN" sz="2800" dirty="0"/>
                        <a:t>,</a:t>
                      </a:r>
                      <a:r>
                        <a:rPr lang="zh-CN" altLang="en-US" sz="2800" dirty="0"/>
                        <a:t>即</a:t>
                      </a:r>
                      <a:r>
                        <a:rPr lang="en-US" altLang="zh-CN" sz="2800" dirty="0" err="1"/>
                        <a:t>url</a:t>
                      </a:r>
                      <a:r>
                        <a:rPr lang="zh-CN" altLang="en-US" sz="2800" dirty="0"/>
                        <a:t>对应的页面内容</a:t>
                      </a:r>
                      <a:endParaRPr lang="zh-CN" altLang="en-US" sz="2800" dirty="0"/>
                    </a:p>
                  </a:txBody>
                  <a:tcPr marT="45713" marB="45713"/>
                </a:tc>
              </a:tr>
              <a:tr h="593457">
                <a:tc>
                  <a:txBody>
                    <a:bodyPr/>
                    <a:lstStyle/>
                    <a:p>
                      <a:r>
                        <a:rPr lang="en-US" altLang="zh-CN" sz="2800" dirty="0" err="1"/>
                        <a:t>r.content</a:t>
                      </a:r>
                      <a:endParaRPr lang="zh-CN" altLang="en-US" sz="2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HTTP</a:t>
                      </a:r>
                      <a:r>
                        <a:rPr lang="zh-CN" altLang="en-US" sz="2800" dirty="0"/>
                        <a:t>响应内容的</a:t>
                      </a:r>
                      <a:r>
                        <a:rPr lang="zh-CN" altLang="en-US" sz="2800" dirty="0">
                          <a:solidFill>
                            <a:srgbClr val="FF0000"/>
                          </a:solidFill>
                        </a:rPr>
                        <a:t>二进制</a:t>
                      </a:r>
                      <a:r>
                        <a:rPr lang="zh-CN" altLang="en-US" sz="2800" dirty="0"/>
                        <a:t>形式</a:t>
                      </a:r>
                      <a:endParaRPr lang="zh-CN" altLang="en-US" sz="2800" dirty="0"/>
                    </a:p>
                  </a:txBody>
                  <a:tcPr marT="45713" marB="45713"/>
                </a:tc>
              </a:tr>
              <a:tr h="593457">
                <a:tc>
                  <a:txBody>
                    <a:bodyPr/>
                    <a:lstStyle/>
                    <a:p>
                      <a:r>
                        <a:rPr lang="en-US" altLang="zh-CN" sz="2800" dirty="0" err="1"/>
                        <a:t>r.encoding</a:t>
                      </a:r>
                      <a:endParaRPr lang="zh-CN" altLang="en-US" sz="2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从</a:t>
                      </a:r>
                      <a:r>
                        <a:rPr lang="en-US" altLang="zh-CN" sz="2800" dirty="0"/>
                        <a:t>HTTP header</a:t>
                      </a:r>
                      <a:r>
                        <a:rPr lang="zh-CN" altLang="en-US" sz="2800" dirty="0"/>
                        <a:t>中猜测的响应内容编码方式</a:t>
                      </a:r>
                      <a:endParaRPr lang="zh-CN" altLang="en-US" sz="2800" dirty="0"/>
                    </a:p>
                  </a:txBody>
                  <a:tcPr marT="45713" marB="45713"/>
                </a:tc>
              </a:tr>
              <a:tr h="593457">
                <a:tc>
                  <a:txBody>
                    <a:bodyPr/>
                    <a:lstStyle/>
                    <a:p>
                      <a:r>
                        <a:rPr lang="en-US" altLang="zh-CN" sz="2800" dirty="0" err="1"/>
                        <a:t>r.apparent_encoding</a:t>
                      </a:r>
                      <a:endParaRPr lang="zh-CN" altLang="en-US" sz="2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从内容中分析出的响应内容编码方式（备选）</a:t>
                      </a:r>
                      <a:endParaRPr lang="zh-CN" altLang="en-US" sz="2800" dirty="0"/>
                    </a:p>
                  </a:txBody>
                  <a:tcPr marT="45713" marB="45713"/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296217" y="518765"/>
            <a:ext cx="680176" cy="711395"/>
            <a:chOff x="3820548" y="-894825"/>
            <a:chExt cx="1257690" cy="1257690"/>
          </a:xfrm>
        </p:grpSpPr>
        <p:sp>
          <p:nvSpPr>
            <p:cNvPr id="8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9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sp>
        <p:nvSpPr>
          <p:cNvPr id="10" name="标题 1"/>
          <p:cNvSpPr txBox="1"/>
          <p:nvPr/>
        </p:nvSpPr>
        <p:spPr>
          <a:xfrm>
            <a:off x="976393" y="518765"/>
            <a:ext cx="10764260" cy="71139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/>
              <a:t>re</a:t>
            </a:r>
            <a:r>
              <a:rPr lang="zh-CN" altLang="en-US" b="1" dirty="0"/>
              <a:t>库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679912" y="1239540"/>
            <a:ext cx="11390167" cy="2653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处理正则表达式的标准库是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re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模块主要方法</a:t>
            </a:r>
            <a:r>
              <a:rPr lang="zh-CN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buClr>
                <a:schemeClr val="accent1"/>
              </a:buClr>
              <a:buSzPct val="65000"/>
              <a:buNone/>
            </a:pPr>
            <a:r>
              <a:rPr lang="pt-BR" altLang="zh-CN" b="1" dirty="0">
                <a:solidFill>
                  <a:srgbClr val="FF0000"/>
                </a:solidFill>
              </a:rPr>
              <a:t>compile</a:t>
            </a:r>
            <a:r>
              <a:rPr lang="pt-BR" altLang="zh-CN" b="1" dirty="0"/>
              <a:t>(pattern[,flags</a:t>
            </a:r>
            <a:r>
              <a:rPr lang="pt-BR" altLang="zh-CN" b="1" dirty="0" smtClean="0"/>
              <a:t>])   </a:t>
            </a:r>
            <a:r>
              <a:rPr lang="pt-BR" altLang="zh-CN" dirty="0" smtClean="0"/>
              <a:t>#</a:t>
            </a:r>
            <a:r>
              <a:rPr lang="zh-CN" altLang="en-US" dirty="0"/>
              <a:t>创建模式</a:t>
            </a:r>
            <a:r>
              <a:rPr lang="zh-CN" altLang="en-US" dirty="0" smtClean="0"/>
              <a:t>对象  </a:t>
            </a:r>
            <a:r>
              <a:rPr lang="en-US" altLang="zh-CN" dirty="0">
                <a:solidFill>
                  <a:srgbClr val="FF0000"/>
                </a:solidFill>
              </a:rPr>
              <a:t>flag</a:t>
            </a:r>
            <a:r>
              <a:rPr lang="zh-CN" altLang="en-US" dirty="0">
                <a:solidFill>
                  <a:srgbClr val="FF0000"/>
                </a:solidFill>
              </a:rPr>
              <a:t>的常见</a:t>
            </a:r>
            <a:r>
              <a:rPr lang="zh-CN" altLang="en-US" dirty="0" smtClean="0">
                <a:solidFill>
                  <a:srgbClr val="FF0000"/>
                </a:solidFill>
              </a:rPr>
              <a:t>取值</a:t>
            </a:r>
            <a:r>
              <a:rPr lang="en-US" altLang="zh-CN" dirty="0" err="1" smtClean="0">
                <a:solidFill>
                  <a:srgbClr val="FF0000"/>
                </a:solidFill>
              </a:rPr>
              <a:t>re.I</a:t>
            </a:r>
            <a:r>
              <a:rPr lang="zh-CN" altLang="en-US" dirty="0">
                <a:solidFill>
                  <a:srgbClr val="FF0000"/>
                </a:solidFill>
              </a:rPr>
              <a:t>：忽略大小写。</a:t>
            </a:r>
            <a:endParaRPr lang="zh-CN" altLang="en-US" dirty="0">
              <a:solidFill>
                <a:srgbClr val="FF0000"/>
              </a:solidFill>
            </a:endParaRPr>
          </a:p>
          <a:p>
            <a:pPr marL="0" lvl="1" indent="0">
              <a:buClr>
                <a:schemeClr val="accent1"/>
              </a:buClr>
              <a:buSzPct val="65000"/>
              <a:buNone/>
            </a:pPr>
            <a:r>
              <a:rPr lang="pt-BR" altLang="zh-CN" b="1" dirty="0" smtClean="0">
                <a:solidFill>
                  <a:srgbClr val="FF0000"/>
                </a:solidFill>
              </a:rPr>
              <a:t>split</a:t>
            </a:r>
            <a:r>
              <a:rPr lang="pt-BR" altLang="zh-CN" b="1" dirty="0" smtClean="0"/>
              <a:t>(pattern,string</a:t>
            </a:r>
            <a:r>
              <a:rPr lang="pt-BR" altLang="zh-CN" b="1" dirty="0"/>
              <a:t>[,maxsplit=0</a:t>
            </a:r>
            <a:r>
              <a:rPr lang="pt-BR" altLang="zh-CN" b="1" dirty="0" smtClean="0"/>
              <a:t>])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BR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findall</a:t>
            </a:r>
            <a:r>
              <a:rPr lang="pt-BR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(pattern,string[,flags])   </a:t>
            </a:r>
            <a:r>
              <a:rPr lang="pt-BR" altLang="zh-CN" sz="2800" dirty="0"/>
              <a:t>#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</a:t>
            </a: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列表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形式返回全部能匹配的</a:t>
            </a: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子串</a:t>
            </a:r>
            <a:endParaRPr lang="en-US" altLang="zh-CN" sz="28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12" y="4061975"/>
            <a:ext cx="7485714" cy="1990476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679912" y="2381907"/>
            <a:ext cx="11237768" cy="50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679912" y="2889907"/>
            <a:ext cx="5385608" cy="51369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296217" y="518765"/>
            <a:ext cx="680176" cy="711395"/>
            <a:chOff x="3820548" y="-894825"/>
            <a:chExt cx="1257690" cy="1257690"/>
          </a:xfrm>
        </p:grpSpPr>
        <p:sp>
          <p:nvSpPr>
            <p:cNvPr id="8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9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sp>
        <p:nvSpPr>
          <p:cNvPr id="10" name="标题 1"/>
          <p:cNvSpPr txBox="1"/>
          <p:nvPr/>
        </p:nvSpPr>
        <p:spPr>
          <a:xfrm>
            <a:off x="976393" y="518765"/>
            <a:ext cx="10764260" cy="71139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/>
              <a:t>元字符</a:t>
            </a:r>
            <a:endParaRPr lang="zh-CN" altLang="en-US" dirty="0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0" y="1720200"/>
          <a:ext cx="12192000" cy="5308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20"/>
                <a:gridCol w="10888980"/>
              </a:tblGrid>
              <a:tr h="593457"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元字符</a:t>
                      </a:r>
                      <a:endParaRPr lang="zh-CN" altLang="en-US" sz="2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描述</a:t>
                      </a:r>
                      <a:endParaRPr lang="zh-CN" altLang="en-US" sz="2800" dirty="0"/>
                    </a:p>
                  </a:txBody>
                  <a:tcPr marT="45713" marB="45713"/>
                </a:tc>
              </a:tr>
              <a:tr h="84009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effectLst/>
                        </a:rPr>
                        <a:t>\</a:t>
                      </a:r>
                      <a:endParaRPr lang="en-US" altLang="zh-CN" sz="24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31750" marR="31750" marT="44450" marB="44450" anchor="ctr"/>
                </a:tc>
                <a:tc>
                  <a:txBody>
                    <a:bodyPr/>
                    <a:lstStyle/>
                    <a:p>
                      <a:pPr fontAlgn="t" latinLnBrk="1"/>
                      <a:r>
                        <a:rPr lang="zh-CN" altLang="en-US" sz="2400" dirty="0">
                          <a:effectLst/>
                          <a:latin typeface="Helvetica Neue"/>
                        </a:rPr>
                        <a:t>将下一个字符标记为一个特殊字符、或一个原义字符。例如，</a:t>
                      </a:r>
                      <a:r>
                        <a:rPr lang="en-US" altLang="zh-CN" sz="2400" dirty="0">
                          <a:effectLst/>
                          <a:latin typeface="Helvetica Neue"/>
                        </a:rPr>
                        <a:t>‘n' </a:t>
                      </a:r>
                      <a:r>
                        <a:rPr lang="zh-CN" altLang="en-US" sz="2400" dirty="0">
                          <a:effectLst/>
                          <a:latin typeface="Helvetica Neue"/>
                        </a:rPr>
                        <a:t>匹配字符</a:t>
                      </a:r>
                      <a:r>
                        <a:rPr lang="en-US" altLang="zh-CN" sz="2400" dirty="0">
                          <a:effectLst/>
                          <a:latin typeface="Helvetica Neue"/>
                        </a:rPr>
                        <a:t>n</a:t>
                      </a:r>
                      <a:r>
                        <a:rPr lang="zh-CN" altLang="en-US" sz="2400" dirty="0">
                          <a:effectLst/>
                          <a:latin typeface="Helvetica Neue"/>
                        </a:rPr>
                        <a:t>。</a:t>
                      </a:r>
                      <a:r>
                        <a:rPr lang="en-US" altLang="zh-CN" sz="2400" dirty="0">
                          <a:effectLst/>
                          <a:latin typeface="Helvetica Neue"/>
                        </a:rPr>
                        <a:t>‘\n' </a:t>
                      </a:r>
                      <a:r>
                        <a:rPr lang="zh-CN" altLang="en-US" sz="2400" dirty="0">
                          <a:effectLst/>
                          <a:latin typeface="Helvetica Neue"/>
                        </a:rPr>
                        <a:t>匹配一个换行符。</a:t>
                      </a:r>
                      <a:endParaRPr lang="zh-CN" altLang="en-US" sz="2400" dirty="0">
                        <a:effectLst/>
                        <a:latin typeface="Helvetica Neue"/>
                      </a:endParaRPr>
                    </a:p>
                  </a:txBody>
                  <a:tcPr marL="31750" marR="31750" marT="44450" marB="44450"/>
                </a:tc>
              </a:tr>
              <a:tr h="593457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400" b="1" dirty="0">
                          <a:solidFill>
                            <a:srgbClr val="FF0000"/>
                          </a:solidFill>
                          <a:effectLst/>
                        </a:rPr>
                        <a:t>*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31750" marR="31750" marT="44450" marB="44450" anchor="ctr"/>
                </a:tc>
                <a:tc>
                  <a:txBody>
                    <a:bodyPr/>
                    <a:lstStyle/>
                    <a:p>
                      <a:pPr fontAlgn="t" latinLnBrk="1"/>
                      <a:r>
                        <a:rPr lang="zh-CN" altLang="en-US" sz="2400" dirty="0">
                          <a:effectLst/>
                          <a:latin typeface="Helvetica Neue"/>
                        </a:rPr>
                        <a:t>匹配</a:t>
                      </a:r>
                      <a:r>
                        <a:rPr lang="zh-CN" altLang="en-US" sz="2400" dirty="0">
                          <a:solidFill>
                            <a:srgbClr val="FF0000"/>
                          </a:solidFill>
                          <a:effectLst/>
                          <a:latin typeface="Helvetica Neue"/>
                        </a:rPr>
                        <a:t>前面的</a:t>
                      </a:r>
                      <a:r>
                        <a:rPr lang="zh-CN" altLang="en-US" sz="2400" dirty="0">
                          <a:effectLst/>
                          <a:latin typeface="Helvetica Neue"/>
                        </a:rPr>
                        <a:t>子表达式</a:t>
                      </a:r>
                      <a:r>
                        <a:rPr lang="zh-CN" altLang="en-US" sz="2400" b="1" dirty="0">
                          <a:solidFill>
                            <a:schemeClr val="accent1"/>
                          </a:solidFill>
                          <a:effectLst/>
                          <a:latin typeface="Helvetica Neue"/>
                        </a:rPr>
                        <a:t>零次、一次或多次</a:t>
                      </a:r>
                      <a:r>
                        <a:rPr lang="zh-CN" altLang="en-US" sz="2400" dirty="0">
                          <a:effectLst/>
                          <a:latin typeface="Helvetica Neue"/>
                        </a:rPr>
                        <a:t>。例如，</a:t>
                      </a:r>
                      <a:r>
                        <a:rPr lang="en-US" sz="2400" dirty="0">
                          <a:effectLst/>
                          <a:latin typeface="Helvetica Neue"/>
                        </a:rPr>
                        <a:t>zo* </a:t>
                      </a:r>
                      <a:r>
                        <a:rPr lang="zh-CN" altLang="en-US" sz="2400" dirty="0">
                          <a:effectLst/>
                          <a:latin typeface="Helvetica Neue"/>
                        </a:rPr>
                        <a:t>能匹配 </a:t>
                      </a:r>
                      <a:r>
                        <a:rPr lang="en-US" altLang="zh-CN" sz="2400" dirty="0">
                          <a:effectLst/>
                          <a:latin typeface="Helvetica Neue"/>
                        </a:rPr>
                        <a:t>“</a:t>
                      </a:r>
                      <a:r>
                        <a:rPr lang="en-US" sz="2400" dirty="0">
                          <a:effectLst/>
                          <a:latin typeface="Helvetica Neue"/>
                        </a:rPr>
                        <a:t>z” </a:t>
                      </a:r>
                      <a:r>
                        <a:rPr lang="zh-CN" altLang="en-US" sz="2400" dirty="0">
                          <a:effectLst/>
                          <a:latin typeface="Helvetica Neue"/>
                        </a:rPr>
                        <a:t>、</a:t>
                      </a:r>
                      <a:r>
                        <a:rPr lang="en-US" altLang="zh-CN" sz="2400" dirty="0">
                          <a:effectLst/>
                          <a:latin typeface="Helvetica Neue"/>
                        </a:rPr>
                        <a:t>"zo"</a:t>
                      </a:r>
                      <a:r>
                        <a:rPr lang="zh-CN" altLang="en-US" sz="2400" dirty="0">
                          <a:effectLst/>
                          <a:latin typeface="Helvetica Neue"/>
                        </a:rPr>
                        <a:t>以及 </a:t>
                      </a:r>
                      <a:r>
                        <a:rPr lang="en-US" altLang="zh-CN" sz="2400" dirty="0">
                          <a:effectLst/>
                          <a:latin typeface="Helvetica Neue"/>
                        </a:rPr>
                        <a:t>"</a:t>
                      </a:r>
                      <a:r>
                        <a:rPr lang="en-US" sz="2400" dirty="0">
                          <a:effectLst/>
                          <a:latin typeface="Helvetica Neue"/>
                        </a:rPr>
                        <a:t>zoo"</a:t>
                      </a:r>
                      <a:endParaRPr lang="zh-CN" altLang="en-US" sz="2400" dirty="0">
                        <a:effectLst/>
                        <a:latin typeface="Helvetica Neue"/>
                      </a:endParaRPr>
                    </a:p>
                  </a:txBody>
                  <a:tcPr marL="31750" marR="31750" marT="44450" marB="44450"/>
                </a:tc>
              </a:tr>
              <a:tr h="593457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effectLst/>
                        </a:rPr>
                        <a:t>+</a:t>
                      </a:r>
                      <a:endParaRPr lang="en-US" altLang="zh-CN" sz="24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31750" marR="31750" marT="44450" marB="44450" anchor="ctr"/>
                </a:tc>
                <a:tc>
                  <a:txBody>
                    <a:bodyPr/>
                    <a:lstStyle/>
                    <a:p>
                      <a:pPr fontAlgn="t" latinLnBrk="1"/>
                      <a:r>
                        <a:rPr lang="zh-CN" altLang="en-US" sz="2400" dirty="0">
                          <a:effectLst/>
                          <a:latin typeface="Helvetica Neue"/>
                        </a:rPr>
                        <a:t>匹配</a:t>
                      </a:r>
                      <a:r>
                        <a:rPr lang="zh-CN" altLang="en-US" sz="2400" dirty="0">
                          <a:solidFill>
                            <a:srgbClr val="FF0000"/>
                          </a:solidFill>
                          <a:effectLst/>
                          <a:latin typeface="Helvetica Neue"/>
                        </a:rPr>
                        <a:t>前面的</a:t>
                      </a:r>
                      <a:r>
                        <a:rPr lang="zh-CN" altLang="en-US" sz="2400" dirty="0">
                          <a:effectLst/>
                          <a:latin typeface="Helvetica Neue"/>
                        </a:rPr>
                        <a:t>子表达式</a:t>
                      </a:r>
                      <a:r>
                        <a:rPr lang="zh-CN" altLang="en-US" sz="2400" b="1" dirty="0">
                          <a:solidFill>
                            <a:schemeClr val="accent1"/>
                          </a:solidFill>
                          <a:effectLst/>
                          <a:latin typeface="Helvetica Neue"/>
                        </a:rPr>
                        <a:t>一次或多次</a:t>
                      </a:r>
                      <a:r>
                        <a:rPr lang="zh-CN" altLang="en-US" sz="2400" dirty="0">
                          <a:effectLst/>
                          <a:latin typeface="Helvetica Neue"/>
                        </a:rPr>
                        <a:t>。例如，</a:t>
                      </a:r>
                      <a:r>
                        <a:rPr lang="en-US" altLang="zh-CN" sz="2400" dirty="0">
                          <a:effectLst/>
                          <a:latin typeface="Helvetica Neue"/>
                        </a:rPr>
                        <a:t>'</a:t>
                      </a:r>
                      <a:r>
                        <a:rPr lang="en-US" sz="2400" dirty="0">
                          <a:effectLst/>
                          <a:latin typeface="Helvetica Neue"/>
                        </a:rPr>
                        <a:t>zo+' </a:t>
                      </a:r>
                      <a:r>
                        <a:rPr lang="zh-CN" altLang="en-US" sz="2400" dirty="0">
                          <a:effectLst/>
                          <a:latin typeface="Helvetica Neue"/>
                        </a:rPr>
                        <a:t>能匹配 </a:t>
                      </a:r>
                      <a:r>
                        <a:rPr lang="en-US" altLang="zh-CN" sz="2400" dirty="0">
                          <a:effectLst/>
                          <a:latin typeface="Helvetica Neue"/>
                        </a:rPr>
                        <a:t>"</a:t>
                      </a:r>
                      <a:r>
                        <a:rPr lang="en-US" sz="2400" dirty="0">
                          <a:effectLst/>
                          <a:latin typeface="Helvetica Neue"/>
                        </a:rPr>
                        <a:t>zo" </a:t>
                      </a:r>
                      <a:r>
                        <a:rPr lang="zh-CN" altLang="en-US" sz="2400" dirty="0">
                          <a:effectLst/>
                          <a:latin typeface="Helvetica Neue"/>
                        </a:rPr>
                        <a:t>以及 </a:t>
                      </a:r>
                      <a:r>
                        <a:rPr lang="en-US" altLang="zh-CN" sz="2400" dirty="0">
                          <a:effectLst/>
                          <a:latin typeface="Helvetica Neue"/>
                        </a:rPr>
                        <a:t>"</a:t>
                      </a:r>
                      <a:r>
                        <a:rPr lang="en-US" sz="2400" dirty="0">
                          <a:effectLst/>
                          <a:latin typeface="Helvetica Neue"/>
                        </a:rPr>
                        <a:t>zoo"，</a:t>
                      </a:r>
                      <a:r>
                        <a:rPr lang="zh-CN" altLang="en-US" sz="2400" dirty="0">
                          <a:effectLst/>
                          <a:latin typeface="Helvetica Neue"/>
                        </a:rPr>
                        <a:t>但不能匹配 </a:t>
                      </a:r>
                      <a:r>
                        <a:rPr lang="en-US" altLang="zh-CN" sz="2400" dirty="0">
                          <a:effectLst/>
                          <a:latin typeface="Helvetica Neue"/>
                        </a:rPr>
                        <a:t>"</a:t>
                      </a:r>
                      <a:r>
                        <a:rPr lang="en-US" sz="2400" dirty="0">
                          <a:effectLst/>
                          <a:latin typeface="Helvetica Neue"/>
                        </a:rPr>
                        <a:t>z"。</a:t>
                      </a:r>
                      <a:endParaRPr lang="zh-CN" altLang="en-US" sz="2400" dirty="0">
                        <a:effectLst/>
                        <a:latin typeface="Helvetica Neue"/>
                      </a:endParaRPr>
                    </a:p>
                  </a:txBody>
                  <a:tcPr marL="31750" marR="31750" marT="44450" marB="44450"/>
                </a:tc>
              </a:tr>
              <a:tr h="593457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effectLst/>
                        </a:rPr>
                        <a:t>?</a:t>
                      </a:r>
                      <a:endParaRPr lang="en-US" altLang="zh-CN" sz="24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31750" marR="31750" marT="44450" marB="44450" anchor="ctr"/>
                </a:tc>
                <a:tc>
                  <a:txBody>
                    <a:bodyPr/>
                    <a:lstStyle/>
                    <a:p>
                      <a:pPr fontAlgn="t" latinLnBrk="1"/>
                      <a:r>
                        <a:rPr lang="zh-CN" altLang="en-US" sz="2400" dirty="0">
                          <a:effectLst/>
                          <a:latin typeface="Helvetica Neue"/>
                        </a:rPr>
                        <a:t>匹配</a:t>
                      </a:r>
                      <a:r>
                        <a:rPr lang="zh-CN" altLang="en-US" sz="2400" dirty="0">
                          <a:solidFill>
                            <a:srgbClr val="FF0000"/>
                          </a:solidFill>
                          <a:effectLst/>
                          <a:latin typeface="Helvetica Neue"/>
                        </a:rPr>
                        <a:t>前面的</a:t>
                      </a:r>
                      <a:r>
                        <a:rPr lang="zh-CN" altLang="en-US" sz="2400" dirty="0">
                          <a:effectLst/>
                          <a:latin typeface="Helvetica Neue"/>
                        </a:rPr>
                        <a:t>子表达式</a:t>
                      </a:r>
                      <a:r>
                        <a:rPr lang="zh-CN" altLang="en-US" sz="2400" b="1" dirty="0">
                          <a:solidFill>
                            <a:schemeClr val="accent1"/>
                          </a:solidFill>
                          <a:effectLst/>
                          <a:latin typeface="Helvetica Neue"/>
                        </a:rPr>
                        <a:t>零次或一次</a:t>
                      </a:r>
                      <a:r>
                        <a:rPr lang="zh-CN" altLang="en-US" sz="2400" dirty="0">
                          <a:effectLst/>
                          <a:latin typeface="Helvetica Neue"/>
                        </a:rPr>
                        <a:t>。例如，</a:t>
                      </a:r>
                      <a:r>
                        <a:rPr lang="en-US" altLang="zh-CN" sz="2400" dirty="0">
                          <a:effectLst/>
                          <a:latin typeface="Helvetica Neue"/>
                        </a:rPr>
                        <a:t>"</a:t>
                      </a:r>
                      <a:r>
                        <a:rPr lang="en-US" sz="2400" dirty="0">
                          <a:effectLst/>
                          <a:latin typeface="Helvetica Neue"/>
                        </a:rPr>
                        <a:t>do(es)?" </a:t>
                      </a:r>
                      <a:r>
                        <a:rPr lang="zh-CN" altLang="en-US" sz="2400" dirty="0">
                          <a:effectLst/>
                          <a:latin typeface="Helvetica Neue"/>
                        </a:rPr>
                        <a:t>可以匹配 </a:t>
                      </a:r>
                      <a:r>
                        <a:rPr lang="en-US" altLang="zh-CN" sz="2400" dirty="0">
                          <a:effectLst/>
                          <a:latin typeface="Helvetica Neue"/>
                        </a:rPr>
                        <a:t>"</a:t>
                      </a:r>
                      <a:r>
                        <a:rPr lang="en-US" sz="2400" dirty="0">
                          <a:effectLst/>
                          <a:latin typeface="Helvetica Neue"/>
                        </a:rPr>
                        <a:t>do" </a:t>
                      </a:r>
                      <a:r>
                        <a:rPr lang="zh-CN" altLang="en-US" sz="2400" dirty="0">
                          <a:effectLst/>
                          <a:latin typeface="Helvetica Neue"/>
                        </a:rPr>
                        <a:t>或 </a:t>
                      </a:r>
                      <a:r>
                        <a:rPr lang="en-US" altLang="zh-CN" sz="2400" dirty="0">
                          <a:effectLst/>
                          <a:latin typeface="Helvetica Neue"/>
                        </a:rPr>
                        <a:t>"</a:t>
                      </a:r>
                      <a:r>
                        <a:rPr lang="en-US" sz="2400" dirty="0">
                          <a:effectLst/>
                          <a:latin typeface="Helvetica Neue"/>
                        </a:rPr>
                        <a:t>does" 。</a:t>
                      </a:r>
                      <a:endParaRPr lang="zh-CN" altLang="en-US" sz="2400" dirty="0">
                        <a:effectLst/>
                        <a:latin typeface="Helvetica Neue"/>
                      </a:endParaRPr>
                    </a:p>
                  </a:txBody>
                  <a:tcPr marL="31750" marR="31750" marT="44450" marB="44450"/>
                </a:tc>
              </a:tr>
              <a:tr h="593457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effectLst/>
                        </a:rPr>
                        <a:t>.</a:t>
                      </a:r>
                      <a:endParaRPr lang="en-US" altLang="zh-CN" sz="24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31750" marR="31750" marT="44450" marB="44450" anchor="ctr"/>
                </a:tc>
                <a:tc>
                  <a:txBody>
                    <a:bodyPr/>
                    <a:lstStyle/>
                    <a:p>
                      <a:pPr fontAlgn="t" latinLnBrk="1"/>
                      <a:r>
                        <a:rPr lang="zh-CN" altLang="en-US" sz="2400" dirty="0">
                          <a:effectLst/>
                          <a:latin typeface="Helvetica Neue"/>
                        </a:rPr>
                        <a:t>匹配除换行符（</a:t>
                      </a:r>
                      <a:r>
                        <a:rPr lang="en-US" altLang="zh-CN" sz="2400" dirty="0">
                          <a:effectLst/>
                          <a:latin typeface="Helvetica Neue"/>
                        </a:rPr>
                        <a:t>\</a:t>
                      </a:r>
                      <a:r>
                        <a:rPr lang="en-US" sz="2400" dirty="0">
                          <a:effectLst/>
                          <a:latin typeface="Helvetica Neue"/>
                        </a:rPr>
                        <a:t>n、\r）</a:t>
                      </a:r>
                      <a:r>
                        <a:rPr lang="zh-CN" altLang="en-US" sz="2400" dirty="0">
                          <a:effectLst/>
                          <a:latin typeface="Helvetica Neue"/>
                        </a:rPr>
                        <a:t>之外的任何</a:t>
                      </a:r>
                      <a:r>
                        <a:rPr lang="zh-CN" altLang="en-US" sz="2400" b="1" dirty="0">
                          <a:solidFill>
                            <a:srgbClr val="FF0000"/>
                          </a:solidFill>
                          <a:effectLst/>
                          <a:latin typeface="Helvetica Neue"/>
                        </a:rPr>
                        <a:t>单个</a:t>
                      </a:r>
                      <a:r>
                        <a:rPr lang="zh-CN" altLang="en-US" sz="2400" dirty="0">
                          <a:effectLst/>
                          <a:latin typeface="Helvetica Neue"/>
                        </a:rPr>
                        <a:t>字符。要匹配包括 </a:t>
                      </a:r>
                      <a:r>
                        <a:rPr lang="en-US" altLang="zh-CN" sz="2400" dirty="0">
                          <a:effectLst/>
                          <a:latin typeface="Helvetica Neue"/>
                        </a:rPr>
                        <a:t>'\</a:t>
                      </a:r>
                      <a:r>
                        <a:rPr lang="en-US" sz="2400" dirty="0">
                          <a:effectLst/>
                          <a:latin typeface="Helvetica Neue"/>
                        </a:rPr>
                        <a:t>n' </a:t>
                      </a:r>
                      <a:r>
                        <a:rPr lang="zh-CN" altLang="en-US" sz="2400" dirty="0">
                          <a:effectLst/>
                          <a:latin typeface="Helvetica Neue"/>
                        </a:rPr>
                        <a:t>在内的任何字符，请使用像</a:t>
                      </a:r>
                      <a:r>
                        <a:rPr lang="en-US" altLang="zh-CN" sz="2400" dirty="0">
                          <a:effectLst/>
                          <a:latin typeface="Helvetica Neue"/>
                        </a:rPr>
                        <a:t>"</a:t>
                      </a:r>
                      <a:r>
                        <a:rPr lang="en-US" altLang="zh-CN" sz="2400" b="1" dirty="0">
                          <a:effectLst/>
                          <a:latin typeface="Helvetica Neue"/>
                        </a:rPr>
                        <a:t>(.</a:t>
                      </a: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effectLst/>
                          <a:latin typeface="Helvetica Neue"/>
                        </a:rPr>
                        <a:t>|</a:t>
                      </a:r>
                      <a:r>
                        <a:rPr lang="en-US" altLang="zh-CN" sz="2400" b="1" dirty="0">
                          <a:effectLst/>
                          <a:latin typeface="Helvetica Neue"/>
                        </a:rPr>
                        <a:t>\</a:t>
                      </a:r>
                      <a:r>
                        <a:rPr lang="en-US" sz="2400" b="1" dirty="0">
                          <a:effectLst/>
                          <a:latin typeface="Helvetica Neue"/>
                        </a:rPr>
                        <a:t>n)</a:t>
                      </a:r>
                      <a:r>
                        <a:rPr lang="en-US" sz="2400" dirty="0">
                          <a:effectLst/>
                          <a:latin typeface="Helvetica Neue"/>
                        </a:rPr>
                        <a:t>"</a:t>
                      </a:r>
                      <a:r>
                        <a:rPr lang="zh-CN" altLang="en-US" sz="2400" dirty="0">
                          <a:effectLst/>
                          <a:latin typeface="Helvetica Neue"/>
                        </a:rPr>
                        <a:t>的模式。</a:t>
                      </a:r>
                      <a:endParaRPr lang="zh-CN" altLang="en-US" sz="2400" dirty="0">
                        <a:effectLst/>
                        <a:latin typeface="Helvetica Neue"/>
                      </a:endParaRPr>
                    </a:p>
                  </a:txBody>
                  <a:tcPr marL="31750" marR="31750" marT="44450" marB="44450"/>
                </a:tc>
              </a:tr>
              <a:tr h="593457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400" b="1" dirty="0">
                          <a:solidFill>
                            <a:srgbClr val="FF0000"/>
                          </a:solidFill>
                          <a:effectLst/>
                        </a:rPr>
                        <a:t>（）</a:t>
                      </a:r>
                      <a:endParaRPr lang="en-US" altLang="zh-CN" sz="24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31750" marR="31750" marT="44450" marB="44450" anchor="ctr"/>
                </a:tc>
                <a:tc>
                  <a:txBody>
                    <a:bodyPr/>
                    <a:lstStyle/>
                    <a:p>
                      <a:pPr fontAlgn="t" latinLnBrk="1"/>
                      <a:r>
                        <a:rPr lang="zh-CN" altLang="en-US" sz="2400" dirty="0">
                          <a:effectLst/>
                          <a:latin typeface="Helvetica Neue"/>
                        </a:rPr>
                        <a:t>界定一个</a:t>
                      </a:r>
                      <a:r>
                        <a:rPr lang="zh-CN" altLang="en-US" sz="2400" b="1" kern="1200" dirty="0">
                          <a:solidFill>
                            <a:srgbClr val="FF0000"/>
                          </a:solidFill>
                          <a:effectLst/>
                          <a:latin typeface="Helvetica Neue"/>
                          <a:ea typeface="+mn-ea"/>
                          <a:cs typeface="+mn-cs"/>
                        </a:rPr>
                        <a:t>整体</a:t>
                      </a:r>
                      <a:r>
                        <a:rPr lang="zh-CN" altLang="en-US" sz="2400" dirty="0">
                          <a:effectLst/>
                          <a:latin typeface="Helvetica Neue"/>
                        </a:rPr>
                        <a:t>或</a:t>
                      </a:r>
                      <a:r>
                        <a:rPr lang="zh-CN" altLang="en-US" sz="2400" b="1" kern="1200" dirty="0">
                          <a:solidFill>
                            <a:srgbClr val="FF0000"/>
                          </a:solidFill>
                          <a:effectLst/>
                          <a:latin typeface="Helvetica Neue"/>
                          <a:ea typeface="+mn-ea"/>
                          <a:cs typeface="+mn-cs"/>
                        </a:rPr>
                        <a:t>子模式</a:t>
                      </a:r>
                      <a:endParaRPr lang="zh-CN" altLang="en-US" sz="2400" b="1" kern="1200" dirty="0">
                        <a:solidFill>
                          <a:srgbClr val="FF0000"/>
                        </a:solidFill>
                        <a:effectLst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31750" marR="31750" marT="44450" marB="44450"/>
                </a:tc>
              </a:tr>
            </a:tbl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713870" y="1211945"/>
            <a:ext cx="114781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正则表达式是一种文本模式，包括</a:t>
            </a:r>
            <a:r>
              <a:rPr lang="zh-CN" altLang="en-US" sz="2400" b="1" dirty="0"/>
              <a:t>普通字符</a:t>
            </a:r>
            <a:r>
              <a:rPr lang="zh-CN" altLang="en-US" sz="2400" dirty="0"/>
              <a:t>（例如，</a:t>
            </a:r>
            <a:r>
              <a:rPr lang="en-US" altLang="zh-CN" sz="2400" dirty="0"/>
              <a:t>a </a:t>
            </a:r>
            <a:r>
              <a:rPr lang="zh-CN" altLang="en-US" sz="2400" dirty="0"/>
              <a:t>到 </a:t>
            </a:r>
            <a:r>
              <a:rPr lang="en-US" altLang="zh-CN" sz="2400" dirty="0"/>
              <a:t>z </a:t>
            </a:r>
            <a:r>
              <a:rPr lang="zh-CN" altLang="en-US" sz="2400" dirty="0"/>
              <a:t>之间的字母）和</a:t>
            </a:r>
            <a:r>
              <a:rPr lang="zh-CN" altLang="en-US" sz="2400" b="1" dirty="0"/>
              <a:t>特殊字符</a:t>
            </a:r>
            <a:endParaRPr lang="en-US" altLang="zh-CN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 dirty="0">
                <a:effectLst/>
              </a:rPr>
              <a:t>贪婪匹配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421001" y="1324102"/>
            <a:ext cx="11830050" cy="5040560"/>
          </a:xfrm>
        </p:spPr>
        <p:txBody>
          <a:bodyPr/>
          <a:lstStyle/>
          <a:p>
            <a:r>
              <a:rPr lang="zh-CN" altLang="zh-CN" b="1" dirty="0"/>
              <a:t>贪婪匹配</a:t>
            </a:r>
            <a:r>
              <a:rPr lang="zh-CN" altLang="zh-CN" dirty="0"/>
              <a:t>是一种</a:t>
            </a:r>
            <a:r>
              <a:rPr lang="zh-CN" altLang="zh-CN" b="1" dirty="0"/>
              <a:t>尽可能多地匹配字符</a:t>
            </a:r>
            <a:r>
              <a:rPr lang="zh-CN" altLang="zh-CN" dirty="0"/>
              <a:t>的匹配模式</a:t>
            </a:r>
            <a:endParaRPr lang="en-US" altLang="zh-CN" dirty="0"/>
          </a:p>
          <a:p>
            <a:r>
              <a:rPr lang="zh-CN" altLang="zh-CN" dirty="0"/>
              <a:t>贪婪匹配是</a:t>
            </a:r>
            <a:r>
              <a:rPr lang="en-US" altLang="zh-CN" dirty="0"/>
              <a:t>re</a:t>
            </a:r>
            <a:r>
              <a:rPr lang="zh-CN" altLang="en-US" dirty="0"/>
              <a:t>库</a:t>
            </a:r>
            <a:r>
              <a:rPr lang="zh-CN" altLang="zh-CN" dirty="0"/>
              <a:t>正</a:t>
            </a:r>
            <a:r>
              <a:rPr lang="zh-CN" altLang="en-US" dirty="0"/>
              <a:t>则</a:t>
            </a:r>
            <a:r>
              <a:rPr lang="zh-CN" altLang="zh-CN" dirty="0"/>
              <a:t>表达式</a:t>
            </a:r>
            <a:r>
              <a:rPr lang="zh-CN" altLang="zh-CN" b="1" dirty="0">
                <a:solidFill>
                  <a:srgbClr val="FF0000"/>
                </a:solidFill>
              </a:rPr>
              <a:t>默认</a:t>
            </a:r>
            <a:r>
              <a:rPr lang="zh-CN" altLang="zh-CN" dirty="0"/>
              <a:t>的匹配方式</a:t>
            </a:r>
            <a:r>
              <a:rPr lang="zh-CN" altLang="en-US" dirty="0"/>
              <a:t>，即输出匹配的最长的子串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005250" y="4435615"/>
            <a:ext cx="76218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用</a:t>
            </a:r>
            <a:r>
              <a:rPr lang="en-US" altLang="zh-CN" sz="3200" dirty="0"/>
              <a:t>‘</a:t>
            </a:r>
            <a:r>
              <a:rPr lang="en-US" altLang="zh-CN" sz="3200" b="1" dirty="0">
                <a:solidFill>
                  <a:srgbClr val="FF0000"/>
                </a:solidFill>
              </a:rPr>
              <a:t>?</a:t>
            </a:r>
            <a:r>
              <a:rPr lang="en-US" altLang="zh-CN" sz="3200" dirty="0"/>
              <a:t>‘</a:t>
            </a:r>
            <a:r>
              <a:rPr lang="zh-CN" altLang="en-US" sz="3200" dirty="0"/>
              <a:t>使得</a:t>
            </a:r>
            <a:r>
              <a:rPr lang="en-US" altLang="zh-CN" sz="3200" dirty="0"/>
              <a:t>’.*’</a:t>
            </a:r>
            <a:r>
              <a:rPr lang="zh-CN" altLang="en-US" sz="3200" dirty="0"/>
              <a:t>采用</a:t>
            </a:r>
            <a:r>
              <a:rPr lang="zh-CN" altLang="en-US" sz="3200" dirty="0">
                <a:solidFill>
                  <a:srgbClr val="FF0000"/>
                </a:solidFill>
              </a:rPr>
              <a:t>非</a:t>
            </a:r>
            <a:r>
              <a:rPr lang="zh-CN" altLang="en-US" sz="3200" dirty="0"/>
              <a:t>贪婪匹配（最小匹配）</a:t>
            </a:r>
            <a:endParaRPr lang="zh-CN" altLang="en-US" sz="3200" dirty="0"/>
          </a:p>
        </p:txBody>
      </p:sp>
      <p:sp>
        <p:nvSpPr>
          <p:cNvPr id="7" name="文本框 6"/>
          <p:cNvSpPr txBox="1"/>
          <p:nvPr/>
        </p:nvSpPr>
        <p:spPr>
          <a:xfrm>
            <a:off x="651143" y="2587113"/>
            <a:ext cx="681397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re.findall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"ab.*c","abcbbbbbc</a:t>
            </a:r>
            <a:r>
              <a:rPr lang="en-US" altLang="zh-C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en-US" altLang="zh-CN" sz="28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abcbbbbbc</a:t>
            </a:r>
            <a:r>
              <a:rPr lang="en-US" altLang="zh-CN" sz="2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']</a:t>
            </a:r>
            <a:endParaRPr lang="en-US" altLang="zh-CN" sz="28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re.findall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"ab.*</a:t>
            </a:r>
            <a:r>
              <a:rPr lang="en-US" altLang="zh-C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c","abcbbbbbc</a:t>
            </a:r>
            <a:r>
              <a:rPr lang="en-US" altLang="zh-C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en-US" altLang="zh-CN" sz="28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US" altLang="zh-CN" sz="2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']</a:t>
            </a:r>
            <a:endParaRPr lang="zh-CN" altLang="en-US" sz="28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296217" y="518765"/>
            <a:ext cx="680176" cy="711395"/>
            <a:chOff x="3820548" y="-894825"/>
            <a:chExt cx="1257690" cy="1257690"/>
          </a:xfrm>
        </p:grpSpPr>
        <p:sp>
          <p:nvSpPr>
            <p:cNvPr id="8" name="圆形 15"/>
            <p:cNvSpPr/>
            <p:nvPr/>
          </p:nvSpPr>
          <p:spPr>
            <a:xfrm>
              <a:off x="3820548" y="-89482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9" name="图形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07393" y="-607980"/>
              <a:ext cx="684000" cy="684000"/>
            </a:xfrm>
            <a:prstGeom prst="rect">
              <a:avLst/>
            </a:prstGeom>
          </p:spPr>
        </p:pic>
      </p:grpSp>
      <p:sp>
        <p:nvSpPr>
          <p:cNvPr id="10" name="标题 1"/>
          <p:cNvSpPr txBox="1"/>
          <p:nvPr/>
        </p:nvSpPr>
        <p:spPr>
          <a:xfrm>
            <a:off x="976393" y="518765"/>
            <a:ext cx="10764260" cy="71139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/>
              <a:t>示例</a:t>
            </a:r>
            <a:r>
              <a:rPr lang="en-US" altLang="zh-CN" b="1" dirty="0"/>
              <a:t>-</a:t>
            </a:r>
            <a:r>
              <a:rPr lang="zh-CN" altLang="en-US" b="1" dirty="0"/>
              <a:t>代码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/>
          <a:srcRect l="455" t="7564" r="6682" b="31834"/>
          <a:stretch>
            <a:fillRect/>
          </a:stretch>
        </p:blipFill>
        <p:spPr>
          <a:xfrm>
            <a:off x="976393" y="1230160"/>
            <a:ext cx="10099904" cy="5392753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8</a:t>
            </a:r>
            <a:r>
              <a:rPr lang="zh-CN" altLang="en-US" dirty="0"/>
              <a:t>章  图形化界面设计</a:t>
            </a:r>
            <a:endParaRPr lang="zh-CN" altLang="en-US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内容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sym typeface="Wingdings" panose="05000000000000000000"/>
              </a:rPr>
              <a:t></a:t>
            </a:r>
            <a:r>
              <a:rPr lang="en-US" altLang="zh-CN" dirty="0"/>
              <a:t> </a:t>
            </a:r>
            <a:r>
              <a:rPr lang="zh-CN" altLang="zh-CN" dirty="0"/>
              <a:t>理解</a:t>
            </a:r>
            <a:r>
              <a:rPr lang="zh-CN" altLang="zh-CN" b="1" dirty="0"/>
              <a:t>按钮、标签、输入框、文本框</a:t>
            </a:r>
            <a:r>
              <a:rPr lang="zh-CN" altLang="zh-CN" dirty="0"/>
              <a:t>、单选按钮、复选框等可视化控件的功能。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>
                <a:sym typeface="Wingdings" panose="05000000000000000000"/>
              </a:rPr>
              <a:t></a:t>
            </a:r>
            <a:r>
              <a:rPr lang="en-US" altLang="zh-CN" dirty="0"/>
              <a:t> </a:t>
            </a:r>
            <a:r>
              <a:rPr lang="zh-CN" altLang="zh-CN" dirty="0"/>
              <a:t>掌握</a:t>
            </a:r>
            <a:r>
              <a:rPr lang="en-US" altLang="zh-CN" dirty="0" err="1"/>
              <a:t>tkinter</a:t>
            </a:r>
            <a:r>
              <a:rPr lang="zh-CN" altLang="zh-CN" dirty="0"/>
              <a:t>控件的共同属性和特有属性。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>
                <a:sym typeface="Wingdings" panose="05000000000000000000"/>
              </a:rPr>
              <a:t></a:t>
            </a:r>
            <a:r>
              <a:rPr lang="en-US" altLang="zh-CN" dirty="0"/>
              <a:t> </a:t>
            </a:r>
            <a:r>
              <a:rPr lang="zh-CN" altLang="zh-CN" dirty="0"/>
              <a:t>理解控件布局的三种方法。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>
                <a:sym typeface="Wingdings" panose="05000000000000000000"/>
              </a:rPr>
              <a:t></a:t>
            </a:r>
            <a:r>
              <a:rPr lang="en-US" altLang="zh-CN" dirty="0"/>
              <a:t> </a:t>
            </a:r>
            <a:r>
              <a:rPr lang="zh-CN" altLang="zh-CN" dirty="0"/>
              <a:t>掌握几种常用控件在可视化程序设计中的设置和取值方法。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>
                <a:sym typeface="Wingdings" panose="05000000000000000000"/>
              </a:rPr>
              <a:t></a:t>
            </a:r>
            <a:r>
              <a:rPr lang="en-US" altLang="zh-CN" dirty="0"/>
              <a:t> </a:t>
            </a:r>
            <a:r>
              <a:rPr lang="zh-CN" altLang="zh-CN" dirty="0"/>
              <a:t>学会用户事件响应与自定义函数绑定。</a:t>
            </a:r>
            <a:endParaRPr lang="zh-CN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521" y="332656"/>
            <a:ext cx="8847619" cy="5760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1775521" y="1361440"/>
            <a:ext cx="4909759" cy="37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1775521" y="2641600"/>
            <a:ext cx="4909759" cy="7823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1775521" y="4378960"/>
            <a:ext cx="3517839" cy="70104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sh dir="u"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63552" y="404665"/>
            <a:ext cx="48253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400" dirty="0"/>
              <a:t>【例</a:t>
            </a:r>
            <a:r>
              <a:rPr lang="en-US" altLang="zh-CN" sz="2400" dirty="0"/>
              <a:t>8-2</a:t>
            </a:r>
            <a:r>
              <a:rPr lang="zh-CN" altLang="zh-CN" sz="2400" dirty="0"/>
              <a:t>】 标签及其常见属性示例</a:t>
            </a:r>
            <a:endParaRPr lang="zh-CN" altLang="en-US" sz="2400" dirty="0"/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2152057" y="980729"/>
            <a:ext cx="5727646" cy="3477875"/>
          </a:xfrm>
          <a:prstGeom prst="rect">
            <a:avLst/>
          </a:prstGeom>
          <a:solidFill>
            <a:srgbClr val="FFFFFF"/>
          </a:solidFill>
          <a:ln w="9525">
            <a:solidFill>
              <a:srgbClr val="FF0000"/>
            </a:solidFill>
            <a:miter lim="800000"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indent="266700" algn="just"/>
            <a:r>
              <a:rPr lang="en-US" sz="2000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from </a:t>
            </a:r>
            <a:r>
              <a:rPr lang="en-US" sz="2000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tkinter</a:t>
            </a:r>
            <a:r>
              <a:rPr lang="en-US" sz="2000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 import *</a:t>
            </a:r>
            <a:endParaRPr lang="zh-CN" altLang="en-US" sz="2000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indent="266700" algn="just"/>
            <a:r>
              <a:rPr lang="en-US" sz="2000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root=</a:t>
            </a:r>
            <a:r>
              <a:rPr lang="en-US" sz="2000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Tk</a:t>
            </a:r>
            <a:r>
              <a:rPr lang="en-US" sz="2000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()</a:t>
            </a:r>
            <a:endParaRPr lang="zh-CN" altLang="en-US" sz="2000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indent="266700" algn="just"/>
            <a:r>
              <a:rPr lang="en-US" sz="2000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lb</a:t>
            </a:r>
            <a:r>
              <a:rPr lang="en-US" sz="2000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=Label(</a:t>
            </a:r>
            <a:r>
              <a:rPr lang="en-US" sz="2000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root,text</a:t>
            </a:r>
            <a:r>
              <a:rPr lang="en-US" sz="2000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='</a:t>
            </a:r>
            <a:r>
              <a:rPr lang="zh-CN" altLang="en-US" sz="2000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我是一个标签</a:t>
            </a:r>
            <a:r>
              <a:rPr lang="en-US" sz="2000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',\</a:t>
            </a:r>
            <a:endParaRPr lang="zh-CN" altLang="en-US" sz="2000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indent="266700" algn="just"/>
            <a:r>
              <a:rPr lang="en-US" sz="2000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              </a:t>
            </a:r>
            <a:r>
              <a:rPr lang="en-US" sz="2000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bg</a:t>
            </a:r>
            <a:r>
              <a:rPr lang="en-US" sz="2000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='#d3fbfb',\</a:t>
            </a:r>
            <a:endParaRPr lang="zh-CN" altLang="en-US" sz="2000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indent="266700" algn="just"/>
            <a:r>
              <a:rPr lang="en-US" sz="2000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              </a:t>
            </a:r>
            <a:r>
              <a:rPr lang="en-US" sz="2000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fg</a:t>
            </a:r>
            <a:r>
              <a:rPr lang="en-US" sz="2000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='red',\</a:t>
            </a:r>
            <a:endParaRPr lang="zh-CN" altLang="en-US" sz="2000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indent="266700" algn="just"/>
            <a:r>
              <a:rPr lang="en-US" sz="2000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              font=('</a:t>
            </a:r>
            <a:r>
              <a:rPr lang="zh-CN" altLang="en-US" sz="2000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华文新魏</a:t>
            </a:r>
            <a:r>
              <a:rPr lang="en-US" sz="2000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',32),\</a:t>
            </a:r>
            <a:endParaRPr lang="zh-CN" altLang="en-US" sz="2000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indent="266700" algn="just"/>
            <a:r>
              <a:rPr lang="en-US" sz="2000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              width=20,\</a:t>
            </a:r>
            <a:endParaRPr lang="zh-CN" altLang="en-US" sz="2000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indent="266700" algn="just"/>
            <a:r>
              <a:rPr lang="en-US" sz="2000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              height=2,\</a:t>
            </a:r>
            <a:endParaRPr lang="zh-CN" altLang="en-US" sz="2000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indent="266700" algn="just"/>
            <a:r>
              <a:rPr lang="en-US" sz="2000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              relief=SUNKEN)</a:t>
            </a:r>
            <a:endParaRPr lang="zh-CN" altLang="en-US" sz="2000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indent="266700" algn="just"/>
            <a:r>
              <a:rPr lang="en-US" sz="2000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lb.pack</a:t>
            </a:r>
            <a:r>
              <a:rPr lang="en-US" sz="2000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()</a:t>
            </a:r>
            <a:endParaRPr lang="zh-CN" altLang="en-US" sz="2000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indent="266700" algn="just"/>
            <a:r>
              <a:rPr lang="en-US" sz="2000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root.mainloop</a:t>
            </a:r>
            <a:r>
              <a:rPr lang="en-US" sz="2000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()</a:t>
            </a:r>
            <a:endParaRPr lang="zh-CN" altLang="en-US" sz="2000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5015880" y="4941168"/>
            <a:ext cx="4972050" cy="1257300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2063552" y="1584960"/>
            <a:ext cx="4347408" cy="24892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sh dir="u"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47529" y="260649"/>
            <a:ext cx="55426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400" dirty="0"/>
              <a:t>【例</a:t>
            </a:r>
            <a:r>
              <a:rPr lang="en-US" altLang="zh-CN" sz="2400" dirty="0"/>
              <a:t>8-4</a:t>
            </a:r>
            <a:r>
              <a:rPr lang="zh-CN" altLang="zh-CN" sz="2400" dirty="0"/>
              <a:t>】 用</a:t>
            </a:r>
            <a:r>
              <a:rPr lang="en-US" altLang="zh-CN" sz="2400" dirty="0"/>
              <a:t>pack()</a:t>
            </a:r>
            <a:r>
              <a:rPr lang="zh-CN" altLang="zh-CN" sz="2400" dirty="0"/>
              <a:t>方法加参数排列标签</a:t>
            </a:r>
            <a:endParaRPr lang="zh-CN" altLang="en-US" sz="2400" dirty="0"/>
          </a:p>
        </p:txBody>
      </p:sp>
      <p:sp>
        <p:nvSpPr>
          <p:cNvPr id="3" name="文本框 29"/>
          <p:cNvSpPr txBox="1">
            <a:spLocks noChangeArrowheads="1"/>
          </p:cNvSpPr>
          <p:nvPr/>
        </p:nvSpPr>
        <p:spPr bwMode="auto">
          <a:xfrm>
            <a:off x="1991544" y="836713"/>
            <a:ext cx="6264696" cy="3139321"/>
          </a:xfrm>
          <a:prstGeom prst="rect">
            <a:avLst/>
          </a:prstGeom>
          <a:solidFill>
            <a:srgbClr val="FFFFFF"/>
          </a:solidFill>
          <a:ln w="9525">
            <a:solidFill>
              <a:srgbClr val="FF0000"/>
            </a:solidFill>
            <a:miter lim="800000"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indent="266700" algn="just"/>
            <a:r>
              <a:rPr lang="en-US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from </a:t>
            </a:r>
            <a:r>
              <a:rPr lang="en-US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tkinter</a:t>
            </a:r>
            <a:r>
              <a:rPr lang="en-US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 import *</a:t>
            </a:r>
            <a:endParaRPr lang="zh-CN" altLang="en-US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indent="266700" algn="just"/>
            <a:r>
              <a:rPr lang="en-US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root = Tk()</a:t>
            </a:r>
            <a:endParaRPr lang="zh-CN" altLang="en-US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indent="266700" algn="just"/>
            <a:r>
              <a:rPr lang="en-US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 </a:t>
            </a:r>
            <a:endParaRPr lang="zh-CN" altLang="en-US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indent="266700" algn="just"/>
            <a:r>
              <a:rPr lang="en-US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lbred</a:t>
            </a:r>
            <a:r>
              <a:rPr lang="en-US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 = Label(root, text="Red", </a:t>
            </a:r>
            <a:r>
              <a:rPr lang="en-US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fg</a:t>
            </a:r>
            <a:r>
              <a:rPr lang="en-US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="</a:t>
            </a:r>
            <a:r>
              <a:rPr lang="en-US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red",relief</a:t>
            </a:r>
            <a:r>
              <a:rPr lang="en-US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=GROOVE)</a:t>
            </a:r>
            <a:endParaRPr lang="zh-CN" altLang="en-US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indent="266700" algn="just"/>
            <a:r>
              <a:rPr lang="en-US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lbred.pack</a:t>
            </a:r>
            <a:r>
              <a:rPr lang="en-US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()</a:t>
            </a:r>
            <a:endParaRPr lang="zh-CN" altLang="en-US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indent="266700" algn="just"/>
            <a:r>
              <a:rPr lang="en-US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lbgreen</a:t>
            </a:r>
            <a:r>
              <a:rPr lang="en-US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 = Label(root, text="</a:t>
            </a:r>
            <a:r>
              <a:rPr lang="zh-CN" altLang="en-US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绿色</a:t>
            </a:r>
            <a:r>
              <a:rPr lang="en-US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", </a:t>
            </a:r>
            <a:r>
              <a:rPr lang="en-US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fg</a:t>
            </a:r>
            <a:r>
              <a:rPr lang="en-US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="</a:t>
            </a:r>
            <a:r>
              <a:rPr lang="en-US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green",relief</a:t>
            </a:r>
            <a:r>
              <a:rPr lang="en-US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=GROOVE)</a:t>
            </a:r>
            <a:endParaRPr lang="zh-CN" altLang="en-US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indent="266700" algn="just"/>
            <a:r>
              <a:rPr lang="en-US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lbgreen.pack</a:t>
            </a:r>
            <a:r>
              <a:rPr lang="en-US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(side=RIGHT)</a:t>
            </a:r>
            <a:endParaRPr lang="zh-CN" altLang="en-US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indent="266700" algn="just"/>
            <a:r>
              <a:rPr lang="en-US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lbblue</a:t>
            </a:r>
            <a:r>
              <a:rPr lang="en-US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 = Label(root, text="</a:t>
            </a:r>
            <a:r>
              <a:rPr lang="zh-CN" altLang="en-US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蓝</a:t>
            </a:r>
            <a:r>
              <a:rPr lang="en-US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", </a:t>
            </a:r>
            <a:r>
              <a:rPr lang="en-US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fg</a:t>
            </a:r>
            <a:r>
              <a:rPr lang="en-US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="</a:t>
            </a:r>
            <a:r>
              <a:rPr lang="en-US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blue",relief</a:t>
            </a:r>
            <a:r>
              <a:rPr lang="en-US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=GROOVE)</a:t>
            </a:r>
            <a:endParaRPr lang="zh-CN" altLang="en-US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indent="266700" algn="just"/>
            <a:r>
              <a:rPr lang="en-US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lbblue.pack</a:t>
            </a:r>
            <a:r>
              <a:rPr lang="en-US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(fill=X)</a:t>
            </a:r>
            <a:endParaRPr lang="zh-CN" altLang="en-US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indent="266700" algn="just"/>
            <a:r>
              <a:rPr lang="en-US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 </a:t>
            </a:r>
            <a:endParaRPr lang="zh-CN" altLang="en-US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indent="266700" algn="just"/>
            <a:r>
              <a:rPr lang="en-US" kern="100" dirty="0" err="1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root.mainloop</a:t>
            </a:r>
            <a:r>
              <a:rPr lang="en-US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()</a:t>
            </a:r>
            <a:endParaRPr lang="zh-CN" altLang="en-US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8282845" y="1866312"/>
            <a:ext cx="1829097" cy="1080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92987" y="4653136"/>
            <a:ext cx="74888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参数</a:t>
            </a:r>
            <a:r>
              <a:rPr lang="en-US" altLang="zh-CN" b="1" dirty="0">
                <a:solidFill>
                  <a:srgbClr val="FF0000"/>
                </a:solidFill>
              </a:rPr>
              <a:t>fill</a:t>
            </a:r>
            <a:r>
              <a:rPr lang="zh-CN" altLang="en-US" dirty="0"/>
              <a:t>：可取值</a:t>
            </a:r>
            <a:r>
              <a:rPr lang="en-US" altLang="zh-CN" dirty="0"/>
              <a:t>X\Y\BOTH</a:t>
            </a:r>
            <a:r>
              <a:rPr lang="zh-CN" altLang="en-US" dirty="0"/>
              <a:t>，分别表示允许控件实例向水平、垂直或二维方向伸展填充父容器未被占用的空间</a:t>
            </a:r>
            <a:endParaRPr lang="en-US" altLang="zh-CN" dirty="0"/>
          </a:p>
          <a:p>
            <a:r>
              <a:rPr lang="zh-CN" altLang="en-US" dirty="0"/>
              <a:t>参数</a:t>
            </a:r>
            <a:r>
              <a:rPr lang="en-US" altLang="zh-CN" b="1" dirty="0">
                <a:solidFill>
                  <a:srgbClr val="FF0000"/>
                </a:solidFill>
              </a:rPr>
              <a:t>side</a:t>
            </a:r>
            <a:r>
              <a:rPr lang="zh-CN" altLang="en-US" dirty="0"/>
              <a:t>：</a:t>
            </a:r>
            <a:r>
              <a:rPr lang="en-US" altLang="zh-CN" dirty="0"/>
              <a:t>TOP\LEFT\RIGHT\BOTTOM</a:t>
            </a:r>
            <a:r>
              <a:rPr lang="zh-CN" altLang="en-US" dirty="0"/>
              <a:t>，表示本控件相对于下一个控件实例的方位。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6" name="圆角矩形 5"/>
          <p:cNvSpPr/>
          <p:nvPr/>
        </p:nvSpPr>
        <p:spPr>
          <a:xfrm>
            <a:off x="2265680" y="1625600"/>
            <a:ext cx="5882640" cy="1828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sh dir="u"/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．标签（</a:t>
            </a:r>
            <a:r>
              <a:rPr lang="en-US" altLang="zh-CN" dirty="0"/>
              <a:t>Label</a:t>
            </a:r>
            <a:r>
              <a:rPr lang="zh-CN" altLang="en-US" dirty="0"/>
              <a:t>）和消息（</a:t>
            </a:r>
            <a:r>
              <a:rPr lang="en-US" altLang="zh-CN" dirty="0"/>
              <a:t>Message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1703512" y="1067544"/>
            <a:ext cx="8100900" cy="5040560"/>
          </a:xfrm>
        </p:spPr>
        <p:txBody>
          <a:bodyPr/>
          <a:lstStyle/>
          <a:p>
            <a:r>
              <a:rPr lang="zh-CN" altLang="en-US" dirty="0"/>
              <a:t>标签（</a:t>
            </a:r>
            <a:r>
              <a:rPr lang="en-US" altLang="zh-CN" dirty="0"/>
              <a:t>Label</a:t>
            </a:r>
            <a:r>
              <a:rPr lang="zh-CN" altLang="en-US" dirty="0"/>
              <a:t>）和消息（</a:t>
            </a:r>
            <a:r>
              <a:rPr lang="en-US" altLang="zh-CN" dirty="0"/>
              <a:t>Message</a:t>
            </a:r>
            <a:r>
              <a:rPr lang="zh-CN" altLang="en-US" dirty="0"/>
              <a:t>）除单行与多行不同外，属性与用法基本一致，用于呈现文本信息。</a:t>
            </a:r>
            <a:endParaRPr lang="zh-CN" altLang="en-US" dirty="0"/>
          </a:p>
          <a:p>
            <a:r>
              <a:rPr lang="zh-CN" altLang="en-US" dirty="0"/>
              <a:t>值得注意的是，属性</a:t>
            </a:r>
            <a:r>
              <a:rPr lang="en-US" altLang="zh-CN" b="1" dirty="0">
                <a:solidFill>
                  <a:srgbClr val="FF0000"/>
                </a:solidFill>
              </a:rPr>
              <a:t>text</a:t>
            </a:r>
            <a:r>
              <a:rPr lang="zh-CN" altLang="en-US" b="1" dirty="0">
                <a:solidFill>
                  <a:srgbClr val="FF0000"/>
                </a:solidFill>
              </a:rPr>
              <a:t>通常用于实例在第一次呈现时的固定文本</a:t>
            </a:r>
            <a:r>
              <a:rPr lang="zh-CN" altLang="en-US" dirty="0"/>
              <a:t>，而如果需要在程序执行后发生变化，则可使用</a:t>
            </a:r>
            <a:r>
              <a:rPr lang="zh-CN" altLang="en-US" dirty="0" smtClean="0"/>
              <a:t>下列方法实现</a:t>
            </a:r>
            <a:r>
              <a:rPr lang="zh-CN" altLang="en-US" dirty="0"/>
              <a:t>：</a:t>
            </a:r>
            <a:endParaRPr lang="zh-CN" altLang="en-US" dirty="0"/>
          </a:p>
          <a:p>
            <a:pPr marL="1085850" lvl="4" indent="0">
              <a:buNone/>
            </a:pPr>
            <a:r>
              <a:rPr lang="zh-CN" altLang="en-US" sz="2400" dirty="0"/>
              <a:t>① 用控件实例的</a:t>
            </a:r>
            <a:r>
              <a:rPr lang="en-US" altLang="zh-CN" sz="2400" dirty="0"/>
              <a:t>configure()</a:t>
            </a:r>
            <a:r>
              <a:rPr lang="zh-CN" altLang="en-US" sz="2400" dirty="0"/>
              <a:t>方法改变属性</a:t>
            </a:r>
            <a:r>
              <a:rPr lang="en-US" altLang="zh-CN" sz="2400" dirty="0"/>
              <a:t>text</a:t>
            </a:r>
            <a:r>
              <a:rPr lang="zh-CN" altLang="en-US" sz="2400" dirty="0"/>
              <a:t>的值，可使显示的文本发生变化；</a:t>
            </a:r>
            <a:endParaRPr lang="zh-CN" altLang="en-US" sz="2400" dirty="0"/>
          </a:p>
          <a:p>
            <a:pPr marL="0" indent="0">
              <a:buNone/>
            </a:pPr>
            <a:endParaRPr lang="zh-CN" altLang="en-US" sz="24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51253" y="332657"/>
            <a:ext cx="4209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400" dirty="0"/>
              <a:t>【例</a:t>
            </a:r>
            <a:r>
              <a:rPr lang="en-US" altLang="zh-CN" sz="2400" dirty="0"/>
              <a:t>8-7</a:t>
            </a:r>
            <a:r>
              <a:rPr lang="zh-CN" altLang="zh-CN" sz="2400" dirty="0"/>
              <a:t>】 制作一个电子时钟</a:t>
            </a:r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8" t="1" r="-256" b="-163"/>
          <a:stretch>
            <a:fillRect/>
          </a:stretch>
        </p:blipFill>
        <p:spPr>
          <a:xfrm>
            <a:off x="1822534" y="794322"/>
            <a:ext cx="4243810" cy="36755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7611" y="794322"/>
            <a:ext cx="4230275" cy="3675584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1252" y="4727758"/>
            <a:ext cx="4508748" cy="1806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0369" y="4817085"/>
            <a:ext cx="4477017" cy="16280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图片 4"/>
          <p:cNvPicPr/>
          <p:nvPr/>
        </p:nvPicPr>
        <p:blipFill>
          <a:blip r:embed="rId5"/>
          <a:stretch>
            <a:fillRect/>
          </a:stretch>
        </p:blipFill>
        <p:spPr>
          <a:xfrm>
            <a:off x="6045116" y="3879696"/>
            <a:ext cx="4324350" cy="14382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48128" y="5934670"/>
            <a:ext cx="32662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&gt;&gt;&gt;import time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&gt;&gt;&gt;</a:t>
            </a:r>
            <a:r>
              <a:rPr lang="en-US" altLang="zh-CN" dirty="0" err="1">
                <a:solidFill>
                  <a:srgbClr val="FF0000"/>
                </a:solidFill>
              </a:rPr>
              <a:t>dir</a:t>
            </a:r>
            <a:r>
              <a:rPr lang="en-US" altLang="zh-CN" dirty="0">
                <a:solidFill>
                  <a:srgbClr val="FF0000"/>
                </a:solidFill>
              </a:rPr>
              <a:t>(time)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&gt;&gt;&gt;help(time)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07568" y="620688"/>
            <a:ext cx="2016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2</a:t>
            </a:r>
            <a:r>
              <a:rPr lang="zh-CN" altLang="zh-CN" sz="2800" b="1" dirty="0"/>
              <a:t>．文本框</a:t>
            </a:r>
            <a:endParaRPr lang="zh-CN" altLang="zh-CN" sz="2800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544" y="1340768"/>
            <a:ext cx="8543878" cy="331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圆角矩形 2"/>
          <p:cNvSpPr/>
          <p:nvPr/>
        </p:nvSpPr>
        <p:spPr>
          <a:xfrm>
            <a:off x="2509520" y="4358640"/>
            <a:ext cx="5791200" cy="44704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sh dir="u"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．输入框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zh-CN" b="1" u="sng" dirty="0">
                <a:solidFill>
                  <a:srgbClr val="FF0000"/>
                </a:solidFill>
              </a:rPr>
              <a:t>输入框（</a:t>
            </a:r>
            <a:r>
              <a:rPr lang="en-US" altLang="zh-CN" b="1" u="sng" dirty="0">
                <a:solidFill>
                  <a:srgbClr val="FF0000"/>
                </a:solidFill>
              </a:rPr>
              <a:t>Entry</a:t>
            </a:r>
            <a:r>
              <a:rPr lang="zh-CN" altLang="zh-CN" b="1" u="sng" dirty="0">
                <a:solidFill>
                  <a:srgbClr val="FF0000"/>
                </a:solidFill>
              </a:rPr>
              <a:t>）</a:t>
            </a:r>
            <a:r>
              <a:rPr lang="zh-CN" altLang="zh-CN" dirty="0"/>
              <a:t>通常作为功能较为单一的</a:t>
            </a:r>
            <a:r>
              <a:rPr lang="zh-CN" altLang="zh-CN" b="1" dirty="0"/>
              <a:t>接收单行文本输入</a:t>
            </a:r>
            <a:r>
              <a:rPr lang="zh-CN" altLang="zh-CN" dirty="0"/>
              <a:t>的控件，虽然也有许多对其中文本进行操作的方法，但常用的只有</a:t>
            </a:r>
            <a:r>
              <a:rPr lang="zh-CN" altLang="zh-CN" b="1" u="sng" dirty="0">
                <a:solidFill>
                  <a:srgbClr val="FF0000"/>
                </a:solidFill>
              </a:rPr>
              <a:t>取值方法</a:t>
            </a:r>
            <a:r>
              <a:rPr lang="en-US" altLang="zh-CN" b="1" u="sng" dirty="0">
                <a:solidFill>
                  <a:srgbClr val="FF0000"/>
                </a:solidFill>
              </a:rPr>
              <a:t>get()</a:t>
            </a:r>
            <a:r>
              <a:rPr lang="zh-CN" altLang="zh-CN" dirty="0"/>
              <a:t>和用于</a:t>
            </a:r>
            <a:r>
              <a:rPr lang="zh-CN" altLang="zh-CN" b="1" u="sng" dirty="0">
                <a:solidFill>
                  <a:srgbClr val="FF0000"/>
                </a:solidFill>
              </a:rPr>
              <a:t>删除文本的</a:t>
            </a:r>
            <a:r>
              <a:rPr lang="en-US" altLang="zh-CN" b="1" u="sng" dirty="0">
                <a:solidFill>
                  <a:srgbClr val="FF0000"/>
                </a:solidFill>
              </a:rPr>
              <a:t>delete(</a:t>
            </a:r>
            <a:r>
              <a:rPr lang="zh-CN" altLang="zh-CN" b="1" u="sng" dirty="0">
                <a:solidFill>
                  <a:srgbClr val="FF0000"/>
                </a:solidFill>
              </a:rPr>
              <a:t>起始位置</a:t>
            </a:r>
            <a:r>
              <a:rPr lang="en-US" altLang="zh-CN" b="1" u="sng" dirty="0">
                <a:solidFill>
                  <a:srgbClr val="FF0000"/>
                </a:solidFill>
              </a:rPr>
              <a:t>,</a:t>
            </a:r>
            <a:r>
              <a:rPr lang="zh-CN" altLang="zh-CN" b="1" u="sng" dirty="0">
                <a:solidFill>
                  <a:srgbClr val="FF0000"/>
                </a:solidFill>
              </a:rPr>
              <a:t>终止位置</a:t>
            </a:r>
            <a:r>
              <a:rPr lang="en-US" altLang="zh-CN" b="1" u="sng" dirty="0">
                <a:solidFill>
                  <a:srgbClr val="FF0000"/>
                </a:solidFill>
              </a:rPr>
              <a:t>)</a:t>
            </a:r>
            <a:r>
              <a:rPr lang="zh-CN" altLang="zh-CN" dirty="0"/>
              <a:t>，例如，</a:t>
            </a:r>
            <a:r>
              <a:rPr lang="zh-CN" altLang="zh-CN" b="1" u="sng" dirty="0">
                <a:solidFill>
                  <a:srgbClr val="FF0000"/>
                </a:solidFill>
              </a:rPr>
              <a:t>清空输入框为</a:t>
            </a:r>
            <a:r>
              <a:rPr lang="en-US" altLang="zh-CN" b="1" u="sng" dirty="0">
                <a:solidFill>
                  <a:srgbClr val="FF0000"/>
                </a:solidFill>
              </a:rPr>
              <a:t>delete(0,END)</a:t>
            </a:r>
            <a:r>
              <a:rPr lang="zh-CN" altLang="zh-CN" dirty="0"/>
              <a:t>。其应用实例，将结合后续控件展示。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47528" y="332657"/>
            <a:ext cx="756084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8.2.2  </a:t>
            </a:r>
            <a:r>
              <a:rPr lang="zh-CN" altLang="zh-CN" sz="2400" b="1" dirty="0"/>
              <a:t>按钮</a:t>
            </a:r>
            <a:endParaRPr lang="zh-CN" altLang="zh-CN" sz="2400" b="1" dirty="0"/>
          </a:p>
          <a:p>
            <a:r>
              <a:rPr lang="zh-CN" altLang="zh-CN" sz="2400" b="1" u="sng" dirty="0">
                <a:solidFill>
                  <a:srgbClr val="FF0000"/>
                </a:solidFill>
              </a:rPr>
              <a:t>按钮（</a:t>
            </a:r>
            <a:r>
              <a:rPr lang="en-US" altLang="zh-CN" sz="2400" b="1" u="sng" dirty="0">
                <a:solidFill>
                  <a:srgbClr val="FF0000"/>
                </a:solidFill>
              </a:rPr>
              <a:t>Button</a:t>
            </a:r>
            <a:r>
              <a:rPr lang="zh-CN" altLang="zh-CN" sz="2400" b="1" u="sng" dirty="0">
                <a:solidFill>
                  <a:srgbClr val="FF0000"/>
                </a:solidFill>
              </a:rPr>
              <a:t>）</a:t>
            </a:r>
            <a:r>
              <a:rPr lang="zh-CN" altLang="zh-CN" sz="2400" dirty="0"/>
              <a:t>主要是为响应鼠标单击事件触发运行程序所设的，故其除控件共有属性外，</a:t>
            </a:r>
            <a:r>
              <a:rPr lang="zh-CN" altLang="zh-CN" sz="2400" b="1" u="sng" dirty="0">
                <a:solidFill>
                  <a:srgbClr val="FF0000"/>
                </a:solidFill>
              </a:rPr>
              <a:t>属性</a:t>
            </a:r>
            <a:r>
              <a:rPr lang="en-US" altLang="zh-CN" sz="2400" b="1" u="sng" dirty="0">
                <a:solidFill>
                  <a:srgbClr val="FF0000"/>
                </a:solidFill>
              </a:rPr>
              <a:t>command</a:t>
            </a:r>
            <a:r>
              <a:rPr lang="zh-CN" altLang="zh-CN" sz="2400" dirty="0"/>
              <a:t>是最为重要的属性。</a:t>
            </a:r>
            <a:endParaRPr lang="zh-CN" altLang="zh-CN" sz="2400" dirty="0"/>
          </a:p>
          <a:p>
            <a:r>
              <a:rPr lang="zh-CN" altLang="zh-CN" sz="2400" dirty="0"/>
              <a:t>通常，</a:t>
            </a:r>
            <a:r>
              <a:rPr lang="zh-CN" altLang="zh-CN" sz="2400" b="1" u="sng" dirty="0">
                <a:solidFill>
                  <a:srgbClr val="FF0000"/>
                </a:solidFill>
              </a:rPr>
              <a:t>将按钮要触发执行的程序以函数形式预先定义</a:t>
            </a:r>
            <a:r>
              <a:rPr lang="zh-CN" altLang="zh-CN" sz="2400" dirty="0"/>
              <a:t>，然后可用以下两种方法调用函数。</a:t>
            </a:r>
            <a:endParaRPr lang="zh-CN" altLang="zh-CN" sz="2400" dirty="0"/>
          </a:p>
          <a:p>
            <a:r>
              <a:rPr lang="zh-CN" altLang="zh-CN" sz="2400" dirty="0"/>
              <a:t>① </a:t>
            </a:r>
            <a:r>
              <a:rPr lang="zh-CN" altLang="zh-CN" sz="2400" b="1" u="sng" dirty="0">
                <a:solidFill>
                  <a:srgbClr val="FF0000"/>
                </a:solidFill>
              </a:rPr>
              <a:t>直接调用函数</a:t>
            </a:r>
            <a:r>
              <a:rPr lang="zh-CN" altLang="zh-CN" sz="2400" dirty="0"/>
              <a:t>。参数表达式为“</a:t>
            </a:r>
            <a:r>
              <a:rPr lang="en-US" altLang="zh-CN" sz="2400" dirty="0"/>
              <a:t>command</a:t>
            </a:r>
            <a:r>
              <a:rPr lang="zh-CN" altLang="zh-CN" sz="2400" dirty="0"/>
              <a:t>＝函数名”，注意函数名后面不要加括号，也不能传递参数。例如，例</a:t>
            </a:r>
            <a:r>
              <a:rPr lang="en-US" altLang="zh-CN" sz="2400" dirty="0"/>
              <a:t>8-9</a:t>
            </a:r>
            <a:r>
              <a:rPr lang="zh-CN" altLang="zh-CN" sz="2400" dirty="0"/>
              <a:t>中的</a:t>
            </a:r>
            <a:r>
              <a:rPr lang="en-US" altLang="zh-CN" sz="2400" dirty="0"/>
              <a:t>command=run1</a:t>
            </a:r>
            <a:r>
              <a:rPr lang="zh-CN" altLang="zh-CN" sz="2400" dirty="0"/>
              <a:t>。</a:t>
            </a:r>
            <a:endParaRPr lang="zh-CN" altLang="zh-CN" sz="2400" dirty="0"/>
          </a:p>
          <a:p>
            <a:r>
              <a:rPr lang="zh-CN" altLang="zh-CN" sz="2400" dirty="0"/>
              <a:t>② </a:t>
            </a:r>
            <a:r>
              <a:rPr lang="zh-CN" altLang="zh-CN" sz="2400" b="1" u="sng" dirty="0">
                <a:solidFill>
                  <a:srgbClr val="FF0000"/>
                </a:solidFill>
              </a:rPr>
              <a:t>利用匿名函数调用函数和传递参数</a:t>
            </a:r>
            <a:r>
              <a:rPr lang="zh-CN" altLang="zh-CN" sz="2400" dirty="0"/>
              <a:t>。参数表达式为“</a:t>
            </a:r>
            <a:r>
              <a:rPr lang="en-US" altLang="zh-CN" sz="2400" dirty="0"/>
              <a:t>command</a:t>
            </a:r>
            <a:r>
              <a:rPr lang="zh-CN" altLang="zh-CN" sz="2400" dirty="0"/>
              <a:t>＝</a:t>
            </a:r>
            <a:r>
              <a:rPr lang="en-US" altLang="zh-CN" sz="2400" dirty="0"/>
              <a:t>lambda:</a:t>
            </a:r>
            <a:r>
              <a:rPr lang="zh-CN" altLang="zh-CN" sz="2400" dirty="0"/>
              <a:t>函数名</a:t>
            </a:r>
            <a:r>
              <a:rPr lang="en-US" altLang="zh-CN" sz="2400" dirty="0"/>
              <a:t>(</a:t>
            </a:r>
            <a:r>
              <a:rPr lang="zh-CN" altLang="zh-CN" sz="2400" dirty="0"/>
              <a:t>参数列表</a:t>
            </a:r>
            <a:r>
              <a:rPr lang="en-US" altLang="zh-CN" sz="2400" dirty="0"/>
              <a:t>)</a:t>
            </a:r>
            <a:r>
              <a:rPr lang="zh-CN" altLang="zh-CN" sz="2400" dirty="0"/>
              <a:t>”。</a:t>
            </a:r>
            <a:endParaRPr lang="en-US" altLang="zh-CN" sz="2400" dirty="0"/>
          </a:p>
          <a:p>
            <a:r>
              <a:rPr lang="zh-CN" altLang="zh-CN" sz="2400" dirty="0"/>
              <a:t>例如，例</a:t>
            </a:r>
            <a:r>
              <a:rPr lang="en-US" altLang="zh-CN" sz="2400" dirty="0"/>
              <a:t>8-9</a:t>
            </a:r>
            <a:r>
              <a:rPr lang="zh-CN" altLang="zh-CN" sz="2400" dirty="0"/>
              <a:t>中的</a:t>
            </a:r>
            <a:r>
              <a:rPr lang="zh-CN" altLang="zh-CN" sz="2000" dirty="0"/>
              <a:t>“</a:t>
            </a:r>
            <a:r>
              <a:rPr lang="en-US" altLang="zh-CN" sz="2000" dirty="0"/>
              <a:t>command=lambda:run2(inp1.get(),inp2.get())</a:t>
            </a:r>
            <a:r>
              <a:rPr lang="zh-CN" altLang="zh-CN" sz="2000" dirty="0"/>
              <a:t>”</a:t>
            </a:r>
            <a:endParaRPr lang="zh-CN" altLang="en-US" sz="2400" dirty="0"/>
          </a:p>
        </p:txBody>
      </p:sp>
    </p:spTree>
  </p:cSld>
  <p:clrMapOvr>
    <a:masterClrMapping/>
  </p:clrMapOvr>
  <p:transition spd="slow">
    <p:push dir="u"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235" y="1837638"/>
            <a:ext cx="5361080" cy="468770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47528" y="332656"/>
            <a:ext cx="84969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【例</a:t>
            </a:r>
            <a:r>
              <a:rPr lang="en-US" altLang="zh-CN" dirty="0"/>
              <a:t>8-9</a:t>
            </a:r>
            <a:r>
              <a:rPr lang="zh-CN" altLang="zh-CN" dirty="0"/>
              <a:t>】 简单加法器。</a:t>
            </a:r>
            <a:endParaRPr lang="zh-CN" altLang="zh-CN" dirty="0"/>
          </a:p>
          <a:p>
            <a:r>
              <a:rPr lang="zh-CN" altLang="zh-CN" dirty="0"/>
              <a:t>从两个输入框取得输入文本后转为浮点数值进行加法运算，要求每次单击按钮产生的算式结果以文本形式追加到文本框中，并将原输入框清空。</a:t>
            </a:r>
            <a:endParaRPr lang="zh-CN" altLang="zh-CN" dirty="0"/>
          </a:p>
          <a:p>
            <a:r>
              <a:rPr lang="zh-CN" altLang="zh-CN" dirty="0"/>
              <a:t>按钮“方法一”不传递参数调用函数</a:t>
            </a:r>
            <a:r>
              <a:rPr lang="en-US" altLang="zh-CN" dirty="0"/>
              <a:t>run1()</a:t>
            </a:r>
            <a:r>
              <a:rPr lang="zh-CN" altLang="zh-CN" dirty="0"/>
              <a:t>实现，按钮“方法二”用</a:t>
            </a:r>
            <a:r>
              <a:rPr lang="en-US" altLang="zh-CN" dirty="0"/>
              <a:t>lambda</a:t>
            </a:r>
            <a:r>
              <a:rPr lang="zh-CN" altLang="zh-CN" dirty="0"/>
              <a:t>调用函数</a:t>
            </a:r>
            <a:r>
              <a:rPr lang="en-US" altLang="zh-CN" dirty="0"/>
              <a:t>run2(</a:t>
            </a:r>
            <a:r>
              <a:rPr lang="en-US" altLang="zh-CN" dirty="0" err="1"/>
              <a:t>x,y</a:t>
            </a:r>
            <a:r>
              <a:rPr lang="en-US" altLang="zh-CN" dirty="0"/>
              <a:t>)</a:t>
            </a:r>
            <a:r>
              <a:rPr lang="zh-CN" altLang="zh-CN" dirty="0"/>
              <a:t>并同时传递参数实现</a:t>
            </a:r>
            <a:r>
              <a:rPr lang="en-US" altLang="zh-CN" dirty="0"/>
              <a:t>(</a:t>
            </a:r>
            <a:r>
              <a:rPr lang="zh-CN" altLang="en-US" dirty="0"/>
              <a:t>也可以增加：</a:t>
            </a:r>
            <a:r>
              <a:rPr lang="en-US" altLang="zh-CN" dirty="0"/>
              <a:t>run3()</a:t>
            </a:r>
            <a:r>
              <a:rPr lang="zh-CN" altLang="en-US" dirty="0"/>
              <a:t>使用</a:t>
            </a:r>
            <a:r>
              <a:rPr lang="en-US" altLang="zh-CN" dirty="0"/>
              <a:t>bind</a:t>
            </a:r>
            <a:r>
              <a:rPr lang="zh-CN" altLang="en-US" dirty="0"/>
              <a:t>方法实现</a:t>
            </a:r>
            <a:r>
              <a:rPr lang="en-US" altLang="zh-CN" dirty="0"/>
              <a:t>)</a:t>
            </a:r>
            <a:endParaRPr lang="zh-CN" altLang="en-US" dirty="0"/>
          </a:p>
        </p:txBody>
      </p:sp>
      <p:pic>
        <p:nvPicPr>
          <p:cNvPr id="4098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322" y="3140968"/>
            <a:ext cx="3105150" cy="181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739709" y="3354920"/>
            <a:ext cx="271260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谢         谢</a:t>
            </a:r>
            <a:endParaRPr lang="en-US" sz="44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511800" y="1955759"/>
            <a:ext cx="1168400" cy="1168400"/>
            <a:chOff x="4838310" y="2343675"/>
            <a:chExt cx="1257690" cy="1257690"/>
          </a:xfrm>
        </p:grpSpPr>
        <p:sp>
          <p:nvSpPr>
            <p:cNvPr id="2" name="圆形 15"/>
            <p:cNvSpPr/>
            <p:nvPr/>
          </p:nvSpPr>
          <p:spPr>
            <a:xfrm>
              <a:off x="4838310" y="2343675"/>
              <a:ext cx="1257690" cy="1257690"/>
            </a:xfrm>
            <a:prstGeom prst="ellipse">
              <a:avLst/>
            </a:prstGeom>
            <a:solidFill>
              <a:srgbClr val="6193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en-US" sz="90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4" name="图形 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125155" y="2630520"/>
              <a:ext cx="684000" cy="6840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2b0ovm0q">
      <a:majorFont>
        <a:latin typeface="Segoe UI"/>
        <a:ea typeface="微软雅黑"/>
        <a:cs typeface=""/>
      </a:majorFont>
      <a:minorFont>
        <a:latin typeface="Segoe U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2b0ovm0q">
      <a:majorFont>
        <a:latin typeface="Segoe UI"/>
        <a:ea typeface="微软雅黑"/>
        <a:cs typeface=""/>
      </a:majorFont>
      <a:minorFont>
        <a:latin typeface="Segoe U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2b0ovm0q">
      <a:majorFont>
        <a:latin typeface="Segoe UI"/>
        <a:ea typeface="微软雅黑"/>
        <a:cs typeface=""/>
      </a:majorFont>
      <a:minorFont>
        <a:latin typeface="Segoe U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18031</Words>
  <Application>WPS 演示</Application>
  <PresentationFormat>宽屏</PresentationFormat>
  <Paragraphs>1378</Paragraphs>
  <Slides>111</Slides>
  <Notes>74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111</vt:i4>
      </vt:variant>
    </vt:vector>
  </HeadingPairs>
  <TitlesOfParts>
    <vt:vector size="139" baseType="lpstr">
      <vt:lpstr>Arial</vt:lpstr>
      <vt:lpstr>宋体</vt:lpstr>
      <vt:lpstr>Wingdings</vt:lpstr>
      <vt:lpstr>Segoe UI</vt:lpstr>
      <vt:lpstr>微软雅黑</vt:lpstr>
      <vt:lpstr>Garamond</vt:lpstr>
      <vt:lpstr>Times New Roman</vt:lpstr>
      <vt:lpstr>华文楷体</vt:lpstr>
      <vt:lpstr>Calibri</vt:lpstr>
      <vt:lpstr>楷体</vt:lpstr>
      <vt:lpstr>Arial Unicode MS</vt:lpstr>
      <vt:lpstr>PingFang SC</vt:lpstr>
      <vt:lpstr>FFont-Family</vt:lpstr>
      <vt:lpstr>黑体</vt:lpstr>
      <vt:lpstr>华文细黑</vt:lpstr>
      <vt:lpstr>Tahoma</vt:lpstr>
      <vt:lpstr>隶书</vt:lpstr>
      <vt:lpstr>Wingdings 3</vt:lpstr>
      <vt:lpstr>幼圆</vt:lpstr>
      <vt:lpstr>SF Pro Display</vt:lpstr>
      <vt:lpstr>Courier New</vt:lpstr>
      <vt:lpstr>Helvetica Neue</vt:lpstr>
      <vt:lpstr>Wingdings</vt:lpstr>
      <vt:lpstr>Calibri</vt:lpstr>
      <vt:lpstr>Times New Roman</vt:lpstr>
      <vt:lpstr>Office 主题​​</vt:lpstr>
      <vt:lpstr>1_Office 主题​​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常用字符串方法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词频统计问题的IPO描述</vt:lpstr>
      <vt:lpstr>文本词频统计方法</vt:lpstr>
      <vt:lpstr>英文文本词频统计方法</vt:lpstr>
      <vt:lpstr>PowerPoint 演示文稿</vt:lpstr>
      <vt:lpstr>PowerPoint 演示文稿</vt:lpstr>
      <vt:lpstr>PowerPoint 演示文稿</vt:lpstr>
      <vt:lpstr>PowerPoint 演示文稿</vt:lpstr>
      <vt:lpstr>词云相关库</vt:lpstr>
      <vt:lpstr>使用wordcloud库生成词云</vt:lpstr>
      <vt:lpstr>WordCloud()函数的参数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贪婪匹配</vt:lpstr>
      <vt:lpstr>PowerPoint 演示文稿</vt:lpstr>
      <vt:lpstr>第8章  图形化界面设计</vt:lpstr>
      <vt:lpstr>内容</vt:lpstr>
      <vt:lpstr>PowerPoint 演示文稿</vt:lpstr>
      <vt:lpstr>PowerPoint 演示文稿</vt:lpstr>
      <vt:lpstr>PowerPoint 演示文稿</vt:lpstr>
      <vt:lpstr>1．标签（Label）和消息（Message）</vt:lpstr>
      <vt:lpstr>PowerPoint 演示文稿</vt:lpstr>
      <vt:lpstr>PowerPoint 演示文稿</vt:lpstr>
      <vt:lpstr>3．输入框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亮君彳亍</cp:lastModifiedBy>
  <cp:revision>386</cp:revision>
  <dcterms:created xsi:type="dcterms:W3CDTF">2021-02-16T12:16:00Z</dcterms:created>
  <dcterms:modified xsi:type="dcterms:W3CDTF">2026-09-19T13:43:16Z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14D19AC4D90E49F5A42D6F33AC01C73A_13</vt:lpwstr>
  </property>
</Properties>
</file>