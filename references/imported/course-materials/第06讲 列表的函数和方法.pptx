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sldIdLst>
    <p:sldId id="256" r:id="rId2"/>
    <p:sldId id="488" r:id="rId3"/>
    <p:sldId id="335" r:id="rId4"/>
    <p:sldId id="384" r:id="rId5"/>
    <p:sldId id="369" r:id="rId6"/>
    <p:sldId id="506" r:id="rId7"/>
    <p:sldId id="385" r:id="rId8"/>
    <p:sldId id="510" r:id="rId9"/>
    <p:sldId id="509" r:id="rId10"/>
    <p:sldId id="511" r:id="rId11"/>
    <p:sldId id="389" r:id="rId12"/>
    <p:sldId id="390" r:id="rId13"/>
    <p:sldId id="392" r:id="rId14"/>
    <p:sldId id="379" r:id="rId15"/>
    <p:sldId id="370" r:id="rId16"/>
    <p:sldId id="371" r:id="rId17"/>
    <p:sldId id="398" r:id="rId18"/>
    <p:sldId id="431" r:id="rId19"/>
    <p:sldId id="495" r:id="rId20"/>
    <p:sldId id="422" r:id="rId21"/>
    <p:sldId id="424" r:id="rId22"/>
    <p:sldId id="423" r:id="rId23"/>
    <p:sldId id="496" r:id="rId24"/>
    <p:sldId id="407" r:id="rId25"/>
    <p:sldId id="408" r:id="rId26"/>
    <p:sldId id="430" r:id="rId27"/>
    <p:sldId id="435" r:id="rId28"/>
    <p:sldId id="426" r:id="rId29"/>
    <p:sldId id="427" r:id="rId30"/>
    <p:sldId id="497" r:id="rId31"/>
    <p:sldId id="428" r:id="rId32"/>
    <p:sldId id="500" r:id="rId33"/>
    <p:sldId id="505" r:id="rId34"/>
    <p:sldId id="429" r:id="rId35"/>
    <p:sldId id="501" r:id="rId36"/>
    <p:sldId id="502" r:id="rId37"/>
    <p:sldId id="503" r:id="rId38"/>
    <p:sldId id="305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FF0000"/>
    <a:srgbClr val="333399"/>
    <a:srgbClr val="0066CC"/>
    <a:srgbClr val="000066"/>
    <a:srgbClr val="000099"/>
    <a:srgbClr val="003366"/>
    <a:srgbClr val="000000"/>
    <a:srgbClr val="FFFF7D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22" autoAdjust="0"/>
    <p:restoredTop sz="90307" autoAdjust="0"/>
  </p:normalViewPr>
  <p:slideViewPr>
    <p:cSldViewPr showGuides="1">
      <p:cViewPr varScale="1">
        <p:scale>
          <a:sx n="90" d="100"/>
          <a:sy n="90" d="100"/>
        </p:scale>
        <p:origin x="15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A1E2DAC-4782-44FB-9A53-5558A30D4FC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9813925" y="695325"/>
            <a:ext cx="19629438" cy="14722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9813925" y="695325"/>
            <a:ext cx="19629438" cy="14722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9813925" y="695325"/>
            <a:ext cx="19629438" cy="14722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9813925" y="695325"/>
            <a:ext cx="19629438" cy="14722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9813925" y="695325"/>
            <a:ext cx="19629438" cy="147224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481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D849193-F9B6-48D7-B363-F358FF649AD0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1912" y="2490788"/>
            <a:ext cx="6337002" cy="939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691256" y="4095155"/>
            <a:ext cx="5760491" cy="1782117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 dirty="0"/>
              <a:t>姓名 单位与部门</a:t>
            </a:r>
          </a:p>
          <a:p>
            <a:pPr lvl="0"/>
            <a:r>
              <a:rPr lang="zh-CN" altLang="en-US" noProof="0" dirty="0"/>
              <a:t>邮箱</a:t>
            </a:r>
            <a:endParaRPr lang="en-US" altLang="zh-CN" noProof="0" dirty="0"/>
          </a:p>
          <a:p>
            <a:pPr lvl="0"/>
            <a:fld id="{6C40B87A-88C1-4508-9DA4-E8CBD3BEE188}" type="datetime1">
              <a:rPr lang="zh-CN" altLang="en-US" noProof="0" smtClean="0"/>
              <a:t>​</a:t>
            </a:fld>
            <a:endParaRPr lang="en-US" altLang="zh-CN" noProof="0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DDD88B1-7A10-4A08-90CC-1CD2F1EC6034}" type="datetime1">
              <a:rPr lang="zh-CN" altLang="en-US" smtClean="0"/>
              <a:t>2026/3/17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</a:p>
        </p:txBody>
      </p:sp>
      <p:sp>
        <p:nvSpPr>
          <p:cNvPr id="15367" name="AutoShape 7"/>
          <p:cNvSpPr>
            <a:spLocks noChangeArrowheads="1"/>
          </p:cNvSpPr>
          <p:nvPr/>
        </p:nvSpPr>
        <p:spPr bwMode="auto">
          <a:xfrm>
            <a:off x="684213" y="1844675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683569" y="908050"/>
            <a:ext cx="7055345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dirty="0"/>
              <a:t>Python</a:t>
            </a:r>
            <a:r>
              <a:rPr lang="zh-CN" altLang="en-US" sz="3600" dirty="0"/>
              <a:t>程序设计</a:t>
            </a:r>
          </a:p>
        </p:txBody>
      </p:sp>
      <p:pic>
        <p:nvPicPr>
          <p:cNvPr id="15369" name="Picture 9" descr="python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41" y="63029"/>
            <a:ext cx="2087563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1912" y="2490788"/>
            <a:ext cx="6337002" cy="939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691256" y="4095155"/>
            <a:ext cx="5760491" cy="1782117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 dirty="0"/>
              <a:t>姓名 单位与部门</a:t>
            </a:r>
          </a:p>
          <a:p>
            <a:pPr lvl="0"/>
            <a:r>
              <a:rPr lang="zh-CN" altLang="en-US" noProof="0" dirty="0"/>
              <a:t>邮箱</a:t>
            </a:r>
            <a:endParaRPr lang="en-US" altLang="zh-CN" noProof="0" dirty="0"/>
          </a:p>
          <a:p>
            <a:pPr lvl="0"/>
            <a:fld id="{6C40B87A-88C1-4508-9DA4-E8CBD3BEE188}" type="datetime1">
              <a:rPr lang="zh-CN" altLang="en-US" noProof="0" smtClean="0"/>
              <a:t>​</a:t>
            </a:fld>
            <a:endParaRPr lang="en-US" altLang="zh-CN" noProof="0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4D5E360-93E4-4E1B-A380-B3DE781A9A23}" type="datetime1">
              <a:rPr lang="zh-CN" altLang="en-US" smtClean="0"/>
              <a:t>2026/3/17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</a:p>
        </p:txBody>
      </p:sp>
      <p:sp>
        <p:nvSpPr>
          <p:cNvPr id="15367" name="AutoShape 7"/>
          <p:cNvSpPr>
            <a:spLocks noChangeArrowheads="1"/>
          </p:cNvSpPr>
          <p:nvPr/>
        </p:nvSpPr>
        <p:spPr bwMode="auto">
          <a:xfrm>
            <a:off x="684213" y="1844675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zh-CN" sz="2400">
              <a:latin typeface="Times New Roman" panose="02020603050405020304" pitchFamily="18" charset="0"/>
            </a:endParaRPr>
          </a:p>
        </p:txBody>
      </p:sp>
      <p:pic>
        <p:nvPicPr>
          <p:cNvPr id="15369" name="Picture 9" descr="python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125538"/>
            <a:ext cx="2087563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73E53F-0419-4996-A25D-0CD45C06100A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6AA6B-51D0-4508-BF0C-1C5E473C4B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E677-6D1F-4C12-8186-642007469EF5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77A28-E063-4957-84E5-9A2BAFEED1DA}" type="slidenum">
              <a:rPr lang="en-US" altLang="zh-CN" smtClean="0"/>
              <a:t>‹#›</a:t>
            </a:fld>
            <a:endParaRPr lang="en-US" altLang="zh-CN"/>
          </a:p>
        </p:txBody>
      </p:sp>
      <p:pic>
        <p:nvPicPr>
          <p:cNvPr id="7" name="Picture 3" descr="MP900433169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141663"/>
            <a:ext cx="4568825" cy="245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 userDrawn="1"/>
        </p:nvSpPr>
        <p:spPr>
          <a:xfrm>
            <a:off x="1600175" y="1772816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99"/>
                </a:solidFill>
                <a:ea typeface="华文中宋" panose="02010600040101010101" pitchFamily="2" charset="-122"/>
              </a:rPr>
              <a:t>美好课堂，携手共建！</a:t>
            </a:r>
            <a:endParaRPr lang="zh-CN" alt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014A06-D3BC-4CB3-98C9-873738FE91CA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780F86-65E5-4E82-83E8-BD4492FBCE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052513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052513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1BE44-A556-481A-AC56-064A5E515907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6DD6A5-92CF-45FF-88C0-62C512EF530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E58AC6D-140B-482C-9275-A5C274171D8B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E1A705-9A87-40D9-8585-F8F26534989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7C5EBC-53EF-4A9A-834D-74F3FE2368D1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3A100-B4E9-43DB-8D48-3D41510D71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01B711-3AD1-4335-9A22-7E7FDAC9634B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7BB829-CC45-4FC3-9232-AAB10ADADDB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BC317A-B5C9-4417-BD17-032E338A0779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EE6-27F5-4707-951E-E94718B787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25D859-1A24-4B19-9B8E-821F542637D1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E4838-1D78-4401-94EA-D6F3181B7AC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6C5C79-C840-4861-A9CE-40F2FEAE1B2C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632E8-82DA-4D24-8EB3-4495BB085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C0F5FB6-5F9C-46A2-AEE4-A760426C97CA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0C019F-EE32-4A6F-91D7-1B31B755558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188913"/>
            <a:ext cx="80010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norm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052512"/>
            <a:ext cx="8001000" cy="5219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609600" y="908050"/>
            <a:ext cx="7958138" cy="109538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 flipV="1">
            <a:off x="609600" y="63087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9812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fld id="{21EE3008-BA98-4CF1-B98E-1C219948CA83}" type="datetime1">
              <a:rPr lang="zh-CN" altLang="en-US" smtClean="0"/>
              <a:t>2026/3/17</a:t>
            </a:fld>
            <a:endParaRPr lang="en-US" altLang="zh-CN" dirty="0"/>
          </a:p>
        </p:txBody>
      </p:sp>
      <p:sp>
        <p:nvSpPr>
          <p:cNvPr id="1434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6381750"/>
            <a:ext cx="19812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AD777A28-E063-4957-84E5-9A2BAFEED1DA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4350" name="Picture 14" descr="python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5" y="188913"/>
            <a:ext cx="2009775" cy="67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1" fontAlgn="base" hangingPunct="1">
        <a:lnSpc>
          <a:spcPct val="12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讲  列表的函数和方法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CN" altLang="en-US" dirty="0"/>
              <a:t>上海对外经贸大学</a:t>
            </a:r>
            <a:endParaRPr lang="en-US" altLang="zh-CN" dirty="0"/>
          </a:p>
          <a:p>
            <a:pPr algn="ctr"/>
            <a:r>
              <a:rPr lang="zh-CN" altLang="en-US" dirty="0"/>
              <a:t>统计与数据科学学院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教师信息与答疑时间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孙强</a:t>
            </a:r>
            <a:endParaRPr lang="en-US" altLang="zh-CN" dirty="0"/>
          </a:p>
          <a:p>
            <a:r>
              <a:rPr lang="en-US" altLang="zh-CN" dirty="0"/>
              <a:t>sunqiang@suibe.edu.cn</a:t>
            </a:r>
          </a:p>
          <a:p>
            <a:r>
              <a:rPr lang="zh-CN" altLang="en-US" dirty="0"/>
              <a:t>答疑时间与地点见教学方案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92CA3-96CE-40BF-83DE-4301A2DF3CD3}" type="datetime1">
              <a:rPr lang="zh-CN" altLang="en-US" smtClean="0"/>
              <a:t>2026/3/17</a:t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本节内容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列表的运算 </a:t>
            </a:r>
            <a:endParaRPr lang="en-US" altLang="zh-CN" dirty="0"/>
          </a:p>
          <a:p>
            <a:r>
              <a:rPr lang="zh-CN" altLang="en-US" dirty="0"/>
              <a:t>列表元素的插入与扩展</a:t>
            </a:r>
          </a:p>
          <a:p>
            <a:r>
              <a:rPr lang="zh-CN" altLang="en-US" dirty="0"/>
              <a:t>列表常用函数</a:t>
            </a:r>
          </a:p>
          <a:p>
            <a:r>
              <a:rPr lang="zh-CN" altLang="en-US" dirty="0"/>
              <a:t>列表元素与列表对象的删除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88913"/>
            <a:ext cx="8396163" cy="71913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列表元素的遍历（第</a:t>
            </a:r>
            <a:r>
              <a:rPr lang="en-US" altLang="zh-CN" dirty="0"/>
              <a:t>04</a:t>
            </a:r>
            <a:r>
              <a:rPr lang="zh-CN" altLang="en-US" dirty="0"/>
              <a:t>讲</a:t>
            </a:r>
            <a:r>
              <a:rPr lang="en-US" altLang="zh-CN" dirty="0"/>
              <a:t>for</a:t>
            </a:r>
            <a:r>
              <a:rPr lang="zh-CN" altLang="en-US" dirty="0"/>
              <a:t>循环中已讲）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908050"/>
            <a:ext cx="8001000" cy="115225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两种方法：</a:t>
            </a:r>
            <a:endParaRPr lang="en-US" altLang="zh-CN" dirty="0"/>
          </a:p>
          <a:p>
            <a:pPr lvl="1"/>
            <a:r>
              <a:rPr lang="zh-CN" altLang="en-US" dirty="0"/>
              <a:t>直接访问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4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2025923"/>
            <a:ext cx="7858903" cy="15070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内容占位符 2"/>
          <p:cNvSpPr txBox="1"/>
          <p:nvPr/>
        </p:nvSpPr>
        <p:spPr bwMode="auto">
          <a:xfrm>
            <a:off x="574675" y="3645024"/>
            <a:ext cx="800100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469900" indent="-469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u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1" fontAlgn="base" hangingPunct="1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通过索引访问</a:t>
            </a:r>
            <a:endParaRPr lang="en-US" altLang="zh-C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4276647"/>
            <a:ext cx="8280921" cy="16820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4.1.5 </a:t>
            </a:r>
            <a:r>
              <a:rPr lang="zh-CN" altLang="en-US" dirty="0"/>
              <a:t>列表的运算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64640"/>
            <a:ext cx="8469758" cy="620367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1.</a:t>
            </a:r>
            <a:r>
              <a:rPr lang="zh-CN" altLang="en-US" sz="2800" dirty="0"/>
              <a:t>列表</a:t>
            </a:r>
            <a:r>
              <a:rPr lang="zh-CN" altLang="en-US" sz="2800" b="1" dirty="0">
                <a:solidFill>
                  <a:srgbClr val="00B0F0"/>
                </a:solidFill>
              </a:rPr>
              <a:t>相加</a:t>
            </a:r>
            <a:r>
              <a:rPr lang="zh-CN" altLang="en-US" sz="2800" dirty="0"/>
              <a:t>：通过列表相加的方法生成新列表。</a:t>
            </a:r>
            <a:endParaRPr lang="en-US" altLang="zh-CN" dirty="0"/>
          </a:p>
          <a:p>
            <a:pPr marL="33020" indent="0">
              <a:buNone/>
            </a:pPr>
            <a:endParaRPr lang="en-US" altLang="zh-CN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5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864469" y="1738167"/>
            <a:ext cx="7704856" cy="2073685"/>
            <a:chOff x="323528" y="1196752"/>
            <a:chExt cx="7704856" cy="2073685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196752"/>
              <a:ext cx="6475573" cy="19067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椭圆形标注 6"/>
            <p:cNvSpPr/>
            <p:nvPr/>
          </p:nvSpPr>
          <p:spPr bwMode="auto">
            <a:xfrm>
              <a:off x="5286932" y="2492896"/>
              <a:ext cx="2741452" cy="777541"/>
            </a:xfrm>
            <a:prstGeom prst="wedgeEllipseCallout">
              <a:avLst>
                <a:gd name="adj1" fmla="val -88696"/>
                <a:gd name="adj2" fmla="val -31682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rgbClr val="FF0000"/>
                  </a:solidFill>
                </a:rPr>
                <a:t>vehicle1</a:t>
              </a:r>
              <a:r>
                <a:rPr lang="zh-CN" altLang="en-US" dirty="0">
                  <a:solidFill>
                    <a:srgbClr val="FF0000"/>
                  </a:solidFill>
                </a:rPr>
                <a:t>和</a:t>
              </a:r>
              <a:r>
                <a:rPr lang="en-US" altLang="zh-CN" dirty="0">
                  <a:solidFill>
                    <a:srgbClr val="FF0000"/>
                  </a:solidFill>
                </a:rPr>
                <a:t>vehicle2</a:t>
              </a:r>
            </a:p>
            <a:p>
              <a:r>
                <a:rPr lang="zh-CN" altLang="en-US" dirty="0">
                  <a:solidFill>
                    <a:srgbClr val="FF0000"/>
                  </a:solidFill>
                </a:rPr>
                <a:t>都没有改变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74675" y="3968442"/>
            <a:ext cx="8426224" cy="973573"/>
            <a:chOff x="683568" y="3535547"/>
            <a:chExt cx="8426224" cy="973573"/>
          </a:xfrm>
        </p:grpSpPr>
        <p:pic>
          <p:nvPicPr>
            <p:cNvPr id="13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888753"/>
              <a:ext cx="6619589" cy="620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椭圆形标注 7"/>
            <p:cNvSpPr/>
            <p:nvPr/>
          </p:nvSpPr>
          <p:spPr bwMode="auto">
            <a:xfrm>
              <a:off x="5148064" y="3535547"/>
              <a:ext cx="3961728" cy="672494"/>
            </a:xfrm>
            <a:prstGeom prst="wedgeEllipseCallout">
              <a:avLst>
                <a:gd name="adj1" fmla="val -68514"/>
                <a:gd name="adj2" fmla="val 44820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/>
                <a:t>生成新列表赋值给变量</a:t>
              </a:r>
              <a:r>
                <a:rPr lang="en-US" altLang="zh-CN" dirty="0"/>
                <a:t>vehicle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74675" y="5257097"/>
            <a:ext cx="5468566" cy="451786"/>
            <a:chOff x="721005" y="5000279"/>
            <a:chExt cx="5468566" cy="451786"/>
          </a:xfrm>
        </p:grpSpPr>
        <p:sp>
          <p:nvSpPr>
            <p:cNvPr id="11" name="椭圆形标注 9"/>
            <p:cNvSpPr/>
            <p:nvPr/>
          </p:nvSpPr>
          <p:spPr bwMode="auto">
            <a:xfrm>
              <a:off x="4106557" y="5000279"/>
              <a:ext cx="2083014" cy="451786"/>
            </a:xfrm>
            <a:prstGeom prst="wedgeEllipseCallout">
              <a:avLst>
                <a:gd name="adj1" fmla="val -93682"/>
                <a:gd name="adj2" fmla="val -20678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/>
                <a:t>复合赋值语句</a:t>
              </a:r>
            </a:p>
          </p:txBody>
        </p:sp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005" y="5042337"/>
              <a:ext cx="2656557" cy="2494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5758820"/>
            <a:ext cx="7399619" cy="47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4.1.5 </a:t>
            </a:r>
            <a:r>
              <a:rPr lang="zh-CN" altLang="en-US" dirty="0"/>
              <a:t>列表的运算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42022"/>
            <a:ext cx="8469758" cy="1278866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2.</a:t>
            </a:r>
            <a:r>
              <a:rPr lang="zh-CN" altLang="en-US" sz="2800" dirty="0"/>
              <a:t>列表</a:t>
            </a:r>
            <a:r>
              <a:rPr lang="zh-CN" altLang="en-US" sz="2800" b="1" dirty="0">
                <a:solidFill>
                  <a:srgbClr val="00B0F0"/>
                </a:solidFill>
              </a:rPr>
              <a:t>相乘</a:t>
            </a:r>
            <a:r>
              <a:rPr lang="zh-CN" altLang="en-US" sz="2800" dirty="0"/>
              <a:t>：用数字</a:t>
            </a:r>
            <a:r>
              <a:rPr lang="en-US" altLang="zh-CN" sz="2800" dirty="0"/>
              <a:t>n</a:t>
            </a:r>
            <a:r>
              <a:rPr lang="zh-CN" altLang="en-US" sz="2800" dirty="0"/>
              <a:t>乘以一个列表会生成一个新列表。在新列表中原来列表的元素将被重复</a:t>
            </a:r>
            <a:r>
              <a:rPr lang="en-US" altLang="zh-CN" sz="2800" dirty="0"/>
              <a:t>n</a:t>
            </a:r>
            <a:r>
              <a:rPr lang="zh-CN" altLang="en-US" sz="2800" dirty="0"/>
              <a:t>次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6</a:t>
            </a:fld>
            <a:endParaRPr lang="en-US" altLang="zh-C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3864429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4.1.6 </a:t>
            </a:r>
            <a:r>
              <a:rPr lang="zh-CN" altLang="en-US" dirty="0"/>
              <a:t>列表元素的插入与扩展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5027" y="1124744"/>
            <a:ext cx="8136904" cy="4956809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添加列表元素除了“</a:t>
            </a:r>
            <a:r>
              <a:rPr lang="en-US" altLang="zh-CN" sz="2400" dirty="0"/>
              <a:t>+</a:t>
            </a:r>
            <a:r>
              <a:rPr lang="zh-CN" altLang="en-US" sz="2400" dirty="0"/>
              <a:t>”、“</a:t>
            </a:r>
            <a:r>
              <a:rPr lang="en-US" altLang="zh-CN" sz="2400" dirty="0"/>
              <a:t>+=</a:t>
            </a:r>
            <a:r>
              <a:rPr lang="zh-CN" altLang="en-US" sz="2400" dirty="0"/>
              <a:t>”、“</a:t>
            </a:r>
            <a:r>
              <a:rPr lang="en-US" altLang="zh-CN" sz="2400" dirty="0"/>
              <a:t>*</a:t>
            </a:r>
            <a:r>
              <a:rPr lang="zh-CN" altLang="en-US" sz="2400" dirty="0"/>
              <a:t>”、“</a:t>
            </a:r>
            <a:r>
              <a:rPr lang="en-US" altLang="zh-CN" sz="2400" dirty="0"/>
              <a:t>*=</a:t>
            </a:r>
            <a:r>
              <a:rPr lang="zh-CN" altLang="en-US" sz="2400" dirty="0"/>
              <a:t>”运算符以外，还有</a:t>
            </a:r>
            <a:r>
              <a:rPr lang="en-US" altLang="zh-CN" sz="2400" dirty="0"/>
              <a:t>append()</a:t>
            </a:r>
            <a:r>
              <a:rPr lang="zh-CN" altLang="en-US" sz="2400" dirty="0"/>
              <a:t>、</a:t>
            </a:r>
            <a:r>
              <a:rPr lang="en-US" altLang="zh-CN" sz="2400" dirty="0"/>
              <a:t>extend()</a:t>
            </a:r>
            <a:r>
              <a:rPr lang="zh-CN" altLang="en-US" sz="2400" dirty="0"/>
              <a:t>、</a:t>
            </a:r>
            <a:r>
              <a:rPr lang="en-US" altLang="zh-CN" sz="2400" dirty="0"/>
              <a:t>insert()</a:t>
            </a:r>
            <a:r>
              <a:rPr lang="zh-CN" altLang="en-US" sz="2400" dirty="0"/>
              <a:t>方法。</a:t>
            </a:r>
            <a:endParaRPr lang="en-US" altLang="zh-CN" sz="2400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append( )</a:t>
            </a:r>
            <a:r>
              <a:rPr lang="zh-CN" altLang="en-US" dirty="0"/>
              <a:t>方法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4675" y="1047978"/>
            <a:ext cx="8136904" cy="576064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追加单个元素到列表的尾部，其参数只接收一个元素。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8</a:t>
            </a:fld>
            <a:endParaRPr lang="en-US" altLang="zh-CN"/>
          </a:p>
        </p:txBody>
      </p:sp>
      <p:grpSp>
        <p:nvGrpSpPr>
          <p:cNvPr id="16" name="组合 15"/>
          <p:cNvGrpSpPr/>
          <p:nvPr/>
        </p:nvGrpSpPr>
        <p:grpSpPr>
          <a:xfrm>
            <a:off x="590399" y="1589438"/>
            <a:ext cx="8280614" cy="4676422"/>
            <a:chOff x="590399" y="1589438"/>
            <a:chExt cx="8280614" cy="4676422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540" y="1589438"/>
              <a:ext cx="5399177" cy="2368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897" y="1891618"/>
              <a:ext cx="3374481" cy="248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996" y="2315285"/>
              <a:ext cx="4759791" cy="473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142" y="2953007"/>
              <a:ext cx="2569342" cy="248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3622" y="3358408"/>
              <a:ext cx="5150520" cy="473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0399" y="4015796"/>
              <a:ext cx="3007433" cy="248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65" y="4436102"/>
              <a:ext cx="6062221" cy="473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410" y="5195147"/>
              <a:ext cx="6334113" cy="1070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椭圆形标注 28"/>
            <p:cNvSpPr/>
            <p:nvPr/>
          </p:nvSpPr>
          <p:spPr bwMode="auto">
            <a:xfrm>
              <a:off x="6063671" y="2706933"/>
              <a:ext cx="2684793" cy="613625"/>
            </a:xfrm>
            <a:prstGeom prst="wedgeEllipseCallout">
              <a:avLst>
                <a:gd name="adj1" fmla="val -77775"/>
                <a:gd name="adj2" fmla="val 7466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追加一个元素</a:t>
              </a:r>
              <a:r>
                <a:rPr lang="en-US" altLang="zh-CN" dirty="0"/>
                <a:t>8</a:t>
              </a:r>
            </a:p>
          </p:txBody>
        </p:sp>
        <p:sp>
          <p:nvSpPr>
            <p:cNvPr id="13" name="椭圆形标注 29"/>
            <p:cNvSpPr/>
            <p:nvPr/>
          </p:nvSpPr>
          <p:spPr bwMode="auto">
            <a:xfrm>
              <a:off x="6380709" y="3849819"/>
              <a:ext cx="2490303" cy="613625"/>
            </a:xfrm>
            <a:prstGeom prst="wedgeEllipseCallout">
              <a:avLst>
                <a:gd name="adj1" fmla="val -80346"/>
                <a:gd name="adj2" fmla="val -1300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追加一个元素</a:t>
              </a:r>
              <a:r>
                <a:rPr lang="en-US" altLang="zh-CN" dirty="0"/>
                <a:t>[8,9]</a:t>
              </a:r>
            </a:p>
          </p:txBody>
        </p:sp>
        <p:sp>
          <p:nvSpPr>
            <p:cNvPr id="14" name="椭圆形标注 30"/>
            <p:cNvSpPr/>
            <p:nvPr/>
          </p:nvSpPr>
          <p:spPr bwMode="auto">
            <a:xfrm>
              <a:off x="6030189" y="1619591"/>
              <a:ext cx="2751756" cy="613625"/>
            </a:xfrm>
            <a:prstGeom prst="wedgeEllipseCallout">
              <a:avLst>
                <a:gd name="adj1" fmla="val -81244"/>
                <a:gd name="adj2" fmla="val 3083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追加一个元素</a:t>
              </a:r>
              <a:r>
                <a:rPr lang="en-US" altLang="zh-CN" dirty="0"/>
                <a:t>'plane'</a:t>
              </a:r>
            </a:p>
          </p:txBody>
        </p:sp>
        <p:sp>
          <p:nvSpPr>
            <p:cNvPr id="15" name="椭圆形标注 31"/>
            <p:cNvSpPr/>
            <p:nvPr/>
          </p:nvSpPr>
          <p:spPr bwMode="auto">
            <a:xfrm>
              <a:off x="6253565" y="4821836"/>
              <a:ext cx="2617448" cy="837975"/>
            </a:xfrm>
            <a:prstGeom prst="wedgeEllipseCallout">
              <a:avLst>
                <a:gd name="adj1" fmla="val -108922"/>
                <a:gd name="adj2" fmla="val 17708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追加</a:t>
              </a:r>
              <a:r>
                <a:rPr lang="en-US" altLang="zh-CN" dirty="0"/>
                <a:t>2</a:t>
              </a:r>
              <a:r>
                <a:rPr lang="zh-CN" altLang="en-US" dirty="0"/>
                <a:t>个元素</a:t>
              </a:r>
              <a:r>
                <a:rPr lang="en-US" altLang="zh-CN" dirty="0"/>
                <a:t>10</a:t>
              </a:r>
              <a:r>
                <a:rPr lang="zh-CN" altLang="en-US" dirty="0"/>
                <a:t>和</a:t>
              </a:r>
              <a:r>
                <a:rPr lang="en-US" altLang="zh-CN" dirty="0"/>
                <a:t>11</a:t>
              </a:r>
            </a:p>
            <a:p>
              <a:r>
                <a:rPr lang="zh-CN" altLang="en-US" dirty="0"/>
                <a:t>出错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extend( )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4507" y="961622"/>
            <a:ext cx="8784976" cy="685712"/>
          </a:xfrm>
        </p:spPr>
        <p:txBody>
          <a:bodyPr>
            <a:normAutofit fontScale="55000" lnSpcReduction="20000"/>
          </a:bodyPr>
          <a:lstStyle/>
          <a:p>
            <a:r>
              <a:rPr lang="zh-CN" altLang="en-US" dirty="0"/>
              <a:t>在列表的末尾一次性追加另一个可迭代对象（如列表、元组、字符串等）中的所有元素。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9</a:t>
            </a:fld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1842963" y="1412776"/>
            <a:ext cx="5458074" cy="4766306"/>
            <a:chOff x="437203" y="1487463"/>
            <a:chExt cx="5458074" cy="4766306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487463"/>
              <a:ext cx="4352925" cy="200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789273"/>
              <a:ext cx="2800350" cy="200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2077305"/>
              <a:ext cx="382905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03" y="2581361"/>
              <a:ext cx="223837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203" y="2797385"/>
              <a:ext cx="4143375" cy="390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841" y="3408498"/>
              <a:ext cx="2428875" cy="180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841" y="3630996"/>
              <a:ext cx="4705350" cy="390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9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177" y="5329844"/>
              <a:ext cx="5372100" cy="92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10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4240199"/>
              <a:ext cx="4038600" cy="933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0232" y="4455574"/>
            <a:ext cx="2206353" cy="10058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insert( )</a:t>
            </a:r>
            <a:r>
              <a:rPr lang="zh-CN" altLang="en-US" dirty="0"/>
              <a:t>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46508"/>
            <a:ext cx="8001000" cy="719138"/>
          </a:xfrm>
        </p:spPr>
        <p:txBody>
          <a:bodyPr/>
          <a:lstStyle/>
          <a:p>
            <a:r>
              <a:rPr lang="zh-CN" altLang="en-US" dirty="0"/>
              <a:t>将一个元素插入到列表的任意位置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10</a:t>
            </a:fld>
            <a:endParaRPr lang="en-US" altLang="zh-CN"/>
          </a:p>
        </p:txBody>
      </p:sp>
      <p:grpSp>
        <p:nvGrpSpPr>
          <p:cNvPr id="19" name="组合 18"/>
          <p:cNvGrpSpPr/>
          <p:nvPr/>
        </p:nvGrpSpPr>
        <p:grpSpPr>
          <a:xfrm>
            <a:off x="569703" y="1556792"/>
            <a:ext cx="8324462" cy="4614281"/>
            <a:chOff x="569703" y="1556792"/>
            <a:chExt cx="8324462" cy="461428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675" y="1556792"/>
              <a:ext cx="5111547" cy="258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044" y="1913782"/>
              <a:ext cx="3332634" cy="2251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044" y="2293333"/>
              <a:ext cx="4537336" cy="439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763" y="3967946"/>
              <a:ext cx="5539378" cy="4390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03" y="4542538"/>
              <a:ext cx="3310118" cy="236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044" y="4886503"/>
              <a:ext cx="6473868" cy="450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2" name="组合 11"/>
            <p:cNvGrpSpPr/>
            <p:nvPr/>
          </p:nvGrpSpPr>
          <p:grpSpPr>
            <a:xfrm>
              <a:off x="608763" y="3034578"/>
              <a:ext cx="4720809" cy="788844"/>
              <a:chOff x="643279" y="3081920"/>
              <a:chExt cx="4720809" cy="788844"/>
            </a:xfrm>
          </p:grpSpPr>
          <p:pic>
            <p:nvPicPr>
              <p:cNvPr id="13" name="Picture 5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3279" y="3623068"/>
                <a:ext cx="3321378" cy="2476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" name="圆角矩形标注 12"/>
              <p:cNvSpPr/>
              <p:nvPr/>
            </p:nvSpPr>
            <p:spPr bwMode="auto">
              <a:xfrm>
                <a:off x="1475656" y="3081920"/>
                <a:ext cx="1080120" cy="396624"/>
              </a:xfrm>
              <a:prstGeom prst="wedgeRoundRectCallout">
                <a:avLst>
                  <a:gd name="adj1" fmla="val 74123"/>
                  <a:gd name="adj2" fmla="val 91934"/>
                  <a:gd name="adj3" fmla="val 16667"/>
                </a:avLst>
              </a:prstGeom>
              <a:noFill/>
              <a:ln w="9360">
                <a:solidFill>
                  <a:schemeClr val="tx1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r>
                  <a:rPr lang="zh-CN" altLang="en-US" sz="1600" dirty="0"/>
                  <a:t>插入位置</a:t>
                </a:r>
              </a:p>
            </p:txBody>
          </p:sp>
          <p:sp>
            <p:nvSpPr>
              <p:cNvPr id="15" name="圆角矩形标注 13"/>
              <p:cNvSpPr/>
              <p:nvPr/>
            </p:nvSpPr>
            <p:spPr bwMode="auto">
              <a:xfrm>
                <a:off x="4283968" y="3081920"/>
                <a:ext cx="1080120" cy="396624"/>
              </a:xfrm>
              <a:prstGeom prst="wedgeRoundRectCallout">
                <a:avLst>
                  <a:gd name="adj1" fmla="val -120493"/>
                  <a:gd name="adj2" fmla="val 95089"/>
                  <a:gd name="adj3" fmla="val 16667"/>
                </a:avLst>
              </a:prstGeom>
              <a:noFill/>
              <a:ln w="9360">
                <a:solidFill>
                  <a:schemeClr val="tx1"/>
                </a:solidFill>
                <a:miter lim="800000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pPr algn="ctr"/>
                <a:r>
                  <a:rPr lang="zh-CN" altLang="en-US" sz="1400" dirty="0"/>
                  <a:t>插入元素</a:t>
                </a:r>
              </a:p>
            </p:txBody>
          </p:sp>
        </p:grp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64349" y="5589967"/>
              <a:ext cx="6811326" cy="581106"/>
            </a:xfrm>
            <a:prstGeom prst="rect">
              <a:avLst/>
            </a:prstGeom>
          </p:spPr>
        </p:pic>
        <p:sp>
          <p:nvSpPr>
            <p:cNvPr id="18" name="对话气泡: 圆角矩形 17"/>
            <p:cNvSpPr/>
            <p:nvPr/>
          </p:nvSpPr>
          <p:spPr>
            <a:xfrm>
              <a:off x="7164288" y="4936129"/>
              <a:ext cx="1729877" cy="801460"/>
            </a:xfrm>
            <a:prstGeom prst="wedgeRoundRectCallout">
              <a:avLst>
                <a:gd name="adj1" fmla="val -204168"/>
                <a:gd name="adj2" fmla="val 29974"/>
                <a:gd name="adj3" fmla="val 16667"/>
              </a:avLst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HK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rgbClr val="0000FF"/>
                  </a:solidFill>
                </a:rPr>
                <a:t>位置的序号为列表长度时，表示在末尾插入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4-2】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80728"/>
            <a:ext cx="9189838" cy="5219699"/>
          </a:xfrm>
        </p:spPr>
        <p:txBody>
          <a:bodyPr/>
          <a:lstStyle/>
          <a:p>
            <a:r>
              <a:rPr lang="zh-CN" altLang="en-US" sz="2400" dirty="0"/>
              <a:t>用户分别从键盘输入</a:t>
            </a:r>
            <a:r>
              <a:rPr lang="en-US" altLang="zh-CN" sz="2400" dirty="0"/>
              <a:t>4</a:t>
            </a:r>
            <a:r>
              <a:rPr lang="zh-CN" altLang="en-US" sz="2400" dirty="0"/>
              <a:t>个整数和</a:t>
            </a:r>
            <a:r>
              <a:rPr lang="en-US" altLang="zh-CN" sz="2400" dirty="0"/>
              <a:t>3</a:t>
            </a:r>
            <a:r>
              <a:rPr lang="zh-CN" altLang="en-US" sz="2400" dirty="0"/>
              <a:t>个整数组成列表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和</a:t>
            </a:r>
            <a:r>
              <a:rPr lang="en-US" altLang="zh-CN" sz="2400" dirty="0"/>
              <a:t>list2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将列表</a:t>
            </a:r>
            <a:r>
              <a:rPr lang="en-US" altLang="zh-CN" sz="2000" dirty="0"/>
              <a:t>list2</a:t>
            </a:r>
            <a:r>
              <a:rPr lang="zh-CN" altLang="en-US" sz="2000" dirty="0"/>
              <a:t>合并到</a:t>
            </a:r>
            <a:r>
              <a:rPr lang="en-US" altLang="zh-CN" sz="2000" dirty="0"/>
              <a:t>list1</a:t>
            </a:r>
            <a:r>
              <a:rPr lang="zh-CN" altLang="en-US" sz="2000" dirty="0"/>
              <a:t>中；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在</a:t>
            </a:r>
            <a:r>
              <a:rPr lang="en-US" altLang="zh-CN" sz="2000" dirty="0"/>
              <a:t>list1</a:t>
            </a:r>
            <a:r>
              <a:rPr lang="zh-CN" altLang="en-US" sz="2000" dirty="0"/>
              <a:t>末尾再添加两个数字</a:t>
            </a:r>
            <a:r>
              <a:rPr lang="en-US" altLang="zh-CN" sz="2000" dirty="0"/>
              <a:t>90</a:t>
            </a:r>
            <a:r>
              <a:rPr lang="zh-CN" altLang="en-US" sz="2000" dirty="0"/>
              <a:t>和</a:t>
            </a:r>
            <a:r>
              <a:rPr lang="en-US" altLang="zh-CN" sz="2000" dirty="0"/>
              <a:t>100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对</a:t>
            </a:r>
            <a:r>
              <a:rPr lang="en-US" altLang="zh-CN" sz="2000" dirty="0"/>
              <a:t>list1</a:t>
            </a:r>
            <a:r>
              <a:rPr lang="zh-CN" altLang="en-US" sz="2000" dirty="0"/>
              <a:t>降序排列，最后输出最终的列表</a:t>
            </a:r>
            <a:r>
              <a:rPr lang="en-US" altLang="zh-CN" sz="2000" dirty="0"/>
              <a:t>list1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zh-CN" altLang="en-US" sz="2000" dirty="0"/>
              <a:t>程序保存为</a:t>
            </a:r>
            <a:r>
              <a:rPr lang="en-US" altLang="zh-CN" sz="2000" dirty="0"/>
              <a:t>example4_2.py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11</a:t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2" y="3364177"/>
            <a:ext cx="7670902" cy="29269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665984" y="3018438"/>
            <a:ext cx="2664296" cy="33855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</a:rPr>
              <a:t>某次程序运行结果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程序代码：</a:t>
            </a:r>
            <a:r>
              <a:rPr lang="en-US" altLang="zh-CN" dirty="0"/>
              <a:t>example4_2.py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A100-B4E9-43DB-8D48-3D41510D7114}" type="slidenum">
              <a:rPr lang="en-US" altLang="zh-CN" smtClean="0"/>
              <a:t>12</a:t>
            </a:fld>
            <a:endParaRPr lang="en-US" altLang="zh-C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5" y="1147764"/>
            <a:ext cx="6696744" cy="48973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052512"/>
            <a:ext cx="8001000" cy="504078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思考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列表</a:t>
            </a:r>
            <a:r>
              <a:rPr lang="en-US" altLang="zh-CN" dirty="0"/>
              <a:t>list2</a:t>
            </a:r>
            <a:r>
              <a:rPr lang="zh-CN" altLang="en-US" dirty="0"/>
              <a:t>合并到</a:t>
            </a:r>
            <a:r>
              <a:rPr lang="en-US" altLang="zh-CN" dirty="0"/>
              <a:t>list1</a:t>
            </a:r>
            <a:r>
              <a:rPr lang="zh-CN" altLang="en-US" dirty="0"/>
              <a:t>中可以用语句</a:t>
            </a:r>
            <a:r>
              <a:rPr lang="en-US" altLang="zh-CN" dirty="0"/>
              <a:t>list1=list1+list2</a:t>
            </a:r>
            <a:r>
              <a:rPr lang="zh-CN" altLang="en-US" dirty="0"/>
              <a:t>实现吗？</a:t>
            </a:r>
          </a:p>
          <a:p>
            <a:r>
              <a:rPr lang="zh-CN" altLang="en-US" dirty="0"/>
              <a:t>思考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list1</a:t>
            </a:r>
            <a:r>
              <a:rPr lang="zh-CN" altLang="en-US" dirty="0"/>
              <a:t>末尾再添加两个数字</a:t>
            </a:r>
            <a:r>
              <a:rPr lang="en-US" altLang="zh-CN" dirty="0"/>
              <a:t>90</a:t>
            </a:r>
            <a:r>
              <a:rPr lang="zh-CN" altLang="en-US" dirty="0"/>
              <a:t>和</a:t>
            </a:r>
            <a:r>
              <a:rPr lang="en-US" altLang="zh-CN" dirty="0"/>
              <a:t>100</a:t>
            </a:r>
            <a:r>
              <a:rPr lang="zh-CN" altLang="en-US" dirty="0"/>
              <a:t>可以用</a:t>
            </a:r>
            <a:r>
              <a:rPr lang="en-US" altLang="zh-CN" dirty="0"/>
              <a:t>append</a:t>
            </a:r>
            <a:r>
              <a:rPr lang="zh-CN" altLang="en-US" dirty="0"/>
              <a:t>吗？如果可以，如何实现？</a:t>
            </a:r>
            <a:endParaRPr lang="en-US" altLang="zh-CN" dirty="0"/>
          </a:p>
          <a:p>
            <a:r>
              <a:rPr lang="zh-CN" altLang="en-US" dirty="0"/>
              <a:t>思考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通过键盘输入两个数字添加到</a:t>
            </a:r>
            <a:r>
              <a:rPr lang="en-US" altLang="zh-CN" dirty="0"/>
              <a:t>list1</a:t>
            </a:r>
            <a:r>
              <a:rPr lang="zh-CN" altLang="en-US" dirty="0"/>
              <a:t>末尾程序如何实现？</a:t>
            </a:r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/>
              <a:t>4.1.11</a:t>
            </a:r>
            <a:r>
              <a:rPr lang="zh-CN" altLang="en-US" sz="2800" dirty="0"/>
              <a:t>适用于序列的常用函数</a:t>
            </a:r>
            <a:r>
              <a:rPr lang="en-US" altLang="zh-CN" sz="2800" dirty="0"/>
              <a:t>——</a:t>
            </a:r>
            <a:r>
              <a:rPr lang="zh-CN" altLang="en-US" sz="2800" dirty="0"/>
              <a:t>以列表为例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325742" cy="2088456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len</a:t>
            </a:r>
            <a:r>
              <a:rPr lang="en-US" altLang="zh-CN" dirty="0"/>
              <a:t>()</a:t>
            </a:r>
            <a:r>
              <a:rPr lang="zh-CN" altLang="en-US" dirty="0"/>
              <a:t>：用于返回列表中所包含元素的</a:t>
            </a:r>
            <a:r>
              <a:rPr lang="zh-CN" altLang="en-US" sz="3600" b="1" dirty="0">
                <a:solidFill>
                  <a:srgbClr val="00B0F0"/>
                </a:solidFill>
              </a:rPr>
              <a:t>个数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示例：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14</a:t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64905"/>
            <a:ext cx="8375667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428578"/>
            <a:ext cx="2481704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76" y="4509331"/>
            <a:ext cx="76121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188913"/>
            <a:ext cx="8324155" cy="719137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4.1.11</a:t>
            </a:r>
            <a:r>
              <a:rPr lang="zh-CN" altLang="en-US" sz="2800" dirty="0"/>
              <a:t>适用于序列的常用函数</a:t>
            </a:r>
            <a:r>
              <a:rPr lang="en-US" altLang="zh-CN" sz="2800" dirty="0"/>
              <a:t>——</a:t>
            </a:r>
            <a:r>
              <a:rPr lang="zh-CN" altLang="en-US" sz="2800" dirty="0"/>
              <a:t>以列表为例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524" y="1124744"/>
            <a:ext cx="8568952" cy="5219699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max()</a:t>
            </a:r>
            <a:r>
              <a:rPr lang="zh-CN" altLang="en-US" sz="2800" dirty="0"/>
              <a:t>函数：用于返回列表中所包含元素的最大值。</a:t>
            </a:r>
            <a:endParaRPr lang="en-US" altLang="zh-CN" sz="2800" dirty="0"/>
          </a:p>
          <a:p>
            <a:pPr lvl="1"/>
            <a:r>
              <a:rPr lang="en-US" altLang="zh-CN" sz="2400" dirty="0"/>
              <a:t>max()</a:t>
            </a:r>
            <a:r>
              <a:rPr lang="zh-CN" altLang="en-US" sz="2400" dirty="0"/>
              <a:t>函数示例</a:t>
            </a:r>
            <a:r>
              <a:rPr lang="en-US" altLang="zh-CN" sz="2400" dirty="0"/>
              <a:t>1</a:t>
            </a:r>
            <a:r>
              <a:rPr lang="zh-CN" altLang="en-US" sz="2400" dirty="0"/>
              <a:t>：列表中元素都为数值</a:t>
            </a:r>
            <a:endParaRPr lang="en-US" altLang="zh-CN" sz="2400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sz="2400" dirty="0"/>
              <a:t>max()</a:t>
            </a:r>
            <a:r>
              <a:rPr lang="zh-CN" altLang="en-US" sz="2400" dirty="0"/>
              <a:t>函数示例</a:t>
            </a:r>
            <a:r>
              <a:rPr lang="en-US" altLang="zh-CN" sz="2400" dirty="0"/>
              <a:t>2</a:t>
            </a:r>
            <a:r>
              <a:rPr lang="zh-CN" altLang="en-US" sz="2400" dirty="0"/>
              <a:t>：列表中元素都为</a:t>
            </a:r>
            <a:r>
              <a:rPr lang="zh-CN" altLang="en-US" sz="2400" dirty="0">
                <a:solidFill>
                  <a:srgbClr val="FF0000"/>
                </a:solidFill>
              </a:rPr>
              <a:t>字符</a:t>
            </a:r>
            <a:r>
              <a:rPr lang="zh-CN" altLang="en-US" sz="2400" dirty="0"/>
              <a:t>，按字母顺序排序。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15</a:t>
            </a:fld>
            <a:endParaRPr lang="en-US" altLang="zh-C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333443"/>
            <a:ext cx="3399113" cy="213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05" y="2830171"/>
            <a:ext cx="1761259" cy="403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73794"/>
            <a:ext cx="7448895" cy="235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979" y="5163228"/>
            <a:ext cx="1940750" cy="448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列表函数</a:t>
            </a:r>
            <a:r>
              <a:rPr lang="en-US" altLang="zh-CN" dirty="0"/>
              <a:t>-min()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054392"/>
            <a:ext cx="8325742" cy="2520504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min()</a:t>
            </a:r>
            <a:r>
              <a:rPr lang="zh-CN" altLang="en-US" sz="2400" dirty="0"/>
              <a:t>函数：用于返回列表中所包含元素的最小值。同样，如果列表中包含的是字符，也按字母顺序排序。</a:t>
            </a:r>
          </a:p>
          <a:p>
            <a:r>
              <a:rPr lang="en-US" altLang="zh-CN" sz="2400" dirty="0"/>
              <a:t>min()</a:t>
            </a:r>
            <a:r>
              <a:rPr lang="zh-CN" altLang="en-US" sz="2400" dirty="0"/>
              <a:t>函数示例：</a:t>
            </a:r>
            <a:endParaRPr lang="en-US" altLang="zh-CN" sz="2400" dirty="0"/>
          </a:p>
          <a:p>
            <a:pPr lvl="2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16</a:t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19" y="2708920"/>
            <a:ext cx="3536237" cy="22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19" y="3228636"/>
            <a:ext cx="1858212" cy="416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19" y="4009994"/>
            <a:ext cx="7455378" cy="22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737" y="4625490"/>
            <a:ext cx="1846951" cy="439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187624" y="5454962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思考：列表中既有数字又有字符会是怎样的情况呢？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188913"/>
            <a:ext cx="8468171" cy="719137"/>
          </a:xfrm>
        </p:spPr>
        <p:txBody>
          <a:bodyPr>
            <a:normAutofit/>
          </a:bodyPr>
          <a:lstStyle/>
          <a:p>
            <a:r>
              <a:rPr lang="en-US" altLang="zh-CN" dirty="0"/>
              <a:t>4.1.7 </a:t>
            </a:r>
            <a:r>
              <a:rPr lang="zh-CN" altLang="en-US" dirty="0"/>
              <a:t>列表中特定元素出现次数的统计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675" y="1015922"/>
            <a:ext cx="8001000" cy="550063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count()</a:t>
            </a:r>
            <a:r>
              <a:rPr lang="zh-CN" altLang="en-US" sz="2400" dirty="0"/>
              <a:t>方法：用于统计某个元素在列表中出现的次数。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17</a:t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30189"/>
            <a:ext cx="69818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62002"/>
            <a:ext cx="23145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31" y="2417614"/>
            <a:ext cx="23050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31" y="2864692"/>
            <a:ext cx="2400300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8" name="组合 17"/>
          <p:cNvGrpSpPr/>
          <p:nvPr/>
        </p:nvGrpSpPr>
        <p:grpSpPr>
          <a:xfrm>
            <a:off x="3851920" y="3607121"/>
            <a:ext cx="4505325" cy="2219325"/>
            <a:chOff x="4283968" y="3361754"/>
            <a:chExt cx="4505325" cy="221932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83968" y="3361754"/>
              <a:ext cx="4505325" cy="2219325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sp>
          <p:nvSpPr>
            <p:cNvPr id="8" name="圆角矩形标注 7"/>
            <p:cNvSpPr/>
            <p:nvPr/>
          </p:nvSpPr>
          <p:spPr>
            <a:xfrm>
              <a:off x="6948265" y="3789040"/>
              <a:ext cx="1296144" cy="509488"/>
            </a:xfrm>
            <a:prstGeom prst="wedgeRoundRectCallout">
              <a:avLst>
                <a:gd name="adj1" fmla="val -111053"/>
                <a:gd name="adj2" fmla="val -25117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这里</a:t>
              </a:r>
              <a:r>
                <a:rPr lang="en-US" altLang="zh-CN" dirty="0">
                  <a:solidFill>
                    <a:schemeClr val="tx1"/>
                  </a:solidFill>
                </a:rPr>
                <a:t>True</a:t>
              </a:r>
              <a:r>
                <a:rPr lang="zh-CN" altLang="en-US" dirty="0">
                  <a:solidFill>
                    <a:schemeClr val="tx1"/>
                  </a:solidFill>
                </a:rPr>
                <a:t>和</a:t>
              </a:r>
              <a:r>
                <a:rPr lang="en-US" altLang="zh-CN" dirty="0">
                  <a:solidFill>
                    <a:schemeClr val="tx1"/>
                  </a:solidFill>
                </a:rPr>
                <a:t>1</a:t>
              </a:r>
              <a:r>
                <a:rPr lang="zh-CN" altLang="en-US" dirty="0">
                  <a:solidFill>
                    <a:schemeClr val="tx1"/>
                  </a:solidFill>
                </a:rPr>
                <a:t>等价</a:t>
              </a:r>
            </a:p>
          </p:txBody>
        </p:sp>
        <p:sp>
          <p:nvSpPr>
            <p:cNvPr id="17" name="圆角矩形标注 16"/>
            <p:cNvSpPr/>
            <p:nvPr/>
          </p:nvSpPr>
          <p:spPr>
            <a:xfrm>
              <a:off x="6948264" y="4719712"/>
              <a:ext cx="1296144" cy="509488"/>
            </a:xfrm>
            <a:prstGeom prst="wedgeRoundRectCallout">
              <a:avLst>
                <a:gd name="adj1" fmla="val -111053"/>
                <a:gd name="adj2" fmla="val -25117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这里</a:t>
              </a:r>
              <a:r>
                <a:rPr lang="en-US" altLang="zh-CN" dirty="0">
                  <a:solidFill>
                    <a:schemeClr val="tx1"/>
                  </a:solidFill>
                </a:rPr>
                <a:t>False</a:t>
              </a:r>
              <a:r>
                <a:rPr lang="zh-CN" altLang="en-US" dirty="0">
                  <a:solidFill>
                    <a:schemeClr val="tx1"/>
                  </a:solidFill>
                </a:rPr>
                <a:t>和</a:t>
              </a:r>
              <a:r>
                <a:rPr lang="en-US" altLang="zh-CN" dirty="0">
                  <a:solidFill>
                    <a:schemeClr val="tx1"/>
                  </a:solidFill>
                </a:rPr>
                <a:t>0</a:t>
              </a:r>
              <a:r>
                <a:rPr lang="zh-CN" altLang="en-US" dirty="0">
                  <a:solidFill>
                    <a:schemeClr val="tx1"/>
                  </a:solidFill>
                </a:rPr>
                <a:t>等价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操作符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8" y="1052511"/>
            <a:ext cx="8001000" cy="2736529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使用</a:t>
            </a:r>
            <a:r>
              <a:rPr lang="en-US" altLang="zh-CN" sz="2800" dirty="0"/>
              <a:t>in</a:t>
            </a:r>
            <a:r>
              <a:rPr lang="zh-CN" altLang="zh-CN" sz="2800" dirty="0"/>
              <a:t>运算符返回某个元素是否在该列表中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18</a:t>
            </a:fld>
            <a:endParaRPr lang="en-US" altLang="zh-CN"/>
          </a:p>
        </p:txBody>
      </p:sp>
      <p:grpSp>
        <p:nvGrpSpPr>
          <p:cNvPr id="6" name="组合 5"/>
          <p:cNvGrpSpPr/>
          <p:nvPr/>
        </p:nvGrpSpPr>
        <p:grpSpPr>
          <a:xfrm>
            <a:off x="1259632" y="1916832"/>
            <a:ext cx="6192688" cy="1384372"/>
            <a:chOff x="971600" y="2821002"/>
            <a:chExt cx="7873544" cy="1760126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821002"/>
              <a:ext cx="7873544" cy="391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3357437"/>
              <a:ext cx="2828793" cy="12236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4.1.8 </a:t>
            </a:r>
            <a:r>
              <a:rPr lang="zh-CN" altLang="en-US" dirty="0"/>
              <a:t>列表元素与列表对象的删除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052513"/>
            <a:ext cx="8325742" cy="3312592"/>
          </a:xfrm>
        </p:spPr>
        <p:txBody>
          <a:bodyPr/>
          <a:lstStyle/>
          <a:p>
            <a:r>
              <a:rPr lang="en-US" altLang="zh-CN" dirty="0"/>
              <a:t>1.del</a:t>
            </a:r>
            <a:r>
              <a:rPr lang="zh-CN" altLang="en-US" dirty="0"/>
              <a:t>命令删除列表元素或列表对象</a:t>
            </a:r>
            <a:endParaRPr lang="en-US" altLang="zh-CN" dirty="0"/>
          </a:p>
          <a:p>
            <a:r>
              <a:rPr lang="en-US" altLang="zh-CN" dirty="0"/>
              <a:t>2.remove()</a:t>
            </a:r>
            <a:r>
              <a:rPr lang="zh-CN" altLang="en-US" dirty="0"/>
              <a:t>方法移除指定元素</a:t>
            </a:r>
            <a:endParaRPr lang="en-US" altLang="zh-CN" dirty="0"/>
          </a:p>
          <a:p>
            <a:r>
              <a:rPr lang="en-US" altLang="zh-CN" dirty="0"/>
              <a:t>3.pop()</a:t>
            </a:r>
            <a:r>
              <a:rPr lang="zh-CN" altLang="en-US" dirty="0"/>
              <a:t>方法删除并返回指定位置上的元素</a:t>
            </a:r>
            <a:endParaRPr lang="en-US" altLang="zh-CN" dirty="0"/>
          </a:p>
          <a:p>
            <a:r>
              <a:rPr lang="en-US" altLang="zh-CN" dirty="0"/>
              <a:t>4.clear()</a:t>
            </a:r>
            <a:r>
              <a:rPr lang="zh-CN" altLang="en-US" dirty="0"/>
              <a:t>方法清除列表中的所有元素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19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1259632" y="4509568"/>
            <a:ext cx="3910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vehicle=['train','bus','car','ship']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1.del</a:t>
            </a:r>
            <a:r>
              <a:rPr lang="zh-CN" altLang="en-US" dirty="0"/>
              <a:t>命令删除列表元素或列表对象</a:t>
            </a:r>
            <a:endParaRPr lang="en-US" altLang="zh-CN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092068"/>
            <a:ext cx="8716250" cy="176024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使用</a:t>
            </a:r>
            <a:r>
              <a:rPr lang="en-US" altLang="zh-CN" sz="2400" dirty="0"/>
              <a:t>del</a:t>
            </a:r>
            <a:r>
              <a:rPr lang="zh-CN" altLang="en-US" sz="2400" dirty="0"/>
              <a:t>命令可以从列表中</a:t>
            </a:r>
            <a:r>
              <a:rPr lang="zh-CN" altLang="zh-CN" sz="2400" dirty="0"/>
              <a:t>删除元素</a:t>
            </a:r>
            <a:r>
              <a:rPr lang="zh-CN" altLang="en-US" sz="2400" dirty="0"/>
              <a:t>，也可以删除整个列表对象。</a:t>
            </a:r>
            <a:endParaRPr lang="zh-CN" altLang="zh-CN" sz="2400" dirty="0"/>
          </a:p>
          <a:p>
            <a:pPr lvl="1"/>
            <a:r>
              <a:rPr lang="zh-CN" altLang="zh-CN" sz="2000" dirty="0"/>
              <a:t>当向列表中添加或删除元素时，列表将自动拓展或收缩，列表中永远不会有缝隙。</a:t>
            </a:r>
            <a:endParaRPr lang="en-US" altLang="zh-CN" sz="2400" b="1" dirty="0">
              <a:solidFill>
                <a:srgbClr val="00B0F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20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172160" y="2729678"/>
            <a:ext cx="6713271" cy="1272278"/>
            <a:chOff x="172160" y="2729678"/>
            <a:chExt cx="6713271" cy="1272278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2729678"/>
              <a:ext cx="4934487" cy="2499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160" y="3136508"/>
              <a:ext cx="2054223" cy="228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160" y="3567200"/>
              <a:ext cx="2532454" cy="434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椭圆形标注 11"/>
            <p:cNvSpPr/>
            <p:nvPr/>
          </p:nvSpPr>
          <p:spPr bwMode="auto">
            <a:xfrm>
              <a:off x="3146230" y="3054676"/>
              <a:ext cx="3739201" cy="509385"/>
            </a:xfrm>
            <a:prstGeom prst="wedgeEllipseCallout">
              <a:avLst>
                <a:gd name="adj1" fmla="val -74543"/>
                <a:gd name="adj2" fmla="val -17409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删除了索引值为</a:t>
              </a:r>
              <a:r>
                <a:rPr lang="en-US" altLang="zh-CN" dirty="0"/>
                <a:t>3</a:t>
              </a:r>
              <a:r>
                <a:rPr lang="zh-CN" altLang="en-US" dirty="0"/>
                <a:t>的元素</a:t>
              </a:r>
              <a:r>
                <a:rPr lang="en-US" altLang="zh-CN" dirty="0"/>
                <a:t>'ship'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8865" y="3989673"/>
            <a:ext cx="5738391" cy="1390420"/>
            <a:chOff x="108865" y="3989673"/>
            <a:chExt cx="5738391" cy="1390420"/>
          </a:xfrm>
        </p:grpSpPr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865" y="4325809"/>
              <a:ext cx="5075780" cy="1054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椭圆形标注 12"/>
            <p:cNvSpPr/>
            <p:nvPr/>
          </p:nvSpPr>
          <p:spPr bwMode="auto">
            <a:xfrm>
              <a:off x="4184407" y="3989673"/>
              <a:ext cx="1662849" cy="509385"/>
            </a:xfrm>
            <a:prstGeom prst="wedgeEllipseCallout">
              <a:avLst>
                <a:gd name="adj1" fmla="val -173220"/>
                <a:gd name="adj2" fmla="val 46466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sz="1600" dirty="0"/>
                <a:t>超出索引范围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177837" y="4325809"/>
            <a:ext cx="3966163" cy="817175"/>
            <a:chOff x="5177837" y="4325809"/>
            <a:chExt cx="3966163" cy="817175"/>
          </a:xfrm>
        </p:grpSpPr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7837" y="4913808"/>
              <a:ext cx="1954027" cy="229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椭圆形标注 13"/>
            <p:cNvSpPr/>
            <p:nvPr/>
          </p:nvSpPr>
          <p:spPr bwMode="auto">
            <a:xfrm>
              <a:off x="7342864" y="4325809"/>
              <a:ext cx="1801136" cy="509385"/>
            </a:xfrm>
            <a:prstGeom prst="wedgeEllipseCallout">
              <a:avLst>
                <a:gd name="adj1" fmla="val -77948"/>
                <a:gd name="adj2" fmla="val 79597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sz="1400" dirty="0"/>
                <a:t>删除列表</a:t>
              </a:r>
              <a:r>
                <a:rPr lang="en-US" altLang="zh-CN" sz="1400" dirty="0"/>
                <a:t>vehicle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262798" y="5568596"/>
            <a:ext cx="6632964" cy="875052"/>
            <a:chOff x="2262798" y="5568596"/>
            <a:chExt cx="6632964" cy="875052"/>
          </a:xfrm>
        </p:grpSpPr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8064" y="5568596"/>
              <a:ext cx="3747698" cy="8750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椭圆形标注 14"/>
            <p:cNvSpPr/>
            <p:nvPr/>
          </p:nvSpPr>
          <p:spPr bwMode="auto">
            <a:xfrm>
              <a:off x="2262798" y="5652369"/>
              <a:ext cx="2171998" cy="509385"/>
            </a:xfrm>
            <a:prstGeom prst="wedgeEllipseCallout">
              <a:avLst>
                <a:gd name="adj1" fmla="val 86084"/>
                <a:gd name="adj2" fmla="val 3053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pPr algn="l"/>
              <a:r>
                <a:rPr lang="zh-CN" altLang="en-US" sz="1400" dirty="0"/>
                <a:t>列表</a:t>
              </a:r>
              <a:r>
                <a:rPr lang="en-US" altLang="zh-CN" sz="1400" dirty="0"/>
                <a:t>vehicle</a:t>
              </a:r>
              <a:r>
                <a:rPr lang="zh-CN" altLang="en-US" sz="1400" dirty="0"/>
                <a:t>不存在了</a:t>
              </a:r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2.remove()</a:t>
            </a:r>
            <a:r>
              <a:rPr lang="zh-CN" altLang="en-US" dirty="0"/>
              <a:t>方法移除指定元素</a:t>
            </a:r>
            <a:endParaRPr lang="en-US" altLang="zh-CN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74675" y="1053877"/>
            <a:ext cx="8208912" cy="115212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remove()</a:t>
            </a:r>
            <a:r>
              <a:rPr lang="zh-CN" altLang="en-US" sz="2400" dirty="0"/>
              <a:t>方法用于移除列表中与某值匹配的第一个元素。</a:t>
            </a:r>
            <a:endParaRPr lang="en-US" altLang="zh-CN" sz="2400" dirty="0"/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重复的元素每次只删除一个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21</a:t>
            </a:fld>
            <a:endParaRPr lang="en-US" altLang="zh-CN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325638"/>
            <a:ext cx="70961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685678"/>
            <a:ext cx="2524125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952750"/>
            <a:ext cx="498157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3834755"/>
            <a:ext cx="25050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4085828"/>
            <a:ext cx="42386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4861520"/>
            <a:ext cx="40767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椭圆形标注 11"/>
          <p:cNvSpPr/>
          <p:nvPr/>
        </p:nvSpPr>
        <p:spPr bwMode="auto">
          <a:xfrm>
            <a:off x="5549900" y="4359452"/>
            <a:ext cx="3054548" cy="509385"/>
          </a:xfrm>
          <a:prstGeom prst="wedgeEllipseCallout">
            <a:avLst>
              <a:gd name="adj1" fmla="val -89797"/>
              <a:gd name="adj2" fmla="val 175040"/>
            </a:avLst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vert="horz" wrap="none" lIns="45720" tIns="72009" rIns="45720" bIns="72009" numCol="1" rtlCol="0" anchor="ctr" anchorCtr="0" compatLnSpc="1"/>
          <a:lstStyle/>
          <a:p>
            <a:r>
              <a:rPr lang="zh-CN" altLang="en-US" dirty="0"/>
              <a:t>找不到匹配项，引发异常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Grp="1" noChangeArrowheads="1"/>
          </p:cNvSpPr>
          <p:nvPr>
            <p:ph type="title"/>
          </p:nvPr>
        </p:nvSpPr>
        <p:spPr>
          <a:xfrm>
            <a:off x="179512" y="188913"/>
            <a:ext cx="8396163" cy="71913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3.pop()</a:t>
            </a:r>
            <a:r>
              <a:rPr lang="zh-CN" altLang="en-US" dirty="0"/>
              <a:t>方法删除并返回指定位置上的元素</a:t>
            </a:r>
            <a:endParaRPr lang="en-US" altLang="zh-CN" dirty="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528" y="1120467"/>
            <a:ext cx="8478477" cy="1505462"/>
          </a:xfrm>
        </p:spPr>
        <p:txBody>
          <a:bodyPr/>
          <a:lstStyle/>
          <a:p>
            <a:r>
              <a:rPr lang="en-US" altLang="zh-CN" sz="2400" dirty="0"/>
              <a:t>pop()</a:t>
            </a:r>
            <a:r>
              <a:rPr lang="zh-CN" altLang="zh-CN" sz="2400" dirty="0"/>
              <a:t>方法</a:t>
            </a:r>
            <a:r>
              <a:rPr lang="zh-CN" altLang="en-US" sz="2400" dirty="0"/>
              <a:t>用于移除列表中的一个元素（默认为</a:t>
            </a:r>
            <a:r>
              <a:rPr lang="zh-CN" altLang="zh-CN" sz="2400" dirty="0">
                <a:solidFill>
                  <a:srgbClr val="FF0000"/>
                </a:solidFill>
              </a:rPr>
              <a:t>最后一个元素</a:t>
            </a:r>
            <a:r>
              <a:rPr lang="zh-CN" altLang="en-US" sz="2400" dirty="0"/>
              <a:t>），并且返回该</a:t>
            </a:r>
            <a:r>
              <a:rPr lang="zh-CN" altLang="zh-CN" sz="2400" dirty="0"/>
              <a:t>元素</a:t>
            </a:r>
            <a:r>
              <a:rPr lang="zh-CN" altLang="en-US" sz="2400" dirty="0"/>
              <a:t>的值。</a:t>
            </a:r>
            <a:endParaRPr lang="en-US" altLang="zh-CN" sz="2400" dirty="0"/>
          </a:p>
          <a:p>
            <a:r>
              <a:rPr lang="en-US" altLang="zh-CN" sz="2400" dirty="0"/>
              <a:t>pop()</a:t>
            </a:r>
            <a:r>
              <a:rPr lang="zh-CN" altLang="zh-CN" sz="2400" dirty="0"/>
              <a:t>方法</a:t>
            </a:r>
            <a:r>
              <a:rPr lang="zh-CN" altLang="en-US" sz="2400" dirty="0"/>
              <a:t>可以指定索引位置。</a:t>
            </a:r>
            <a:endParaRPr lang="zh-CN" altLang="zh-CN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22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155246" y="3110067"/>
            <a:ext cx="4507693" cy="3096344"/>
            <a:chOff x="179512" y="2276872"/>
            <a:chExt cx="4507693" cy="3096344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2420236"/>
              <a:ext cx="4324350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2681877"/>
              <a:ext cx="16573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3113925"/>
              <a:ext cx="22288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3545973"/>
              <a:ext cx="1743075" cy="361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3978021"/>
              <a:ext cx="1562100" cy="361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19" y="4410069"/>
              <a:ext cx="4057650" cy="933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椭圆形标注 16"/>
            <p:cNvSpPr/>
            <p:nvPr/>
          </p:nvSpPr>
          <p:spPr bwMode="auto">
            <a:xfrm>
              <a:off x="2844254" y="3926987"/>
              <a:ext cx="1767481" cy="509385"/>
            </a:xfrm>
            <a:prstGeom prst="wedgeEllipseCallout">
              <a:avLst>
                <a:gd name="adj1" fmla="val -89797"/>
                <a:gd name="adj2" fmla="val 91547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zh-CN" altLang="en-US" dirty="0"/>
                <a:t>索引超过范围</a:t>
              </a:r>
            </a:p>
          </p:txBody>
        </p:sp>
        <p:sp>
          <p:nvSpPr>
            <p:cNvPr id="2" name="矩形 1"/>
            <p:cNvSpPr/>
            <p:nvPr/>
          </p:nvSpPr>
          <p:spPr>
            <a:xfrm>
              <a:off x="179512" y="2276872"/>
              <a:ext cx="4507693" cy="30963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905012" y="2596554"/>
            <a:ext cx="4102265" cy="3501231"/>
            <a:chOff x="4934230" y="2400299"/>
            <a:chExt cx="4102265" cy="3501231"/>
          </a:xfrm>
        </p:grpSpPr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2785" y="2413595"/>
              <a:ext cx="1724025" cy="390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2785" y="2959235"/>
              <a:ext cx="1152525" cy="352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10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2785" y="3513975"/>
              <a:ext cx="1895475" cy="361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" name="Picture 11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2785" y="4063738"/>
              <a:ext cx="1133475" cy="371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2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4231" y="4842683"/>
              <a:ext cx="4019550" cy="92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椭圆形标注 17"/>
            <p:cNvSpPr/>
            <p:nvPr/>
          </p:nvSpPr>
          <p:spPr bwMode="auto">
            <a:xfrm>
              <a:off x="7307310" y="4112200"/>
              <a:ext cx="1662849" cy="645013"/>
            </a:xfrm>
            <a:prstGeom prst="wedgeEllipseCallout">
              <a:avLst>
                <a:gd name="adj1" fmla="val -89275"/>
                <a:gd name="adj2" fmla="val 69607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vert="horz" wrap="none" lIns="45720" tIns="72009" rIns="45720" bIns="72009" numCol="1" rtlCol="0" anchor="ctr" anchorCtr="0" compatLnSpc="1"/>
            <a:lstStyle/>
            <a:p>
              <a:r>
                <a:rPr lang="en-US" altLang="zh-CN" sz="1400" dirty="0"/>
                <a:t>vehicle</a:t>
              </a:r>
              <a:r>
                <a:rPr lang="zh-CN" altLang="en-US" sz="1400" dirty="0"/>
                <a:t>为空列表</a:t>
              </a:r>
              <a:endParaRPr lang="en-US" altLang="zh-CN" sz="1400" dirty="0"/>
            </a:p>
            <a:p>
              <a:r>
                <a:rPr lang="zh-CN" altLang="en-US" sz="1400" dirty="0"/>
                <a:t>触发异常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4934230" y="2400299"/>
              <a:ext cx="4102265" cy="35012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4.clear()</a:t>
            </a:r>
            <a:r>
              <a:rPr lang="zh-CN" altLang="en-US" dirty="0"/>
              <a:t>方法清除列表中的所有元素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628800"/>
            <a:ext cx="6523925" cy="12961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4-3】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9" y="1001180"/>
            <a:ext cx="8640960" cy="271585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某公司股票一段时间的收盘价（单位：元）分别为：</a:t>
            </a:r>
            <a:r>
              <a:rPr lang="en-US" altLang="zh-CN" sz="2000" dirty="0"/>
              <a:t>12.04,</a:t>
            </a:r>
            <a:r>
              <a:rPr lang="zh-CN" altLang="en-US" sz="2000" dirty="0"/>
              <a:t> </a:t>
            </a:r>
            <a:r>
              <a:rPr lang="en-US" altLang="zh-CN" sz="2000" dirty="0"/>
              <a:t>11.15,</a:t>
            </a:r>
            <a:r>
              <a:rPr lang="zh-CN" altLang="en-US" sz="2000" dirty="0"/>
              <a:t> </a:t>
            </a:r>
            <a:r>
              <a:rPr lang="en-US" altLang="zh-CN" sz="2000" dirty="0"/>
              <a:t>13.47,</a:t>
            </a:r>
            <a:r>
              <a:rPr lang="zh-CN" altLang="en-US" sz="2000" dirty="0"/>
              <a:t> </a:t>
            </a:r>
            <a:r>
              <a:rPr lang="en-US" altLang="zh-CN" sz="2000" dirty="0"/>
              <a:t>13.58,</a:t>
            </a:r>
            <a:r>
              <a:rPr lang="zh-CN" altLang="en-US" sz="2000" dirty="0"/>
              <a:t> </a:t>
            </a:r>
            <a:r>
              <a:rPr lang="en-US" altLang="zh-CN" sz="2000" dirty="0"/>
              <a:t>12.04,</a:t>
            </a:r>
            <a:r>
              <a:rPr lang="zh-CN" altLang="en-US" sz="2000" dirty="0"/>
              <a:t> </a:t>
            </a:r>
            <a:r>
              <a:rPr lang="en-US" altLang="zh-CN" sz="2000" dirty="0"/>
              <a:t>12.04 , 11.15,</a:t>
            </a:r>
            <a:r>
              <a:rPr lang="zh-CN" altLang="en-US" sz="2000" dirty="0"/>
              <a:t> </a:t>
            </a:r>
            <a:r>
              <a:rPr lang="en-US" altLang="zh-CN" sz="2000" dirty="0"/>
              <a:t>12.58,</a:t>
            </a:r>
            <a:r>
              <a:rPr lang="zh-CN" altLang="en-US" sz="2000" dirty="0"/>
              <a:t> </a:t>
            </a:r>
            <a:r>
              <a:rPr lang="en-US" altLang="zh-CN" sz="2000" dirty="0"/>
              <a:t>11.15,</a:t>
            </a:r>
            <a:r>
              <a:rPr lang="zh-CN" altLang="en-US" sz="2000" dirty="0"/>
              <a:t> 请建立一个列表</a:t>
            </a:r>
            <a:r>
              <a:rPr lang="en-US" altLang="zh-CN" sz="2000" dirty="0"/>
              <a:t>(data)</a:t>
            </a:r>
            <a:r>
              <a:rPr lang="zh-CN" altLang="en-US" sz="2000" dirty="0"/>
              <a:t>存储这些数据。请编写程序解决以下问题：</a:t>
            </a:r>
            <a:endParaRPr lang="en-US" altLang="zh-CN" sz="2000" dirty="0"/>
          </a:p>
          <a:p>
            <a:pPr lvl="1"/>
            <a:r>
              <a:rPr lang="zh-CN" altLang="en-US" sz="1800" dirty="0"/>
              <a:t>上述一共有几个数据？</a:t>
            </a:r>
            <a:endParaRPr lang="en-US" altLang="zh-CN" sz="1800" dirty="0"/>
          </a:p>
          <a:p>
            <a:pPr lvl="1"/>
            <a:r>
              <a:rPr lang="zh-CN" altLang="en-US" sz="1800" dirty="0"/>
              <a:t>统计收盘价为</a:t>
            </a:r>
            <a:r>
              <a:rPr lang="en-US" altLang="zh-CN" sz="1800" dirty="0"/>
              <a:t>12.04</a:t>
            </a:r>
            <a:r>
              <a:rPr lang="zh-CN" altLang="en-US" sz="1800" dirty="0"/>
              <a:t>元的次数</a:t>
            </a:r>
          </a:p>
          <a:p>
            <a:pPr lvl="1"/>
            <a:r>
              <a:rPr lang="zh-CN" altLang="en-US" sz="1800" dirty="0"/>
              <a:t>找出收盘价中的最小数据，并删除首次出现的最小数据，最后显示列表</a:t>
            </a:r>
            <a:r>
              <a:rPr lang="en-US" altLang="zh-CN" sz="1800" dirty="0"/>
              <a:t>data</a:t>
            </a:r>
            <a:r>
              <a:rPr lang="zh-CN" altLang="en-US" sz="18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594475" y="6381328"/>
            <a:ext cx="1981200" cy="339725"/>
          </a:xfrm>
        </p:spPr>
        <p:txBody>
          <a:bodyPr/>
          <a:lstStyle/>
          <a:p>
            <a:pPr algn="r">
              <a:defRPr/>
            </a:pPr>
            <a:fld id="{32B6AF2B-26C8-4068-89CD-0BB80823F279}" type="slidenum">
              <a:rPr lang="en-US" altLang="zh-CN" smtClean="0"/>
              <a:t>24</a:t>
            </a:fld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150936" y="4437112"/>
            <a:ext cx="8848477" cy="1150341"/>
            <a:chOff x="150936" y="4437112"/>
            <a:chExt cx="8848477" cy="1150341"/>
          </a:xfrm>
        </p:grpSpPr>
        <p:sp>
          <p:nvSpPr>
            <p:cNvPr id="7" name="矩形 6"/>
            <p:cNvSpPr/>
            <p:nvPr/>
          </p:nvSpPr>
          <p:spPr>
            <a:xfrm>
              <a:off x="155633" y="4437112"/>
              <a:ext cx="2664296" cy="33855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sz="1600" dirty="0">
                  <a:solidFill>
                    <a:schemeClr val="bg1"/>
                  </a:solidFill>
                </a:rPr>
                <a:t>程序运行结果：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936" y="4775666"/>
              <a:ext cx="8848477" cy="8117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example4_3.py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25</a:t>
            </a:fld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96752"/>
            <a:ext cx="8591955" cy="23762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6738" y="1052513"/>
            <a:ext cx="8001000" cy="237648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如果要删除所有出现的最小数据，如何编程实现？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1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24796"/>
            <a:ext cx="82105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683568" y="1880974"/>
            <a:ext cx="2664296" cy="33855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</a:rPr>
              <a:t>程序运行结果：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</a:t>
            </a:r>
            <a:r>
              <a:rPr kumimoji="1" lang="en-US" altLang="zh-CN" dirty="0"/>
              <a:t>question4_3_1_2.py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27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16024"/>
            <a:ext cx="8487432" cy="2789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052513"/>
            <a:ext cx="8496944" cy="1965925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3600" dirty="0"/>
              <a:t>【</a:t>
            </a:r>
            <a:r>
              <a:rPr lang="zh-CN" altLang="en-US" sz="3600" dirty="0"/>
              <a:t>例</a:t>
            </a:r>
            <a:r>
              <a:rPr lang="en-US" altLang="zh-CN" sz="3600" dirty="0"/>
              <a:t>4-2</a:t>
            </a:r>
            <a:r>
              <a:rPr lang="en-US" altLang="zh-CN" sz="3700" dirty="0"/>
              <a:t>】【</a:t>
            </a:r>
            <a:r>
              <a:rPr lang="zh-CN" altLang="en-US" sz="3700" dirty="0"/>
              <a:t>例</a:t>
            </a:r>
            <a:r>
              <a:rPr lang="en-US" altLang="zh-CN" sz="3700" dirty="0"/>
              <a:t>4-3】</a:t>
            </a:r>
          </a:p>
          <a:p>
            <a:r>
              <a:rPr lang="en-US" altLang="zh-CN" sz="3600" kern="0" dirty="0"/>
              <a:t>P146 1.</a:t>
            </a:r>
            <a:r>
              <a:rPr lang="zh-CN" altLang="en-US" sz="3600" kern="0" dirty="0"/>
              <a:t>从键盘依次输入多个正整数（</a:t>
            </a:r>
            <a:r>
              <a:rPr lang="zh-CN" altLang="en-US" sz="3600" kern="0" dirty="0">
                <a:sym typeface="+mn-ea"/>
              </a:rPr>
              <a:t>当输入负整数时不加入列表中，</a:t>
            </a:r>
            <a:r>
              <a:rPr lang="zh-CN" altLang="en-US" sz="3600" kern="0" dirty="0"/>
              <a:t>每次输入一个）构成一个列表，输入</a:t>
            </a:r>
            <a:r>
              <a:rPr lang="en-US" altLang="zh-CN" sz="3600" kern="0" dirty="0"/>
              <a:t>-1</a:t>
            </a:r>
            <a:r>
              <a:rPr lang="zh-CN" altLang="en-US" sz="3600" kern="0" dirty="0"/>
              <a:t>表示结束，并且</a:t>
            </a:r>
            <a:r>
              <a:rPr lang="en-US" altLang="zh-CN" sz="3600" kern="0" dirty="0"/>
              <a:t>-1</a:t>
            </a:r>
            <a:r>
              <a:rPr lang="zh-CN" altLang="en-US" sz="3600" kern="0" dirty="0"/>
              <a:t>不添加到列表中。输出此列表，分别计算并输出列表中奇数和偶数的和。（保存为</a:t>
            </a:r>
            <a:r>
              <a:rPr lang="en-US" altLang="zh-CN" sz="3600" kern="0" dirty="0"/>
              <a:t>exercise6_1.py</a:t>
            </a:r>
            <a:r>
              <a:rPr lang="zh-CN" altLang="en-US" sz="3600" kern="0" dirty="0"/>
              <a:t>）</a:t>
            </a:r>
            <a:endParaRPr lang="en-US" altLang="zh-CN" sz="3500" kern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28</a:t>
            </a:fld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2411791" y="3007468"/>
            <a:ext cx="3686689" cy="3032544"/>
            <a:chOff x="3568700" y="3018438"/>
            <a:chExt cx="3686689" cy="3032544"/>
          </a:xfrm>
        </p:grpSpPr>
        <p:sp>
          <p:nvSpPr>
            <p:cNvPr id="8" name="矩形 7"/>
            <p:cNvSpPr/>
            <p:nvPr/>
          </p:nvSpPr>
          <p:spPr>
            <a:xfrm>
              <a:off x="3568700" y="3018438"/>
              <a:ext cx="2485999" cy="377463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sz="1600" dirty="0">
                  <a:solidFill>
                    <a:schemeClr val="bg1"/>
                  </a:solidFill>
                </a:rPr>
                <a:t>某次程序运行结果</a:t>
              </a: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8700" y="3440768"/>
              <a:ext cx="3686689" cy="26102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675" y="1032771"/>
            <a:ext cx="7994650" cy="2248389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P146  2.</a:t>
            </a:r>
            <a:r>
              <a:rPr lang="zh-CN" altLang="en-US" sz="2400" dirty="0"/>
              <a:t>已知</a:t>
            </a:r>
            <a:r>
              <a:rPr lang="en-US" altLang="zh-CN" sz="2400" dirty="0"/>
              <a:t>10</a:t>
            </a:r>
            <a:r>
              <a:rPr lang="zh-CN" altLang="en-US" sz="2400" dirty="0"/>
              <a:t>个学生的成绩分别为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68, 75, 32, 99, 78, 45, 88, 72, 83, 78</a:t>
            </a:r>
            <a:r>
              <a:rPr lang="zh-CN" altLang="en-US" sz="2400" dirty="0"/>
              <a:t>。请将成绩存放在列表中，并对其进行统计，输出优（</a:t>
            </a:r>
            <a:r>
              <a:rPr lang="en-US" altLang="zh-CN" sz="2400" dirty="0"/>
              <a:t>100</a:t>
            </a:r>
            <a:r>
              <a:rPr lang="zh-CN" altLang="en-US" sz="2400" dirty="0"/>
              <a:t>～</a:t>
            </a:r>
            <a:r>
              <a:rPr lang="en-US" altLang="zh-CN" sz="2400" dirty="0"/>
              <a:t>90</a:t>
            </a:r>
            <a:r>
              <a:rPr lang="zh-CN" altLang="en-US" sz="2400" dirty="0"/>
              <a:t>）、良（</a:t>
            </a:r>
            <a:r>
              <a:rPr lang="en-US" altLang="zh-CN" sz="2400" dirty="0"/>
              <a:t>89</a:t>
            </a:r>
            <a:r>
              <a:rPr lang="zh-CN" altLang="en-US" sz="2400" dirty="0"/>
              <a:t>～</a:t>
            </a:r>
            <a:r>
              <a:rPr lang="en-US" altLang="zh-CN" sz="2400" dirty="0"/>
              <a:t>80</a:t>
            </a:r>
            <a:r>
              <a:rPr lang="zh-CN" altLang="en-US" sz="2400" dirty="0"/>
              <a:t>）、中（</a:t>
            </a:r>
            <a:r>
              <a:rPr lang="en-US" altLang="zh-CN" sz="2400" dirty="0"/>
              <a:t>79</a:t>
            </a:r>
            <a:r>
              <a:rPr lang="zh-CN" altLang="en-US" sz="2400" dirty="0"/>
              <a:t>～</a:t>
            </a:r>
            <a:r>
              <a:rPr lang="en-US" altLang="zh-CN" sz="2400" dirty="0"/>
              <a:t>60</a:t>
            </a:r>
            <a:r>
              <a:rPr lang="zh-CN" altLang="en-US" sz="2400" dirty="0"/>
              <a:t>）、差（</a:t>
            </a:r>
            <a:r>
              <a:rPr lang="en-US" altLang="zh-CN" sz="2400" dirty="0"/>
              <a:t>59</a:t>
            </a:r>
            <a:r>
              <a:rPr lang="zh-CN" altLang="en-US" sz="2400" dirty="0"/>
              <a:t>～</a:t>
            </a:r>
            <a:r>
              <a:rPr lang="en-US" altLang="zh-CN" sz="2400" dirty="0"/>
              <a:t>0</a:t>
            </a:r>
            <a:r>
              <a:rPr lang="zh-CN" altLang="en-US" sz="2400" dirty="0"/>
              <a:t>）四个等级的人数。（</a:t>
            </a:r>
            <a:r>
              <a:rPr lang="en-US" altLang="zh-CN" sz="2400" dirty="0"/>
              <a:t> exercise6_2.py 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29</a:t>
            </a:fld>
            <a:endParaRPr lang="en-US" altLang="zh-C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90" y="4371007"/>
            <a:ext cx="3320992" cy="4261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286008" y="4026550"/>
            <a:ext cx="1917840" cy="33855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</a:rPr>
              <a:t>程序运行结果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52512"/>
            <a:ext cx="4752528" cy="3384599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P146   3.</a:t>
            </a:r>
            <a:r>
              <a:rPr lang="zh-CN" altLang="en-US" dirty="0"/>
              <a:t>利用</a:t>
            </a:r>
            <a:r>
              <a:rPr lang="en-US" altLang="zh-CN" dirty="0"/>
              <a:t>while</a:t>
            </a:r>
            <a:r>
              <a:rPr lang="zh-CN" altLang="en-US" dirty="0"/>
              <a:t>循环创建一个包含</a:t>
            </a:r>
            <a:r>
              <a:rPr lang="en-US" altLang="zh-CN" dirty="0"/>
              <a:t>10</a:t>
            </a:r>
            <a:r>
              <a:rPr lang="zh-CN" altLang="en-US" dirty="0"/>
              <a:t>个奇数的列表，如果输入的不是奇数要给出提示信息并能继续输入，然后计算该列表的和与平均值。</a:t>
            </a:r>
            <a:r>
              <a:rPr lang="en-US" altLang="zh-CN" dirty="0"/>
              <a:t>(</a:t>
            </a:r>
            <a:r>
              <a:rPr lang="zh-CN" altLang="en-US" dirty="0"/>
              <a:t>保存为 </a:t>
            </a:r>
            <a:r>
              <a:rPr lang="en-US" altLang="zh-CN" dirty="0"/>
              <a:t>exercise6_3.py 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30</a:t>
            </a:fld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5004048" y="1196751"/>
            <a:ext cx="3979044" cy="4896545"/>
            <a:chOff x="395536" y="2226015"/>
            <a:chExt cx="3691012" cy="3961449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95536" y="2636912"/>
              <a:ext cx="3691012" cy="355055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410018" y="2226015"/>
              <a:ext cx="2664296" cy="33855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sz="1600" dirty="0">
                  <a:solidFill>
                    <a:schemeClr val="bg1"/>
                  </a:solidFill>
                </a:rPr>
                <a:t>某次程序运行结果：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06615"/>
            <a:ext cx="8837085" cy="1890337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程序完成题：打开</a:t>
            </a:r>
            <a:r>
              <a:rPr lang="en-US" altLang="zh-CN" sz="2800" dirty="0"/>
              <a:t>exercise6_4.py</a:t>
            </a:r>
          </a:p>
          <a:p>
            <a:r>
              <a:rPr lang="zh-CN" altLang="en-US" sz="2800" dirty="0"/>
              <a:t>程序功能：</a:t>
            </a:r>
            <a:endParaRPr lang="en-US" altLang="zh-CN" sz="2800" dirty="0"/>
          </a:p>
          <a:p>
            <a:pPr lvl="1"/>
            <a:r>
              <a:rPr lang="zh-CN" altLang="en-US" sz="2400" dirty="0"/>
              <a:t>将列表</a:t>
            </a:r>
            <a:r>
              <a:rPr lang="en-US" altLang="zh-CN" sz="2400" dirty="0"/>
              <a:t>list2</a:t>
            </a:r>
            <a:r>
              <a:rPr lang="zh-CN" altLang="en-US" sz="2400" dirty="0"/>
              <a:t>中的偶数元素追加到列表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的尾部。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39" y="3225998"/>
            <a:ext cx="5780027" cy="272328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632" y="1086957"/>
            <a:ext cx="8837085" cy="18903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程序完成题：打开</a:t>
            </a:r>
            <a:r>
              <a:rPr lang="en-US" altLang="zh-CN" sz="2800" dirty="0"/>
              <a:t>exercise6_5.py</a:t>
            </a:r>
          </a:p>
          <a:p>
            <a:r>
              <a:rPr lang="zh-CN" altLang="en-US" sz="2800" dirty="0"/>
              <a:t>程序功能：</a:t>
            </a:r>
            <a:endParaRPr lang="en-US" altLang="zh-CN" sz="2800" dirty="0"/>
          </a:p>
          <a:p>
            <a:pPr lvl="1"/>
            <a:r>
              <a:rPr lang="zh-CN" altLang="en-US" sz="2400" dirty="0"/>
              <a:t>删除列表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中出现的第一个能被</a:t>
            </a:r>
            <a:r>
              <a:rPr lang="en-US" altLang="zh-CN" sz="2400" dirty="0"/>
              <a:t>7</a:t>
            </a:r>
            <a:r>
              <a:rPr lang="zh-CN" altLang="en-US" sz="2400" dirty="0"/>
              <a:t>整除的数字，打印出列表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32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011925"/>
            <a:ext cx="8438384" cy="264471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632" y="1086957"/>
            <a:ext cx="8837085" cy="18903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程序完成题：打开</a:t>
            </a:r>
            <a:r>
              <a:rPr lang="en-US" altLang="zh-CN" sz="2800" dirty="0"/>
              <a:t>exercise6_6.py</a:t>
            </a:r>
          </a:p>
          <a:p>
            <a:r>
              <a:rPr lang="zh-CN" altLang="en-US" sz="2800" dirty="0"/>
              <a:t>程序功能：</a:t>
            </a:r>
            <a:endParaRPr lang="en-US" altLang="zh-CN" sz="2800" dirty="0"/>
          </a:p>
          <a:p>
            <a:pPr lvl="1"/>
            <a:r>
              <a:rPr lang="zh-CN" altLang="en-US" sz="2400" dirty="0"/>
              <a:t>删除列表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中出现的第一个能被</a:t>
            </a:r>
            <a:r>
              <a:rPr lang="en-US" altLang="zh-CN" sz="2400" dirty="0"/>
              <a:t>7</a:t>
            </a:r>
            <a:r>
              <a:rPr lang="zh-CN" altLang="en-US" sz="2400" dirty="0"/>
              <a:t>整除的数字，打印出列表</a:t>
            </a:r>
            <a:r>
              <a:rPr lang="en-US" altLang="zh-CN" sz="2400" dirty="0"/>
              <a:t>list1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33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3157977"/>
            <a:ext cx="778192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555" y="1025008"/>
            <a:ext cx="8809037" cy="3045554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2800" dirty="0"/>
              <a:t>程序改错题：打开</a:t>
            </a:r>
            <a:r>
              <a:rPr lang="en-US" altLang="zh-CN" sz="2800" dirty="0"/>
              <a:t>exercise6_7.py</a:t>
            </a:r>
          </a:p>
          <a:p>
            <a:r>
              <a:rPr lang="zh-CN" altLang="en-US" sz="2800" dirty="0"/>
              <a:t>程序功能：</a:t>
            </a:r>
            <a:endParaRPr lang="en-US" altLang="zh-CN" sz="2800" dirty="0"/>
          </a:p>
          <a:p>
            <a:pPr lvl="1"/>
            <a:r>
              <a:rPr lang="zh-CN" altLang="en-US" sz="2400" dirty="0"/>
              <a:t>列表</a:t>
            </a:r>
            <a:r>
              <a:rPr lang="en-US" altLang="zh-CN" sz="2400" dirty="0"/>
              <a:t>scores</a:t>
            </a:r>
            <a:r>
              <a:rPr lang="zh-CN" altLang="en-US" sz="2400" dirty="0"/>
              <a:t>存放某小组的成绩，成绩采用百分制（</a:t>
            </a:r>
            <a:r>
              <a:rPr lang="en-US" altLang="zh-CN" sz="2400" dirty="0"/>
              <a:t>0--100</a:t>
            </a:r>
            <a:r>
              <a:rPr lang="zh-CN" altLang="en-US" sz="2400" dirty="0"/>
              <a:t>）均为整数，对成绩判定等级，如果成绩不在百分制范围内则输出“成绩错误”</a:t>
            </a:r>
            <a:endParaRPr lang="en-US" altLang="zh-CN" sz="2400" dirty="0"/>
          </a:p>
          <a:p>
            <a:pPr lvl="1"/>
            <a:r>
              <a:rPr lang="zh-CN" altLang="en-US" sz="2400" dirty="0"/>
              <a:t>判定等级标准如下：</a:t>
            </a:r>
            <a:endParaRPr lang="en-US" altLang="zh-CN" sz="2400" dirty="0"/>
          </a:p>
          <a:p>
            <a:pPr lvl="2"/>
            <a:r>
              <a:rPr lang="zh-CN" altLang="en-US" sz="2000" dirty="0"/>
              <a:t>成绩</a:t>
            </a:r>
            <a:r>
              <a:rPr lang="en-US" altLang="zh-CN" sz="2000" dirty="0"/>
              <a:t>60</a:t>
            </a:r>
            <a:r>
              <a:rPr lang="zh-CN" altLang="en-US" sz="2000" dirty="0"/>
              <a:t>以下，等级为“不及格”</a:t>
            </a:r>
            <a:endParaRPr lang="en-US" altLang="zh-CN" sz="2000" dirty="0"/>
          </a:p>
          <a:p>
            <a:pPr lvl="2"/>
            <a:r>
              <a:rPr lang="zh-CN" altLang="en-US" sz="2000" dirty="0"/>
              <a:t>成绩</a:t>
            </a:r>
            <a:r>
              <a:rPr lang="en-US" altLang="zh-CN" sz="2000" dirty="0"/>
              <a:t>60~69</a:t>
            </a:r>
            <a:r>
              <a:rPr lang="zh-CN" altLang="en-US" sz="2000" dirty="0"/>
              <a:t>（包含边界），等级为“及格”</a:t>
            </a:r>
            <a:endParaRPr lang="en-US" altLang="zh-CN" sz="2000" dirty="0"/>
          </a:p>
          <a:p>
            <a:pPr lvl="2"/>
            <a:r>
              <a:rPr lang="zh-CN" altLang="en-US" sz="2000" dirty="0"/>
              <a:t>成绩</a:t>
            </a:r>
            <a:r>
              <a:rPr lang="en-US" altLang="zh-CN" sz="2000" dirty="0"/>
              <a:t>70~84</a:t>
            </a:r>
            <a:r>
              <a:rPr lang="zh-CN" altLang="en-US" sz="2000" dirty="0"/>
              <a:t>（包含边界），等级为“中等”</a:t>
            </a:r>
            <a:endParaRPr lang="en-US" altLang="zh-CN" sz="2000" dirty="0"/>
          </a:p>
          <a:p>
            <a:pPr lvl="2"/>
            <a:r>
              <a:rPr lang="zh-CN" altLang="en-US" sz="2000" dirty="0"/>
              <a:t>成绩</a:t>
            </a:r>
            <a:r>
              <a:rPr lang="en-US" altLang="zh-CN" sz="2000" dirty="0"/>
              <a:t>85</a:t>
            </a:r>
            <a:r>
              <a:rPr lang="zh-CN" altLang="en-US" sz="2000" dirty="0"/>
              <a:t>及以上，等级为“优良”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34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001630"/>
            <a:ext cx="5509720" cy="226316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52513"/>
            <a:ext cx="8496944" cy="5112792"/>
          </a:xfrm>
        </p:spPr>
        <p:txBody>
          <a:bodyPr/>
          <a:lstStyle/>
          <a:p>
            <a:r>
              <a:rPr lang="en-US" altLang="zh-CN" dirty="0"/>
              <a:t>1.	</a:t>
            </a:r>
            <a:r>
              <a:rPr lang="zh-CN" altLang="en-US" dirty="0"/>
              <a:t>列表                                         ，以下对列表</a:t>
            </a:r>
            <a:r>
              <a:rPr lang="en-US" altLang="zh-CN" dirty="0"/>
              <a:t>v</a:t>
            </a:r>
            <a:r>
              <a:rPr lang="zh-CN" altLang="en-US" dirty="0"/>
              <a:t>的操作，不会报错的是（）</a:t>
            </a:r>
          </a:p>
          <a:p>
            <a:pPr marL="471170" lvl="1" indent="0">
              <a:buNone/>
            </a:pPr>
            <a:r>
              <a:rPr lang="en-US" altLang="zh-CN" dirty="0"/>
              <a:t>A.	</a:t>
            </a:r>
            <a:r>
              <a:rPr lang="en-US" altLang="zh-CN" dirty="0" err="1"/>
              <a:t>v.extend</a:t>
            </a:r>
            <a:r>
              <a:rPr lang="en-US" altLang="zh-CN" dirty="0"/>
              <a:t>('plane', 'bicycle') </a:t>
            </a:r>
          </a:p>
          <a:p>
            <a:pPr marL="471170" lvl="1" indent="0">
              <a:buNone/>
            </a:pPr>
            <a:r>
              <a:rPr lang="en-US" altLang="zh-CN" dirty="0"/>
              <a:t>B.	</a:t>
            </a:r>
            <a:r>
              <a:rPr lang="en-US" altLang="zh-CN" dirty="0" err="1"/>
              <a:t>v.append</a:t>
            </a:r>
            <a:r>
              <a:rPr lang="en-US" altLang="zh-CN" dirty="0"/>
              <a:t>('train', 3)</a:t>
            </a:r>
          </a:p>
          <a:p>
            <a:pPr marL="471170" lvl="1" indent="0">
              <a:buNone/>
            </a:pPr>
            <a:r>
              <a:rPr lang="en-US" altLang="zh-CN" dirty="0"/>
              <a:t>C.	</a:t>
            </a:r>
            <a:r>
              <a:rPr lang="en-US" altLang="zh-CN" dirty="0" err="1"/>
              <a:t>v.count</a:t>
            </a:r>
            <a:r>
              <a:rPr lang="en-US" altLang="zh-CN" dirty="0"/>
              <a:t>(12)</a:t>
            </a:r>
          </a:p>
          <a:p>
            <a:pPr marL="471170" lvl="1" indent="0">
              <a:buNone/>
            </a:pPr>
            <a:r>
              <a:rPr lang="en-US" altLang="zh-CN" dirty="0"/>
              <a:t>D.	</a:t>
            </a:r>
            <a:r>
              <a:rPr lang="en-US" altLang="zh-CN" dirty="0" err="1"/>
              <a:t>v.pop</a:t>
            </a:r>
            <a:r>
              <a:rPr lang="en-US" altLang="zh-CN" dirty="0"/>
              <a:t>(123)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35</a:t>
            </a:fld>
            <a:endParaRPr lang="en-US" altLang="zh-CN"/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339752" y="1124495"/>
            <a:ext cx="4831264" cy="43227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52512"/>
            <a:ext cx="8784976" cy="5219699"/>
          </a:xfrm>
        </p:spPr>
        <p:txBody>
          <a:bodyPr/>
          <a:lstStyle/>
          <a:p>
            <a:pPr lvl="0"/>
            <a:r>
              <a:rPr lang="en-US" altLang="zh-CN" dirty="0"/>
              <a:t>2.</a:t>
            </a:r>
            <a:r>
              <a:rPr lang="zh-CN" altLang="zh-CN" dirty="0"/>
              <a:t>列表</a:t>
            </a:r>
            <a:r>
              <a:rPr lang="en-US" altLang="zh-CN" dirty="0"/>
              <a:t>                                  </a:t>
            </a:r>
            <a:r>
              <a:rPr lang="zh-CN" altLang="zh-CN" dirty="0"/>
              <a:t>，以下哪个选项返回结果出错（）</a:t>
            </a:r>
          </a:p>
          <a:p>
            <a:pPr marL="471170" lvl="1" indent="0">
              <a:buNone/>
            </a:pPr>
            <a:r>
              <a:rPr lang="en-US" altLang="zh-CN" dirty="0"/>
              <a:t>A. min(a)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B. </a:t>
            </a:r>
            <a:r>
              <a:rPr lang="en-US" altLang="zh-CN" dirty="0" err="1"/>
              <a:t>a.count</a:t>
            </a:r>
            <a:r>
              <a:rPr lang="en-US" altLang="zh-CN" dirty="0"/>
              <a:t>(False)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C. del a[7]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D. </a:t>
            </a:r>
            <a:r>
              <a:rPr lang="en-US" altLang="zh-CN" dirty="0" err="1"/>
              <a:t>a.remove</a:t>
            </a:r>
            <a:r>
              <a:rPr lang="en-US" altLang="zh-CN" dirty="0"/>
              <a:t>(1)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124744"/>
            <a:ext cx="4154308" cy="43204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052512"/>
            <a:ext cx="8424936" cy="5219699"/>
          </a:xfrm>
        </p:spPr>
        <p:txBody>
          <a:bodyPr/>
          <a:lstStyle/>
          <a:p>
            <a:pPr lvl="0"/>
            <a:r>
              <a:rPr lang="en-US" altLang="zh-CN" dirty="0"/>
              <a:t>3.                                       </a:t>
            </a:r>
            <a:r>
              <a:rPr lang="zh-CN" altLang="zh-CN" dirty="0"/>
              <a:t>，执行了</a:t>
            </a:r>
            <a:r>
              <a:rPr lang="en-US" altLang="zh-CN" dirty="0"/>
              <a:t>list1[:3]=[66]</a:t>
            </a:r>
            <a:r>
              <a:rPr lang="zh-CN" altLang="zh-CN" dirty="0"/>
              <a:t>后，下列说法正确的是（）</a:t>
            </a:r>
          </a:p>
          <a:p>
            <a:pPr marL="471170" lvl="1" indent="0">
              <a:buNone/>
            </a:pPr>
            <a:r>
              <a:rPr lang="en-US" altLang="zh-CN" dirty="0"/>
              <a:t>A.  list1</a:t>
            </a:r>
            <a:r>
              <a:rPr lang="zh-CN" altLang="zh-CN" dirty="0"/>
              <a:t>为</a:t>
            </a:r>
            <a:r>
              <a:rPr lang="en-US" altLang="zh-CN" dirty="0"/>
              <a:t>[66, False, 99, 78]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B.  list1</a:t>
            </a:r>
            <a:r>
              <a:rPr lang="zh-CN" altLang="zh-CN" dirty="0"/>
              <a:t>为</a:t>
            </a:r>
            <a:r>
              <a:rPr lang="en-US" altLang="zh-CN" dirty="0"/>
              <a:t>[66, 45,True,False,99,78]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C.  list1</a:t>
            </a:r>
            <a:r>
              <a:rPr lang="zh-CN" altLang="zh-CN" dirty="0"/>
              <a:t>为</a:t>
            </a:r>
            <a:r>
              <a:rPr lang="en-US" altLang="zh-CN" dirty="0"/>
              <a:t>[66, 66,66,False,99,78]</a:t>
            </a:r>
            <a:endParaRPr lang="zh-CN" altLang="zh-CN" dirty="0"/>
          </a:p>
          <a:p>
            <a:pPr marL="471170" lvl="1" indent="0">
              <a:buNone/>
            </a:pPr>
            <a:r>
              <a:rPr lang="en-US" altLang="zh-CN" dirty="0"/>
              <a:t>D.  </a:t>
            </a:r>
            <a:r>
              <a:rPr lang="zh-CN" altLang="zh-CN" dirty="0"/>
              <a:t>不能执行</a:t>
            </a:r>
            <a:r>
              <a:rPr lang="en-US" altLang="zh-CN" dirty="0"/>
              <a:t>list1[:3]=[66]</a:t>
            </a:r>
            <a:r>
              <a:rPr lang="zh-CN" altLang="zh-CN" dirty="0"/>
              <a:t>，会报错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AA6B-51D0-4508-BF0C-1C5E473C4B8C}" type="slidenum">
              <a:rPr lang="en-US" altLang="zh-CN" smtClean="0"/>
              <a:t>37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124744"/>
            <a:ext cx="5193304" cy="5040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C655-D700-4711-8821-FD287404C7BB}" type="slidenum">
              <a:rPr lang="en-US" altLang="zh-CN"/>
              <a:t>38</a:t>
            </a:fld>
            <a:endParaRPr lang="en-US" altLang="zh-CN"/>
          </a:p>
        </p:txBody>
      </p:sp>
      <p:pic>
        <p:nvPicPr>
          <p:cNvPr id="68611" name="Picture 3" descr="MP900433169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141663"/>
            <a:ext cx="4568825" cy="245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ython程序设计-课件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Python程序设计-课件模板</Template>
  <TotalTime>0</TotalTime>
  <Words>1642</Words>
  <Application>Microsoft Macintosh PowerPoint</Application>
  <PresentationFormat>全屏显示(4:3)</PresentationFormat>
  <Paragraphs>198</Paragraphs>
  <Slides>38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华文中宋</vt:lpstr>
      <vt:lpstr>Arial</vt:lpstr>
      <vt:lpstr>Times New Roman</vt:lpstr>
      <vt:lpstr>Verdana</vt:lpstr>
      <vt:lpstr>Wingdings</vt:lpstr>
      <vt:lpstr>Python程序设计-课件模板</vt:lpstr>
      <vt:lpstr>第6讲  列表的函数和方法</vt:lpstr>
      <vt:lpstr>教师信息与答疑时间</vt:lpstr>
      <vt:lpstr>本节内容</vt:lpstr>
      <vt:lpstr>列表元素的遍历（第04讲for循环中已讲）</vt:lpstr>
      <vt:lpstr>4.1.5 列表的运算</vt:lpstr>
      <vt:lpstr>4.1.5 列表的运算</vt:lpstr>
      <vt:lpstr>4.1.6 列表元素的插入与扩展</vt:lpstr>
      <vt:lpstr>append( )方法</vt:lpstr>
      <vt:lpstr>extend( )方法</vt:lpstr>
      <vt:lpstr>insert( )方法</vt:lpstr>
      <vt:lpstr>【例4-2】</vt:lpstr>
      <vt:lpstr>程序代码：example4_2.py</vt:lpstr>
      <vt:lpstr>思考：</vt:lpstr>
      <vt:lpstr>4.1.11适用于序列的常用函数——以列表为例</vt:lpstr>
      <vt:lpstr>4.1.11适用于序列的常用函数——以列表为例</vt:lpstr>
      <vt:lpstr>列表函数-min()</vt:lpstr>
      <vt:lpstr>4.1.7 列表中特定元素出现次数的统计</vt:lpstr>
      <vt:lpstr>in操作符</vt:lpstr>
      <vt:lpstr>4.1.8 列表元素与列表对象的删除</vt:lpstr>
      <vt:lpstr>1.del命令删除列表元素或列表对象</vt:lpstr>
      <vt:lpstr>2.remove()方法移除指定元素</vt:lpstr>
      <vt:lpstr>3.pop()方法删除并返回指定位置上的元素</vt:lpstr>
      <vt:lpstr>4.clear()方法清除列表中的所有元素</vt:lpstr>
      <vt:lpstr>【例4-3】</vt:lpstr>
      <vt:lpstr>example4_3.py</vt:lpstr>
      <vt:lpstr>思考：</vt:lpstr>
      <vt:lpstr>程序question4_3_1_2.py</vt:lpstr>
      <vt:lpstr>练习</vt:lpstr>
      <vt:lpstr>练习</vt:lpstr>
      <vt:lpstr>练习</vt:lpstr>
      <vt:lpstr>练习</vt:lpstr>
      <vt:lpstr>练习</vt:lpstr>
      <vt:lpstr>练习</vt:lpstr>
      <vt:lpstr>练习</vt:lpstr>
      <vt:lpstr>选择题：</vt:lpstr>
      <vt:lpstr>选择题：</vt:lpstr>
      <vt:lpstr>选择题：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Python语言基础知识</dc:title>
  <dc:creator>Windows 用户</dc:creator>
  <cp:lastModifiedBy>强 孙</cp:lastModifiedBy>
  <cp:revision>529</cp:revision>
  <dcterms:created xsi:type="dcterms:W3CDTF">2017-08-22T12:24:00Z</dcterms:created>
  <dcterms:modified xsi:type="dcterms:W3CDTF">2026-03-17T15:06:05Z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71BAE1EA6AE44A52ACEEDDCAB42F85A2_12</vt:lpwstr>
  </property>
</Properties>
</file>